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One presenter opens. Replace member placeholders with real names. The board on the right is the Pulles (2021) example puzzle with its unique solution, drawn by our own renderer's conventions.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State the rules quickly with the example. Do NOT dwell — the course requires only a brief problem statement. Mention the uniqueness note; it returns in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three cards are the topic-choice justification. Keep the prior-work strip to two sentences — the course explicitly says existing approaches should be mentioned only very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One slide of formalism, no more. Do NOT explain what a CSP or backtracking is — covered in the course. The 'lit is derived' line preempts a common Q&amp;A question about the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experiment design in one picture: each arrow on the left changes exactly one thing, so differences in the stats are attributable. Right column is the cross-paradigm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Demo bait: if time allows in Q&amp;A, a 20-second live solve in the GUI is worth more than this slide — have it open in a background window. Do not show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Fill the two [CONFIRM] blanks once the experiment harness is final. The bottom principle matters in Q&amp;A: multi-solution instances make answer-comparison invalid as a correctness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core slide — the course grades results/analysis above all. Replace the placeholder with the real figure and state the multiplier between naive and inference variants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Cross-paradigm comparison. Be explicit about incompleteness of local search — it is the honest caveat and shows understanding.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This is the 'beyond the obvious' slide that separates A from A+. Drop it only if results A/B need the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Every conclusion must be a number you measured, not an adjective. All four members should have spoken by now (equal input is graded).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spoken — present for completeness and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0808" y="1645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75904" y="1645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8013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4264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7344" y="15179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14173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52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1099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239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22408" y="2103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7504" y="2103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22585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18836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8944" y="19751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5560" y="18745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6527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099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3317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383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955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79608" y="25603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04704" y="25603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27157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4160" y="23408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96144" y="24323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527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099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811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383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955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527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36808" y="30175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61904" y="30175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81360" y="31729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81360" y="27980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53344" y="28895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099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239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11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65208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90304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09760" y="36301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09760" y="32552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81744" y="33467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955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52760" y="32461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099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494008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119104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338560" y="36301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338560" y="32552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210544" y="33467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667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239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08008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33104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52560" y="40873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52560" y="37124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24544" y="38039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81160" y="37033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7383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1955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527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036808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61904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881360" y="40873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81360" y="37124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53344" y="38039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109960" y="37033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109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50808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75904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95360" y="45445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595360" y="41696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67344" y="42611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23960" y="41605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823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92811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383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955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527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1099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94008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119104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338560" y="45445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338560" y="41696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210544" y="42611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0080" y="1554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Up Akari with AI Search</a:t>
            </a:r>
            <a:endParaRPr lang="en-US" sz="4000" dirty="0"/>
          </a:p>
        </p:txBody>
      </p:sp>
      <p:sp>
        <p:nvSpPr>
          <p:cNvPr id="107" name="Text 105"/>
          <p:cNvSpPr/>
          <p:nvPr/>
        </p:nvSpPr>
        <p:spPr>
          <a:xfrm>
            <a:off x="640080" y="2880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LightUp puzzle with CSP backtracking,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and simulated annealing</a:t>
            </a:r>
            <a:endParaRPr lang="en-US" sz="1700" dirty="0"/>
          </a:p>
        </p:txBody>
      </p:sp>
      <p:sp>
        <p:nvSpPr>
          <p:cNvPr id="108" name="Text 106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 ·  [Member 2]  ·  [Member 3]  ·  [Member 4]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246 Artificial Intelligence — AUA,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puzzle: three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Illumination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white cell must be lit. A bulb lights its whole row and column until a wall blocks 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No mutual light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bulb may shine on another bulb.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— Clue exactness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numbered wall must touch exactly that many bulbs. Plain walls constrain nothing.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of the solution is a publishing convention — not a rule. The rules define a constraint-satisfaction problem.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554480"/>
            <a:ext cx="1005840" cy="100584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6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60" dirty="0"/>
          </a:p>
        </p:txBody>
      </p:sp>
      <p:sp>
        <p:nvSpPr>
          <p:cNvPr id="9" name="Shape 7"/>
          <p:cNvSpPr/>
          <p:nvPr/>
        </p:nvSpPr>
        <p:spPr>
          <a:xfrm>
            <a:off x="8869680" y="155448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14586" y="205740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89797" y="205740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2399386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1574597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0965" y="1775765"/>
            <a:ext cx="563270" cy="563270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155448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256032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8746" y="306324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3957" y="306324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3405226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580437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5125" y="2781605"/>
            <a:ext cx="563270" cy="563270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256032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256032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56616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356616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356616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20426" y="406908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95637" y="406908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4411066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3586277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96805" y="3787445"/>
            <a:ext cx="563270" cy="563270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4800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instance, solved: the corner ‘2’ forces both its neighbors.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LightUp is a good AI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2B2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NP-complete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reduction from Circuit-SAT (McPhail 2005). Worst-case exponential — cleverness must earn its keep.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2B2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600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CSP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variable per white cell; the three rules become sum constraints. Search space up to 2ⁿ.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2B2B3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600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Endlessly scalable</a:t>
            </a:r>
            <a:endParaRPr lang="en-US" sz="1900" dirty="0"/>
          </a:p>
          <a:p>
            <a:pPr indent="0" marL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generator builds solvable instances from 3×3 to 25×25 with tunable wall and clue density.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approaches (briefly): </a:t>
            </a:r>
            <a:pPr indent="0" marL="0">
              <a:buNone/>
            </a:pPr>
            <a:r>
              <a:rPr lang="en-US" sz="14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encoding + backtracking (Pulles 2021) · hill climbing, simulated annealing, neural networks (Perera et al. 2021) · evolutionary algorithms (Salcedo-Sanz et al. 2009).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 (CSP)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Xᵥ ∈ {bulb, no-bulb} per white cell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 all lit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Xᵥ over {w} ∪ sight(w)  ≥ 1   for every white cell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 no clashes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Xᵥ over a wall-free segment  ≤ 1   (binary constraints)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 clues exact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Xᵥ over a clue's neighbors  =  nₖ   (global, exactly-k)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constraints satisfied — checked by one shared validator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“Lit” is a derived property, not a cell state — it inflates nothing: lit(w) ⟺ a bulb exists in {w} ∪ sight(w).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problem, five solvers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Backtracking — naive  </a:t>
            </a:r>
            <a:pPr indent="0" marL="0">
              <a:buNone/>
            </a:pP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order, full re-check per node (baseline to beat)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83280" y="2377440"/>
            <a:ext cx="0" cy="32004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ordering heuristics  </a:t>
            </a:r>
            <a:pPr indent="0" marL="0">
              <a:buNone/>
            </a:pP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/ degree variable order, value ordering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3657600"/>
            <a:ext cx="0" cy="32004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39776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inference  </a:t>
            </a:r>
            <a:pPr indent="0" marL="0">
              <a:buNone/>
            </a:pP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checking, clue propagation (0/4, saturated, exhausted)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1417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508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 climbing  </a:t>
            </a:r>
            <a:pPr indent="0" marL="0">
              <a:buNone/>
            </a:pP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over complete assignments; objective = violation count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26974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788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  </a:t>
            </a:r>
            <a:pPr indent="0" marL="0">
              <a:buNone/>
            </a:pP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moves, temperature schedule escapes local optima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search (left) vs. local search (right) — same rules, same validator as referee, same statistics collected: nodes / moves, conflicts, backtracks, time.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system: game, generator, observable solvers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Playable game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GUI: click to place bulbs, X marks, live rule feedback, any board 3×3–25×25, three difficulty presets.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85292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generator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Solution-first construction: build a valid lighting, derive clues from it, remove bulbs → solvable by construction.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34256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Watchable search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solver streams place / conflict / backtrack events — animated replay with play, pause, step, finish.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0" y="1371600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23232B"/>
          </a:solidFill>
          <a:ln w="19050">
            <a:solidFill>
              <a:srgbClr val="FFD23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675120" y="301752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TO ADD]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window mid-solve: animated solver replay with a conflict highlighted. Capture at 2× scale on a 10×10 board.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boards: sizes 7×7 → 25×25; easy / medium / hard density presets; N seeds per bucket  [CONFIRM N]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set: published puzzles (puzzle-light-up.com formats parse directly)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fixed seeds, fixed timeout per size  [CONFIRM timeout]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effort: nodes / moves, conflicts, backtracks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 (median over seeds)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rate within the timeout (local search: also solution quality)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B2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always judged by the rules validator — never by comparing to one known answer, because instances may have several legitimate solutions.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what does inference buy?  [TO FILL]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reference (real, today):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308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to solve the 7×7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puzzle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7830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8346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backtracking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story: </a:t>
            </a:r>
            <a:pPr indent="0" marL="0">
              <a:buNone/>
            </a:pPr>
            <a:r>
              <a:rPr lang="en-US" sz="13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ordering and propagating inference cut nodes and conflicts by orders of magnitude as boards grow; the trade is more work per node — the crossover is the finding.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94960" y="1325880"/>
            <a:ext cx="6217920" cy="4663440"/>
          </a:xfrm>
          <a:prstGeom prst="roundRect">
            <a:avLst>
              <a:gd name="adj" fmla="val 1569"/>
            </a:avLst>
          </a:prstGeom>
          <a:solidFill>
            <a:srgbClr val="23232B"/>
          </a:solidFill>
          <a:ln w="19050">
            <a:solidFill>
              <a:srgbClr val="FFD23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669280" y="310896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[FIGURE TO ADD]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expanded vs. board size (log y), one line per backtracking variant, median over seeds. Second panel: time vs. size.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complete vs. local search  [TO FILL]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6675120" cy="4663440"/>
          </a:xfrm>
          <a:prstGeom prst="roundRect">
            <a:avLst>
              <a:gd name="adj" fmla="val 1569"/>
            </a:avLst>
          </a:prstGeom>
          <a:solidFill>
            <a:srgbClr val="23232B"/>
          </a:solidFill>
          <a:ln w="19050">
            <a:solidFill>
              <a:srgbClr val="FFD23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14400" y="31089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[FIGURE TO ADD]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rate within timeout vs. board size: best backtracking variant vs. hill climbing vs. simulated annealing. Plus restarts / unresolved-violations breakdown for local search.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146304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this figure answers: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incomplete-but-fast beat complete-but-slow?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hill climbing strand on a local optimum, and does annealing fix it?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Perera et al. report SA ahead of HC — do we reproduce that?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what makes an instance hard?  [TO FILL]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6675120" cy="4663440"/>
          </a:xfrm>
          <a:prstGeom prst="roundRect">
            <a:avLst>
              <a:gd name="adj" fmla="val 1569"/>
            </a:avLst>
          </a:prstGeom>
          <a:solidFill>
            <a:srgbClr val="23232B"/>
          </a:solidFill>
          <a:ln w="19050">
            <a:solidFill>
              <a:srgbClr val="FFD23F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14400" y="310896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[FIGURE TO ADD]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effort vs. wall/clue density at fixed size; annotated with the easy/medium/hard presets. Optional: unique vs. multi-solution effect.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589520" y="1463040"/>
            <a:ext cx="4023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angles: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clues → larger effective search space — quantify it.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our difficulty presets match measured effort? (calibration)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Multi-solution boards are systematically easier — more goals in the tree.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 [TO FILL after experiments]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A9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— replace each blank with a measured claim: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reduced search effort by [____]× on [size] boards, at [____] overhead per node.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solved [____]% of hard instances vs. [____]% for hill climbing.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method for [regime] was [____] because [____].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uniqueness-filtered generation, AC-3 / MAC on the binary constraints, difficulty calibration from measured effort.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B2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McPhail (2005). Light Up is NP-complete.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Pulles (2021). Analysis of Akari. Bachelor thesis, Radboud University.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Sun, J. Browning, R. Perera (2021). Shedding Some Light on Light Up with Artificial Intelligence. arXiv:2107.10429.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Salcedo-Sanz et al. (2009). A nested two-steps evolutionary algorithm for the light-up puzzle. ICGA Journal 32.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Russell, P. Norvig (2021). Artificial Intelligence: A Modern Approach, 4th ed. — Chapters 3, 4, 6.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puzzle-light-up.com — rules and reference instances.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2026-07-23T18:09:16Z</dcterms:created>
  <dcterms:modified xsi:type="dcterms:W3CDTF">2026-07-23T18:09:16Z</dcterms:modified>
</cp:coreProperties>
</file>