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80503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~30s. One presenter opens. Replace member placeholders with real names. The board on the right is the Pulles (2021) example puzzle with its unique solution, drawn by our own renderer's conventions.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State the rules quickly with the example. Do NOT dwell — the course requires only a brief problem statement. Mention the uniqueness note; it returns in the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The three cards are the topic-choice justification. Keep the prior-work strip to two sentences — the course explicitly says existing approaches should be mentioned only very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One slide of formalism, no more. Do NOT explain what a CSP or backtracking is — covered in the course. The 'lit is derived' line preempts a common Q&amp;A question about the domain.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The experiment design in one picture: each arrow on the left changes exactly one thing, so differences in the stats are attributable. Right column is the cross-paradigm comparison.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The screenshot is the naive solver mid-replay on a 10x10: red frame = conflict at (9,7), green digits = satisfied clues, status bar streams the event counter and search stats. Demo bait: if time allows in Q&amp;A, a 20-second live solve in the GUI is worth more than this slide. Do not show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Fill the two [CONFIRM] blanks once the experiment harness is final. The bottom principle matters in Q&amp;A: multi-solution instances make answer-comparison invalid as a correctness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THE core slide. Say the numbers out loud: naive 308 nodes on the 7x7, forward checking 12, full inference ZERO - the published puzzle is solved by deduction alone, which is exactly what publishers curate for. Then the scaling panels: 1-2 orders of magnitude between naive and the smart variants. Close with the nodes-vs-time nuance - fewer nodes is not automatically less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~1.5 min. Cross-paradigm comparison. Lead with SA vs HC (the Perera reproduction), then the one-violation-away story - it is the local-optimum concept made concrete. End on the honest framing: on these sizes complete search wins; incompleteness is the structural caveat.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~1 min. The beyond-the-obvious slide. The headline: our density presets predict difficulty for HUMANS (deduction chains), not for solvers - sparse boards have many solutions and finding any one is easy. Tie back to the uniqueness discussion. Calibrating difficulty by measured effort is named future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sentence, ~20s: 'We re-ran the entire sweep with double the budget - almost nothing changed, and hill climbing gained exactly zero - so the solver ranking is structural, not an artifact of the timeout.' If asked in Q&amp;A: we predicted the outcomes before running (full unchanged, hc zero); the one miss was SA, which we expected to gain more - exponential problems shrug at factors of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~45s. Every claim here is a measured number from experiments/results/results.csv (overall: SA 45/75 = 60%, HC 21/75 = 28%; hard-only: 19/25 vs 11/25). All four members should have spoken by now (equal input is graded).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 spoken — present for completeness and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3667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50808" y="1645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75904" y="1645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95360" y="18013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595360" y="14264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67344" y="15179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8239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383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1955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52760" y="14173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52760" y="1417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1109960" y="1417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8239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2811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7383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122408" y="2103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47504" y="2103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66960" y="22585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966960" y="18836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838944" y="19751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95560" y="18745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19556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106527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1109960" y="1874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3667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23960" y="23317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2811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7383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955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79608" y="25603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204704" y="25603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424160" y="27157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424160" y="23408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296144" y="24323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6527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1109960" y="23317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67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8239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2811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7383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01955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06527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036808" y="30175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661904" y="30175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881360" y="31729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881360" y="27980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753344" y="28895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1109960" y="27889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3667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8239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92811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665208" y="34747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90304" y="34747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509760" y="36301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9509760" y="32552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81744" y="33467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7383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1955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652760" y="32461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109960" y="32461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494008" y="34747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119104" y="34747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338560" y="36301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338560" y="32552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210544" y="33467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3667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8239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9208008" y="3931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8833104" y="3931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9052560" y="40873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9052560" y="37124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8924544" y="38039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9281160" y="37033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97383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01955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652760" y="37033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036808" y="3931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0661904" y="39319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0881360" y="40873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0881360" y="37124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0753344" y="38039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109960" y="37033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110996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88" name="Shape 86"/>
          <p:cNvSpPr/>
          <p:nvPr/>
        </p:nvSpPr>
        <p:spPr>
          <a:xfrm>
            <a:off x="83667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750808" y="4389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375904" y="4389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595360" y="45445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595360" y="41696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467344" y="42611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23960" y="4160520"/>
            <a:ext cx="457200" cy="45720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823960" y="4160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96" name="Shape 94"/>
          <p:cNvSpPr/>
          <p:nvPr/>
        </p:nvSpPr>
        <p:spPr>
          <a:xfrm>
            <a:off x="92811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7383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101955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106527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11109960" y="4160520"/>
            <a:ext cx="457200" cy="45720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11494008" y="4389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1119104" y="4389120"/>
            <a:ext cx="6400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11338560" y="4544568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11338560" y="4169664"/>
            <a:ext cx="0" cy="6400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11210544" y="4261104"/>
            <a:ext cx="256032" cy="256032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40080" y="155448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Lighting Up Akari with </a:t>
            </a:r>
          </a:p>
          <a:p>
            <a:pPr marL="0" indent="0">
              <a:buNone/>
            </a:pPr>
            <a:r>
              <a:rPr lang="en-US" sz="4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Search</a:t>
            </a:r>
            <a:endParaRPr lang="en-US" sz="4000" dirty="0"/>
          </a:p>
        </p:txBody>
      </p:sp>
      <p:sp>
        <p:nvSpPr>
          <p:cNvPr id="107" name="Text 105"/>
          <p:cNvSpPr/>
          <p:nvPr/>
        </p:nvSpPr>
        <p:spPr>
          <a:xfrm>
            <a:off x="640080" y="28803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the LightUp puzzle with CSP backtracking,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D2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and simulated annealing</a:t>
            </a:r>
            <a:endParaRPr lang="en-US" sz="1700" dirty="0"/>
          </a:p>
        </p:txBody>
      </p:sp>
      <p:sp>
        <p:nvSpPr>
          <p:cNvPr id="108" name="Text 106"/>
          <p:cNvSpPr/>
          <p:nvPr/>
        </p:nvSpPr>
        <p:spPr>
          <a:xfrm>
            <a:off x="64008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Anna Gasparyan ·  Ani Baghumyan ·  Izabella </a:t>
            </a:r>
            <a:r>
              <a:rPr lang="en-US" sz="1400" dirty="0" err="1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Atajanyan</a:t>
            </a:r>
            <a:endParaRPr lang="en-US" sz="1400" dirty="0"/>
          </a:p>
        </p:txBody>
      </p:sp>
      <p:sp>
        <p:nvSpPr>
          <p:cNvPr id="109" name="Text 107"/>
          <p:cNvSpPr/>
          <p:nvPr/>
        </p:nvSpPr>
        <p:spPr>
          <a:xfrm>
            <a:off x="640080" y="4709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 246 Artificial Intelligence — AUA, Summer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puzzle: three rules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2588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 — Illumination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white cell must be lit. A bulb lights its whole row and column until a wall blocks it.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40080" y="260604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R2 — No mutual light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bulb may shine on another bulb.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6126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R3 — Clue exactness</a:t>
            </a:r>
            <a:endParaRPr lang="en-US" sz="1800" dirty="0"/>
          </a:p>
          <a:p>
            <a:pPr marL="0" indent="0">
              <a:buNone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numbered wall must touch exactly that many bulbs. Plain walls constrain nothing.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530352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 of the solution is a publishing convention — not a rule. The rules define a constraint-satisfaction problem.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863840" y="1554480"/>
            <a:ext cx="1005840" cy="1005840"/>
          </a:xfrm>
          <a:prstGeom prst="rect">
            <a:avLst/>
          </a:prstGeom>
          <a:solidFill>
            <a:srgbClr val="0E0E12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0" y="15544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6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860" dirty="0"/>
          </a:p>
        </p:txBody>
      </p:sp>
      <p:sp>
        <p:nvSpPr>
          <p:cNvPr id="9" name="Shape 7"/>
          <p:cNvSpPr/>
          <p:nvPr/>
        </p:nvSpPr>
        <p:spPr>
          <a:xfrm>
            <a:off x="8869680" y="155448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714586" y="205740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89797" y="205740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72600" y="2399386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372600" y="1574597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090965" y="1775765"/>
            <a:ext cx="563270" cy="563270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875520" y="155448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0" y="256032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708746" y="306324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883957" y="306324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66760" y="3405226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366760" y="2580437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85125" y="2781605"/>
            <a:ext cx="563270" cy="563270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869680" y="256032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256032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63840" y="356616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869680" y="356616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75520" y="3566160"/>
            <a:ext cx="1005840" cy="1005840"/>
          </a:xfrm>
          <a:prstGeom prst="rect">
            <a:avLst/>
          </a:prstGeom>
          <a:solidFill>
            <a:srgbClr val="FFE08A"/>
          </a:solidFill>
          <a:ln w="9525">
            <a:solidFill>
              <a:srgbClr val="3F3F4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720426" y="406908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895637" y="4069080"/>
            <a:ext cx="140818" cy="0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378440" y="4411066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78440" y="3586277"/>
            <a:ext cx="0" cy="140818"/>
          </a:xfrm>
          <a:prstGeom prst="line">
            <a:avLst/>
          </a:prstGeom>
          <a:noFill/>
          <a:ln w="17780">
            <a:solidFill>
              <a:srgbClr val="8A6D0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096805" y="3787445"/>
            <a:ext cx="563270" cy="563270"/>
          </a:xfrm>
          <a:prstGeom prst="ellipse">
            <a:avLst/>
          </a:prstGeom>
          <a:solidFill>
            <a:srgbClr val="FFD23F"/>
          </a:solidFill>
          <a:ln w="17780">
            <a:solidFill>
              <a:srgbClr val="8A6D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52360" y="4800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3×3 instance, solved: the corner ‘2’ forces both its neighbors.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LightUp is a good AI problem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2B2B35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600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NP-complete</a:t>
            </a:r>
            <a:endParaRPr lang="en-US" sz="1900" dirty="0"/>
          </a:p>
          <a:p>
            <a:pPr marL="0" indent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by reduction from Circuit-SAT (McPhail 2005). Worst-case exponential — cleverness must earn its keep.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29768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2B2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0" y="1600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CSP</a:t>
            </a:r>
            <a:endParaRPr lang="en-US" sz="1900" dirty="0"/>
          </a:p>
          <a:p>
            <a:pPr marL="0" indent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binary variable per white cell; the three rules become sum constraints. Search space up to 2ⁿ.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8138160" y="1371600"/>
            <a:ext cx="3566160" cy="2377440"/>
          </a:xfrm>
          <a:prstGeom prst="roundRect">
            <a:avLst>
              <a:gd name="adj" fmla="val 3077"/>
            </a:avLst>
          </a:prstGeom>
          <a:solidFill>
            <a:srgbClr val="2B2B35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0" y="1600200"/>
            <a:ext cx="30175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Endlessly scalable</a:t>
            </a:r>
            <a:endParaRPr lang="en-US" sz="1900" dirty="0"/>
          </a:p>
          <a:p>
            <a:pPr marL="0" indent="0">
              <a:buNone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generator builds solvable instances from 3×3 to 25×25 with tunable wall and clue density.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40080" y="420624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approaches (briefly): </a:t>
            </a:r>
            <a:r>
              <a:rPr lang="en-US" sz="14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 encoding + backtracking (Pulles 2021) · hill climbing, simulated annealing, neural networks (Perera et al. 2021) · evolutionary algorithms (Salcedo-Sanz et al. 2009).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formulation (CSP)</a:t>
            </a:r>
            <a:endParaRPr lang="en-US" sz="3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463040"/>
          <a:ext cx="10881360" cy="283464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03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Xᵥ ∈ {bulb, no-bulb} per white cell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  all lit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Xᵥ over {w} ∪ sight(w)  ≥ 1   for every white cell w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  no clashes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Xᵥ over a wall-free segment  ≤ 1   (binary constraints)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  clues exact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Xᵥ over a clue's neighbors  =  nₖ   (global, exactly-k)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D2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Goal test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2EFE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constraints satisfied — checked by one shared validator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109728" marB="109728" anchor="ctr">
                    <a:lnL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1717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3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640080" y="502920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“Lit” is a derived property, not a cell state — it inflates nothing: lit(w) ⟺ a bulb exists in {w} ∪ sight(w).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problem, five solvers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41732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50876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Backtracking — naive  </a:t>
            </a: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order, full re-check per node (baseline to beat)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3383280" y="2377440"/>
            <a:ext cx="0" cy="32004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640080" y="269748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78892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ordering heuristics  </a:t>
            </a: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MRV / degree variable order, value ordering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383280" y="3657600"/>
            <a:ext cx="0" cy="320040"/>
          </a:xfrm>
          <a:prstGeom prst="line">
            <a:avLst/>
          </a:prstGeom>
          <a:noFill/>
          <a:ln w="25400">
            <a:solidFill>
              <a:srgbClr val="FFD23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640080" y="3977640"/>
            <a:ext cx="557784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4069080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inference  </a:t>
            </a: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checking, clue propagation (0/4, saturated, exhausted)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675120" y="141732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12" name="Text 10"/>
          <p:cNvSpPr/>
          <p:nvPr/>
        </p:nvSpPr>
        <p:spPr>
          <a:xfrm>
            <a:off x="6949440" y="15087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Hill climbing  </a:t>
            </a: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search over complete assignments; objective = violation count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75120" y="2697480"/>
            <a:ext cx="4937760" cy="960120"/>
          </a:xfrm>
          <a:prstGeom prst="roundRect">
            <a:avLst>
              <a:gd name="adj" fmla="val 7619"/>
            </a:avLst>
          </a:prstGeom>
          <a:solidFill>
            <a:srgbClr val="2B2B35"/>
          </a:solidFill>
          <a:ln/>
        </p:spPr>
      </p:sp>
      <p:sp>
        <p:nvSpPr>
          <p:cNvPr id="14" name="Text 12"/>
          <p:cNvSpPr/>
          <p:nvPr/>
        </p:nvSpPr>
        <p:spPr>
          <a:xfrm>
            <a:off x="6949440" y="278892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8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Simulated annealing  </a:t>
            </a:r>
            <a:r>
              <a:rPr lang="en-US" sz="12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moves, temperature schedule escapes local optima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5394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search (left) vs. local search (right) — same rules, same validator as referee, same statistics collected: nodes / moves, conflicts, backtracks, time.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system: game, generator, observable solvers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Playable game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GUI: click to place bulbs, X marks, live rule feedback, any board 3×3–25×25, three difficulty presets.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852928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 generator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Solution-first construction: build a valid lighting, derive clues from it, remove bulbs → solvable by construction.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0080" y="4334256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Watchable search</a:t>
            </a:r>
            <a:endParaRPr lang="en-US" sz="1600" dirty="0"/>
          </a:p>
          <a:p>
            <a:pPr marL="0" indent="0">
              <a:buNone/>
            </a:pPr>
            <a:r>
              <a:rPr lang="en-US" sz="135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solver streams place / conflict / backtrack events — animated replay with play, pause, step, finish.</a:t>
            </a:r>
            <a:endParaRPr lang="en-US" sz="1600" dirty="0"/>
          </a:p>
        </p:txBody>
      </p:sp>
      <p:pic>
        <p:nvPicPr>
          <p:cNvPr id="6" name="Image 0" descr="C:\Users\Annie\AppData\Local\Temp\claude\C--Users-Annie-Desktop-AUA-Artificial-Intelligence-GroupProject\3713b754-8c0d-4788-ba37-4fc6479a5014\scratchpad\gui_screensho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0" y="1280160"/>
            <a:ext cx="5212080" cy="45720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setup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371600"/>
            <a:ext cx="5394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Instances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boards: sizes 7, 10, 14, 18, 25; easy / medium / hard density presets; 5 seeded instances per bucket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solver runs on IDENTICAL instances; 375 runs total (~11 min)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Reproducible: fixed seeds everywhere, 5 s budget per run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400800" y="1371600"/>
            <a:ext cx="5120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effort: nodes / moves, conflicts, backtracks</a:t>
            </a:r>
            <a:endParaRPr lang="en-US" sz="17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Wall-clock time (median over seeds)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 rate within the timeout (local search: also solution quality)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4754880"/>
            <a:ext cx="10881360" cy="1188720"/>
          </a:xfrm>
          <a:prstGeom prst="roundRect">
            <a:avLst>
              <a:gd name="adj" fmla="val 6154"/>
            </a:avLst>
          </a:prstGeom>
          <a:solidFill>
            <a:srgbClr val="2B2B35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489204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is always judged by the rules validator — never by comparing to one known answer, because instances may have several legitimate solutions.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what does inference buy?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691640" y="1170432"/>
            <a:ext cx="4023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nodes to solve the published 7×7 —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inference derives it by propagation alone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126480" y="105156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8FD6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75/75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001000" y="1170432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instances solved by full inference,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sizes &amp; difficulties — the only 100 % solver</a:t>
            </a:r>
            <a:endParaRPr lang="en-US" sz="1200" dirty="0"/>
          </a:p>
        </p:txBody>
      </p:sp>
      <p:pic>
        <p:nvPicPr>
          <p:cNvPr id="7" name="Image 0" descr="C:\Users\Annie\Desktop\AUA\Artificial Intelligence\GroupProject\LightUp\experiments\results\fig1_bt_scal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57400"/>
            <a:ext cx="10607040" cy="42428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6327648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BT leaves the chart after 18×18 (0 % solved at 25×25). The honest nuance: full inference needs ~2× fewer nodes than forward checking, yet fc is slightly faster per board at large sizes — propagation costs time per node.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complete vs. local search</a:t>
            </a:r>
            <a:endParaRPr lang="en-US" sz="3000" dirty="0"/>
          </a:p>
        </p:txBody>
      </p:sp>
      <p:pic>
        <p:nvPicPr>
          <p:cNvPr id="3" name="Image 0" descr="C:\Users\Annie\Desktop\AUA\Artificial Intelligence\GroupProject\LightUp\experiments\results\fig2_paradigm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704088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8120" y="1508760"/>
            <a:ext cx="3840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sweep shows: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 ≫ HC everywhere: 19/25 vs 11/25 hard instances solved (60 % vs 28 % over the whole sweep) — reproducing Perera et al. (2021) with our own implementation.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HC's signature failure: stuck ONE violation from the goal (one 20 s run: 12,496 restarts, never closed it).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a 5 s budget, complete search with inference dominates at every size we tested; local search's appeal here is simplicity, not speed.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local solvers are incomplete: they can never prove a board unsolvable.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what makes an instance hard?</a:t>
            </a:r>
            <a:endParaRPr lang="en-US" sz="3000" dirty="0"/>
          </a:p>
        </p:txBody>
      </p:sp>
      <p:pic>
        <p:nvPicPr>
          <p:cNvPr id="3" name="Image 0" descr="C:\Users\Annie\Desktop\AUA\Artificial Intelligence\GroupProject\LightUp\experiments\results\fig3_difficult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1371600"/>
            <a:ext cx="7040880" cy="44805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18120" y="1508760"/>
            <a:ext cx="3840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surprises at 14×14: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sparse “hard” preset is often FASTER for solvers: fewer clues → more valid solutions → any one is easier to find. Human difficulty ≠ search difficulty.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Hill climbing inverts the pattern: it solved NOTHING at easy/medium density but sometimes cracked hard boards — dense clue terms roughen the landscape with local optima (missing bars = zero solved).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inference is the most stable across densities: 1–4 ms medians everywhere.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 — is the 5 s budget arbitrary?</a:t>
            </a:r>
            <a:endParaRPr lang="en-US" sz="3000" dirty="0"/>
          </a:p>
        </p:txBody>
      </p:sp>
      <p:pic>
        <p:nvPicPr>
          <p:cNvPr id="3" name="Image 0" descr="C:\Users\Annie\Desktop\AUA\Artificial Intelligence\GroupProject\LightUp\experiments\results\fig4_bud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8568" y="1234440"/>
            <a:ext cx="7680960" cy="42702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1600" y="5715000"/>
            <a:ext cx="9418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Doubling the budget on identical instances changed at most 3 results out of 75 per solver — and hill climbing gained exactly zero. More time helps solvers that are slow, not solvers that are stuck: the ranking is structural, not a timeout artifact.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is the story: full propagation solved all 75 generated instances — the only 100 % solver — and cracked the published 7×7 with zero search nodes.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nodes ≠ less time: full inference needs ~2× fewer nodes than forward checking, but propagation overhead makes fc slightly faster per board at 25×25.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annealing solved 60 % of all instances vs. 28 % for hill climbing (76 % vs 44 % on hard) — reproducing Perera et al.; HC's signature failure is stalling one violation from the goal.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Sparser boards were often EASIER for solvers (more solutions to find) — density presets model human difficulty, not search difficulty.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uniqueness-filtered generation, AC-3 / MAC on the binary constraints, difficulty calibration from measured search effort.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0080" y="548640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2B2B3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48640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D2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 welcome.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7171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108813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McPhail (2005). Light Up is NP-complete.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Pulles (2021). Analysis of Akari. Bachelor thesis, Radboud University.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L. Sun, J. Browning, R. Perera (2021). Shedding Some Light on Light Up with Artificial Intelligence. arXiv:2107.10429.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Salcedo-Sanz et al. (2009). A nested two-steps evolutionary algorithm for the light-up puzzle. ICGA Journal 32.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S. Russell, P. Norvig (2021). Artificial Intelligence: A Modern Approach, 4th ed. — Chapters 3, 4, 6.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F2EF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puzzle-light-up.com — rules and reference instances.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1567160" y="647395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1911</Words>
  <Application>Microsoft Office PowerPoint</Application>
  <PresentationFormat>Widescreen</PresentationFormat>
  <Paragraphs>138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 Baghumyan</cp:lastModifiedBy>
  <cp:revision>2</cp:revision>
  <dcterms:created xsi:type="dcterms:W3CDTF">2026-07-24T09:23:26Z</dcterms:created>
  <dcterms:modified xsi:type="dcterms:W3CDTF">2026-07-24T09:38:41Z</dcterms:modified>
</cp:coreProperties>
</file>