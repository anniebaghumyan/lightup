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~30s. One presenter opens. Replace member placeholders with real names. The board on the right is the Pulles (2021) example puzzle with its unique solution, drawn by our own renderer's conventions.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 min. State the rules quickly with the example. Do NOT dwell — the course requires only a brief problem statement. Mention the uniqueness note; it returns in the analysis.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 min. The three cards are the topic-choice justification. Keep the prior-work strip to two sentences — the course explicitly says existing approaches should be mentioned only very briefly.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~45s. One slide of formalism, no more. Do NOT explain what a CSP or backtracking is — covered in the course. The 'lit is derived' line preempts a common Q&amp;A question about the domain.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 min. The experiment design in one picture: each arrow on the left changes exactly one thing, so differences in the stats are attributable. Right column is the cross-paradigm comparison.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~45s. The screenshot is the naive solver mid-replay on a 10x10: red frame = conflict at (9,7), green digits = satisfied clues, status bar streams the event counter and search stats. Demo bait: if time allows in Q&amp;A, a 20-second live solve in the GUI is worth more than this slide. Do not show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~45s. Fill the two [CONFIRM] blanks once the experiment harness is final. The bottom principle matters in Q&amp;A: multi-solution instances make answer-comparison invalid as a correctness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~1.5 min. THE core slide. Say the numbers out loud: naive 308 nodes on the 7x7, forward checking 12, full inference ZERO - the published puzzle is solved by deduction alone, which is exactly what publishers curate for. Then the scaling panels: 1-2 orders of magnitude between naive and the smart variants. Close with the nodes-vs-time nuance - fewer nodes is not automatically less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~1.5 min. Cross-paradigm comparison. Lead with SA vs HC (the Perera reproduction), then the one-violation-away story - it is the local-optimum concept made concrete. End on the honest framing: on these sizes complete search wins; incompleteness is the structural caveat.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 min. The beyond-the-obvious slide. The headline: our density presets predict difficulty for HUMANS (deduction chains), not for solvers - sparse boards have many solutions and finding any one is easy. Tie back to the uniqueness discussion. Calibrating difficulty by measured effort is named future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sentence, ~20s: 'We re-ran the entire sweep with double the budget - almost nothing changed, and hill climbing gained exactly zero - so the solver ranking is structural, not an artifact of the timeout.' If asked in Q&amp;A: we predicted the outcomes before running (full unchanged, hc zero); the one miss was SA, which we expected to gain more - exponential problems shrug at factors of two.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~45s. Every claim here is a measured number from experiments/results/results.csv (overall: SA 45/75 = 60%, HC 21/75 = 28%; hard-only: 19/25 vs 11/25). All four members should have spoken by now (equal input is graded).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spoken — present for completeness and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7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66760" y="14173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50808" y="1645920"/>
            <a:ext cx="6400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375904" y="1645920"/>
            <a:ext cx="6400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95360" y="1801368"/>
            <a:ext cx="0" cy="6400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95360" y="1426464"/>
            <a:ext cx="0" cy="6400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67344" y="1517904"/>
            <a:ext cx="256032" cy="256032"/>
          </a:xfrm>
          <a:prstGeom prst="ellipse">
            <a:avLst/>
          </a:prstGeom>
          <a:solidFill>
            <a:srgbClr val="FFD23F"/>
          </a:solidFill>
          <a:ln w="17780">
            <a:solidFill>
              <a:srgbClr val="8A6D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823960" y="14173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281160" y="14173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738360" y="14173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95560" y="14173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652760" y="1417320"/>
            <a:ext cx="457200" cy="457200"/>
          </a:xfrm>
          <a:prstGeom prst="rect">
            <a:avLst/>
          </a:prstGeom>
          <a:solidFill>
            <a:srgbClr val="0E0E12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5276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1109960" y="14173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66760" y="1874520"/>
            <a:ext cx="457200" cy="457200"/>
          </a:xfrm>
          <a:prstGeom prst="rect">
            <a:avLst/>
          </a:prstGeom>
          <a:solidFill>
            <a:srgbClr val="0E0E12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6676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823960" y="18745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281160" y="18745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738360" y="18745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122408" y="2103120"/>
            <a:ext cx="6400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47504" y="2103120"/>
            <a:ext cx="6400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966960" y="2258568"/>
            <a:ext cx="0" cy="6400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966960" y="1883664"/>
            <a:ext cx="0" cy="6400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838944" y="1975104"/>
            <a:ext cx="256032" cy="256032"/>
          </a:xfrm>
          <a:prstGeom prst="ellipse">
            <a:avLst/>
          </a:prstGeom>
          <a:solidFill>
            <a:srgbClr val="FFD23F"/>
          </a:solidFill>
          <a:ln w="17780">
            <a:solidFill>
              <a:srgbClr val="8A6D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195560" y="1874520"/>
            <a:ext cx="457200" cy="457200"/>
          </a:xfrm>
          <a:prstGeom prst="rect">
            <a:avLst/>
          </a:prstGeom>
          <a:solidFill>
            <a:srgbClr val="0E0E12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19556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0652760" y="18745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109960" y="18745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66760" y="23317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823960" y="2331720"/>
            <a:ext cx="457200" cy="457200"/>
          </a:xfrm>
          <a:prstGeom prst="rect">
            <a:avLst/>
          </a:prstGeom>
          <a:solidFill>
            <a:srgbClr val="0E0E12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281160" y="23317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738360" y="23317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195560" y="23317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579608" y="2560320"/>
            <a:ext cx="6400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204704" y="2560320"/>
            <a:ext cx="6400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424160" y="2715768"/>
            <a:ext cx="0" cy="6400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424160" y="2340864"/>
            <a:ext cx="0" cy="6400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296144" y="2432304"/>
            <a:ext cx="256032" cy="256032"/>
          </a:xfrm>
          <a:prstGeom prst="ellipse">
            <a:avLst/>
          </a:prstGeom>
          <a:solidFill>
            <a:srgbClr val="FFD23F"/>
          </a:solidFill>
          <a:ln w="17780">
            <a:solidFill>
              <a:srgbClr val="8A6D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0652760" y="23317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1109960" y="23317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366760" y="27889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823960" y="27889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281160" y="27889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738360" y="27889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195560" y="27889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0652760" y="27889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1036808" y="3017520"/>
            <a:ext cx="6400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0661904" y="3017520"/>
            <a:ext cx="6400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0881360" y="3172968"/>
            <a:ext cx="0" cy="6400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0881360" y="2798064"/>
            <a:ext cx="0" cy="6400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0753344" y="2889504"/>
            <a:ext cx="256032" cy="256032"/>
          </a:xfrm>
          <a:prstGeom prst="ellipse">
            <a:avLst/>
          </a:prstGeom>
          <a:solidFill>
            <a:srgbClr val="FFD23F"/>
          </a:solidFill>
          <a:ln w="17780">
            <a:solidFill>
              <a:srgbClr val="8A6D0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1109960" y="27889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366760" y="32461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823960" y="32461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9281160" y="32461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665208" y="3474720"/>
            <a:ext cx="6400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9290304" y="3474720"/>
            <a:ext cx="6400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9509760" y="3630168"/>
            <a:ext cx="0" cy="6400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9509760" y="3255264"/>
            <a:ext cx="0" cy="6400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381744" y="3346704"/>
            <a:ext cx="256032" cy="256032"/>
          </a:xfrm>
          <a:prstGeom prst="ellipse">
            <a:avLst/>
          </a:prstGeom>
          <a:solidFill>
            <a:srgbClr val="FFD23F"/>
          </a:solidFill>
          <a:ln w="17780">
            <a:solidFill>
              <a:srgbClr val="8A6D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9738360" y="32461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0195560" y="32461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0652760" y="3246120"/>
            <a:ext cx="457200" cy="457200"/>
          </a:xfrm>
          <a:prstGeom prst="rect">
            <a:avLst/>
          </a:prstGeom>
          <a:solidFill>
            <a:srgbClr val="0E0E12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11109960" y="32461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11494008" y="3474720"/>
            <a:ext cx="6400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1119104" y="3474720"/>
            <a:ext cx="6400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1338560" y="3630168"/>
            <a:ext cx="0" cy="6400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1338560" y="3255264"/>
            <a:ext cx="0" cy="6400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11210544" y="3346704"/>
            <a:ext cx="256032" cy="256032"/>
          </a:xfrm>
          <a:prstGeom prst="ellipse">
            <a:avLst/>
          </a:prstGeom>
          <a:solidFill>
            <a:srgbClr val="FFD23F"/>
          </a:solidFill>
          <a:ln w="17780">
            <a:solidFill>
              <a:srgbClr val="8A6D0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366760" y="37033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8823960" y="37033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208008" y="3931920"/>
            <a:ext cx="6400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833104" y="3931920"/>
            <a:ext cx="6400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052560" y="4087368"/>
            <a:ext cx="0" cy="6400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9052560" y="3712464"/>
            <a:ext cx="0" cy="6400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8924544" y="3803904"/>
            <a:ext cx="256032" cy="256032"/>
          </a:xfrm>
          <a:prstGeom prst="ellipse">
            <a:avLst/>
          </a:prstGeom>
          <a:solidFill>
            <a:srgbClr val="FFD23F"/>
          </a:solidFill>
          <a:ln w="17780">
            <a:solidFill>
              <a:srgbClr val="8A6D0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281160" y="3703320"/>
            <a:ext cx="457200" cy="457200"/>
          </a:xfrm>
          <a:prstGeom prst="rect">
            <a:avLst/>
          </a:prstGeom>
          <a:solidFill>
            <a:srgbClr val="0E0E12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738360" y="37033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0195560" y="37033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0652760" y="37033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1036808" y="3931920"/>
            <a:ext cx="6400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0661904" y="3931920"/>
            <a:ext cx="6400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10881360" y="4087368"/>
            <a:ext cx="0" cy="6400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10881360" y="3712464"/>
            <a:ext cx="0" cy="6400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10753344" y="3803904"/>
            <a:ext cx="256032" cy="256032"/>
          </a:xfrm>
          <a:prstGeom prst="ellipse">
            <a:avLst/>
          </a:prstGeom>
          <a:solidFill>
            <a:srgbClr val="FFD23F"/>
          </a:solidFill>
          <a:ln w="17780">
            <a:solidFill>
              <a:srgbClr val="8A6D0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1109960" y="3703320"/>
            <a:ext cx="457200" cy="457200"/>
          </a:xfrm>
          <a:prstGeom prst="rect">
            <a:avLst/>
          </a:prstGeom>
          <a:solidFill>
            <a:srgbClr val="0E0E12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11109960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8366760" y="41605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8750808" y="4389120"/>
            <a:ext cx="6400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8375904" y="4389120"/>
            <a:ext cx="6400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8595360" y="4544568"/>
            <a:ext cx="0" cy="6400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8595360" y="4169664"/>
            <a:ext cx="0" cy="6400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8467344" y="4261104"/>
            <a:ext cx="256032" cy="256032"/>
          </a:xfrm>
          <a:prstGeom prst="ellipse">
            <a:avLst/>
          </a:prstGeom>
          <a:solidFill>
            <a:srgbClr val="FFD23F"/>
          </a:solidFill>
          <a:ln w="17780">
            <a:solidFill>
              <a:srgbClr val="8A6D0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8823960" y="4160520"/>
            <a:ext cx="457200" cy="457200"/>
          </a:xfrm>
          <a:prstGeom prst="rect">
            <a:avLst/>
          </a:prstGeom>
          <a:solidFill>
            <a:srgbClr val="0E0E12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882396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96" name="Shape 94"/>
          <p:cNvSpPr/>
          <p:nvPr/>
        </p:nvSpPr>
        <p:spPr>
          <a:xfrm>
            <a:off x="9281160" y="41605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9738360" y="41605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10195560" y="41605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10652760" y="41605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11109960" y="4160520"/>
            <a:ext cx="457200" cy="45720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1494008" y="4389120"/>
            <a:ext cx="6400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11119104" y="4389120"/>
            <a:ext cx="6400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11338560" y="4544568"/>
            <a:ext cx="0" cy="6400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11338560" y="4169664"/>
            <a:ext cx="0" cy="6400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11210544" y="4261104"/>
            <a:ext cx="256032" cy="256032"/>
          </a:xfrm>
          <a:prstGeom prst="ellipse">
            <a:avLst/>
          </a:prstGeom>
          <a:solidFill>
            <a:srgbClr val="FFD23F"/>
          </a:solidFill>
          <a:ln w="17780">
            <a:solidFill>
              <a:srgbClr val="8A6D00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640080" y="155448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Lighting Up Akari with AI Search</a:t>
            </a:r>
            <a:endParaRPr lang="en-US" sz="4000" dirty="0"/>
          </a:p>
        </p:txBody>
      </p:sp>
      <p:sp>
        <p:nvSpPr>
          <p:cNvPr id="107" name="Text 105"/>
          <p:cNvSpPr/>
          <p:nvPr/>
        </p:nvSpPr>
        <p:spPr>
          <a:xfrm>
            <a:off x="640080" y="288036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D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Solving the LightUp puzzle with CSP backtracking,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D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hill climbing and simulated annealing</a:t>
            </a:r>
            <a:endParaRPr lang="en-US" sz="1700" dirty="0"/>
          </a:p>
        </p:txBody>
      </p:sp>
      <p:sp>
        <p:nvSpPr>
          <p:cNvPr id="108" name="Text 106"/>
          <p:cNvSpPr/>
          <p:nvPr/>
        </p:nvSpPr>
        <p:spPr>
          <a:xfrm>
            <a:off x="640080" y="4297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[Member 1]  ·  [Member 2]  ·  [Member 3]  ·  [Member 4]</a:t>
            </a:r>
            <a:endParaRPr lang="en-US" sz="1400" dirty="0"/>
          </a:p>
        </p:txBody>
      </p:sp>
      <p:sp>
        <p:nvSpPr>
          <p:cNvPr id="109" name="Text 107"/>
          <p:cNvSpPr/>
          <p:nvPr/>
        </p:nvSpPr>
        <p:spPr>
          <a:xfrm>
            <a:off x="640080" y="4709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246 Artificial Intelligence — AUA, Summer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717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puzzle: three rules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325880"/>
            <a:ext cx="6126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R1 — Illumination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white cell must be lit. A bulb lights its whole row and column until a wall blocks it.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2606040"/>
            <a:ext cx="6126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R2 — No mutual light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bulb may shine on another bulb.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886200"/>
            <a:ext cx="6126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R3 — Clue exactness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numbered wall must touch exactly that many bulbs. Plain walls constrain nothing.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5303520"/>
            <a:ext cx="6126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9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Uniqueness of the solution is a publishing convention — not a rule. The rules define a constraint-satisfaction problem.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863840" y="1554480"/>
            <a:ext cx="1005840" cy="1005840"/>
          </a:xfrm>
          <a:prstGeom prst="rect">
            <a:avLst/>
          </a:prstGeom>
          <a:solidFill>
            <a:srgbClr val="0E0E12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0" y="155448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6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860" dirty="0"/>
          </a:p>
        </p:txBody>
      </p:sp>
      <p:sp>
        <p:nvSpPr>
          <p:cNvPr id="9" name="Shape 7"/>
          <p:cNvSpPr/>
          <p:nvPr/>
        </p:nvSpPr>
        <p:spPr>
          <a:xfrm>
            <a:off x="8869680" y="1554480"/>
            <a:ext cx="1005840" cy="100584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714586" y="2057400"/>
            <a:ext cx="14081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889797" y="2057400"/>
            <a:ext cx="14081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372600" y="2399386"/>
            <a:ext cx="0" cy="14081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372600" y="1574597"/>
            <a:ext cx="0" cy="14081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090965" y="1775765"/>
            <a:ext cx="563270" cy="563270"/>
          </a:xfrm>
          <a:prstGeom prst="ellipse">
            <a:avLst/>
          </a:prstGeom>
          <a:solidFill>
            <a:srgbClr val="FFD23F"/>
          </a:solidFill>
          <a:ln w="17780">
            <a:solidFill>
              <a:srgbClr val="8A6D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875520" y="1554480"/>
            <a:ext cx="1005840" cy="100584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0" y="2560320"/>
            <a:ext cx="1005840" cy="100584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708746" y="3063240"/>
            <a:ext cx="14081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83957" y="3063240"/>
            <a:ext cx="14081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66760" y="3405226"/>
            <a:ext cx="0" cy="14081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366760" y="2580437"/>
            <a:ext cx="0" cy="14081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85125" y="2781605"/>
            <a:ext cx="563270" cy="563270"/>
          </a:xfrm>
          <a:prstGeom prst="ellipse">
            <a:avLst/>
          </a:prstGeom>
          <a:solidFill>
            <a:srgbClr val="FFD23F"/>
          </a:solidFill>
          <a:ln w="17780">
            <a:solidFill>
              <a:srgbClr val="8A6D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869680" y="2560320"/>
            <a:ext cx="1005840" cy="100584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875520" y="2560320"/>
            <a:ext cx="1005840" cy="100584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63840" y="3566160"/>
            <a:ext cx="1005840" cy="100584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869680" y="3566160"/>
            <a:ext cx="1005840" cy="100584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875520" y="3566160"/>
            <a:ext cx="1005840" cy="1005840"/>
          </a:xfrm>
          <a:prstGeom prst="rect">
            <a:avLst/>
          </a:prstGeom>
          <a:solidFill>
            <a:srgbClr val="FFE08A"/>
          </a:solidFill>
          <a:ln w="9525">
            <a:solidFill>
              <a:srgbClr val="3F3F4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720426" y="4069080"/>
            <a:ext cx="14081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895637" y="4069080"/>
            <a:ext cx="140818" cy="0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378440" y="4411066"/>
            <a:ext cx="0" cy="14081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378440" y="3586277"/>
            <a:ext cx="0" cy="140818"/>
          </a:xfrm>
          <a:prstGeom prst="line">
            <a:avLst/>
          </a:prstGeom>
          <a:noFill/>
          <a:ln w="17780">
            <a:solidFill>
              <a:srgbClr val="8A6D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096805" y="3787445"/>
            <a:ext cx="563270" cy="563270"/>
          </a:xfrm>
          <a:prstGeom prst="ellipse">
            <a:avLst/>
          </a:prstGeom>
          <a:solidFill>
            <a:srgbClr val="FFD23F"/>
          </a:solidFill>
          <a:ln w="17780">
            <a:solidFill>
              <a:srgbClr val="8A6D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52360" y="480060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3×3 instance, solved: the corner ‘2’ forces both its neighbors.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156716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717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LightUp is a good AI problem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3566160" cy="2377440"/>
          </a:xfrm>
          <a:prstGeom prst="roundRect">
            <a:avLst>
              <a:gd name="adj" fmla="val 3077"/>
            </a:avLst>
          </a:prstGeom>
          <a:solidFill>
            <a:srgbClr val="2B2B35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600200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NP-complete</a:t>
            </a:r>
            <a:endParaRPr lang="en-US" sz="1900" dirty="0"/>
          </a:p>
          <a:p>
            <a:pPr indent="0" marL="0">
              <a:buNone/>
            </a:pPr>
            <a:r>
              <a:rPr lang="en-US" sz="14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by reduction from Circuit-SAT (McPhail 2005). Worst-case exponential — cleverness must earn its keep.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297680" y="1371600"/>
            <a:ext cx="3566160" cy="2377440"/>
          </a:xfrm>
          <a:prstGeom prst="roundRect">
            <a:avLst>
              <a:gd name="adj" fmla="val 3077"/>
            </a:avLst>
          </a:prstGeom>
          <a:solidFill>
            <a:srgbClr val="2B2B35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0" y="1600200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CSP</a:t>
            </a:r>
            <a:endParaRPr lang="en-US" sz="1900" dirty="0"/>
          </a:p>
          <a:p>
            <a:pPr indent="0" marL="0">
              <a:buNone/>
            </a:pPr>
            <a:r>
              <a:rPr lang="en-US" sz="14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binary variable per white cell; the three rules become sum constraints. Search space up to 2ⁿ.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8138160" y="1371600"/>
            <a:ext cx="3566160" cy="2377440"/>
          </a:xfrm>
          <a:prstGeom prst="roundRect">
            <a:avLst>
              <a:gd name="adj" fmla="val 3077"/>
            </a:avLst>
          </a:prstGeom>
          <a:solidFill>
            <a:srgbClr val="2B2B35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0" y="1600200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Endlessly scalable</a:t>
            </a:r>
            <a:endParaRPr lang="en-US" sz="1900" dirty="0"/>
          </a:p>
          <a:p>
            <a:pPr indent="0" marL="0">
              <a:buNone/>
            </a:pPr>
            <a:r>
              <a:rPr lang="en-US" sz="14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generator builds solvable instances from 3×3 to 25×25 with tunable wall and clue density.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40080" y="420624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approaches (briefly): </a:t>
            </a:r>
            <a:pPr indent="0" marL="0">
              <a:buNone/>
            </a:pPr>
            <a:r>
              <a:rPr lang="en-US" sz="1400" dirty="0">
                <a:solidFill>
                  <a:srgbClr val="A9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 encoding + backtracking (Pulles 2021) · hill climbing, simulated annealing, neural networks (Perera et al. 2021) · evolutionary algorithms (Salcedo-Sanz et al. 2009).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156716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717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formulation (CSP)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63040"/>
          <a:ext cx="10881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039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D2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EFE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Xᵥ ∈ {bulb, no-bulb} per white cell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D2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R1  all lit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EFE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 Xᵥ over {w} ∪ sight(w)  ≥ 1   for every white cell 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D2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R2  no clashes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EFE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 Xᵥ over a wall-free segment  ≤ 1   (binary constraints)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D2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R3  clues exact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EFE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 Xᵥ over a clue's neighbors  =  nₖ   (global, exactly-k)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D2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Goal test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EFE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constraints satisfied — checked by one shared validator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7171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B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640080" y="50292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9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“Lit” is a derived property, not a cell state — it inflates nothing: lit(w) ⟺ a bulb exists in {w} ∪ sight(w).</a:t>
            </a:r>
            <a:endParaRPr lang="en-US" sz="1400" dirty="0"/>
          </a:p>
        </p:txBody>
      </p:sp>
      <p:sp>
        <p:nvSpPr>
          <p:cNvPr id="6" name="Text 2"/>
          <p:cNvSpPr/>
          <p:nvPr/>
        </p:nvSpPr>
        <p:spPr>
          <a:xfrm>
            <a:off x="1156716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717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problem, five solvers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2B2B35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50876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Backtracking — naive  </a:t>
            </a:r>
            <a:pPr indent="0" marL="0">
              <a:buNone/>
            </a:pPr>
            <a:r>
              <a:rPr lang="en-US" sz="125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order, full re-check per node (baseline to beat)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383280" y="2377440"/>
            <a:ext cx="0" cy="320040"/>
          </a:xfrm>
          <a:prstGeom prst="line">
            <a:avLst/>
          </a:prstGeom>
          <a:noFill/>
          <a:ln w="25400">
            <a:solidFill>
              <a:srgbClr val="FFD23F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640080" y="2697480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2B2B35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78892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ordering heuristics  </a:t>
            </a:r>
            <a:pPr indent="0" marL="0">
              <a:buNone/>
            </a:pPr>
            <a:r>
              <a:rPr lang="en-US" sz="125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MRV / degree variable order, value ordering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383280" y="3657600"/>
            <a:ext cx="0" cy="320040"/>
          </a:xfrm>
          <a:prstGeom prst="line">
            <a:avLst/>
          </a:prstGeom>
          <a:noFill/>
          <a:ln w="25400">
            <a:solidFill>
              <a:srgbClr val="FFD23F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640080" y="3977640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2B2B35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406908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inference  </a:t>
            </a:r>
            <a:pPr indent="0" marL="0">
              <a:buNone/>
            </a:pPr>
            <a:r>
              <a:rPr lang="en-US" sz="125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checking, clue propagation (0/4, saturated, exhausted)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675120" y="1417320"/>
            <a:ext cx="4937760" cy="960120"/>
          </a:xfrm>
          <a:prstGeom prst="roundRect">
            <a:avLst>
              <a:gd name="adj" fmla="val 7619"/>
            </a:avLst>
          </a:prstGeom>
          <a:solidFill>
            <a:srgbClr val="2B2B35"/>
          </a:solidFill>
          <a:ln/>
        </p:spPr>
      </p:sp>
      <p:sp>
        <p:nvSpPr>
          <p:cNvPr id="12" name="Text 10"/>
          <p:cNvSpPr/>
          <p:nvPr/>
        </p:nvSpPr>
        <p:spPr>
          <a:xfrm>
            <a:off x="6949440" y="150876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FD6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Hill climbing  </a:t>
            </a:r>
            <a:pPr indent="0" marL="0">
              <a:buNone/>
            </a:pPr>
            <a:r>
              <a:rPr lang="en-US" sz="125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search over complete assignments; objective = violation count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675120" y="2697480"/>
            <a:ext cx="4937760" cy="960120"/>
          </a:xfrm>
          <a:prstGeom prst="roundRect">
            <a:avLst>
              <a:gd name="adj" fmla="val 7619"/>
            </a:avLst>
          </a:prstGeom>
          <a:solidFill>
            <a:srgbClr val="2B2B35"/>
          </a:solidFill>
          <a:ln/>
        </p:spPr>
      </p:sp>
      <p:sp>
        <p:nvSpPr>
          <p:cNvPr id="14" name="Text 12"/>
          <p:cNvSpPr/>
          <p:nvPr/>
        </p:nvSpPr>
        <p:spPr>
          <a:xfrm>
            <a:off x="6949440" y="278892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FD6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Simulated annealing  </a:t>
            </a:r>
            <a:pPr indent="0" marL="0">
              <a:buNone/>
            </a:pPr>
            <a:r>
              <a:rPr lang="en-US" sz="125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moves, temperature schedule escapes local optima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" y="5394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search (left) vs. local search (right) — same rules, same validator as referee, same statistics collected: nodes / moves, conflicts, backtracks, time.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156716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717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system: game, generator, observable solvers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5394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Playable game</a:t>
            </a:r>
            <a:endParaRPr lang="en-US" sz="1600" dirty="0"/>
          </a:p>
          <a:p>
            <a:pPr indent="0" marL="0">
              <a:buNone/>
            </a:pPr>
            <a:r>
              <a:rPr lang="en-US" sz="135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Tkinter GUI: click to place bulbs, X marks, live rule feedback, any board 3×3–25×25, three difficulty presets.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852928"/>
            <a:ext cx="5394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Instance generator</a:t>
            </a:r>
            <a:endParaRPr lang="en-US" sz="1600" dirty="0"/>
          </a:p>
          <a:p>
            <a:pPr indent="0" marL="0">
              <a:buNone/>
            </a:pPr>
            <a:r>
              <a:rPr lang="en-US" sz="135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Solution-first construction: build a valid lighting, derive clues from it, remove bulbs → solvable by construction.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4334256"/>
            <a:ext cx="5394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Watchable search</a:t>
            </a:r>
            <a:endParaRPr lang="en-US" sz="1600" dirty="0"/>
          </a:p>
          <a:p>
            <a:pPr indent="0" marL="0">
              <a:buNone/>
            </a:pPr>
            <a:r>
              <a:rPr lang="en-US" sz="135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solver streams place / conflict / backtrack events — animated replay with play, pause, step, finish.</a:t>
            </a:r>
            <a:endParaRPr lang="en-US" sz="1600" dirty="0"/>
          </a:p>
        </p:txBody>
      </p:sp>
      <p:pic>
        <p:nvPicPr>
          <p:cNvPr id="6" name="Image 0" descr="C:\Users\Annie\AppData\Local\Temp\claude\C--Users-Annie-Desktop-AUA-Artificial-Intelligence-GroupProject\3713b754-8c0d-4788-ba37-4fc6479a5014\scratchpad\gui_screensho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0" y="1280160"/>
            <a:ext cx="5212080" cy="45720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156716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717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Experimental setup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5394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Instances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boards: sizes 7, 10, 14, 18, 25; easy / medium / hard density presets; 5 seeded instances per bucket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solver runs on IDENTICAL instances; 375 runs total (~11 min)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Reproducible: fixed seeds everywhere, 5 s budget per run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400800" y="1371600"/>
            <a:ext cx="5120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effort: nodes / moves, conflicts, backtracks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Wall-clock time (median over seeds)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 rate within the timeout (local search: also solution quality)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4754880"/>
            <a:ext cx="10881360" cy="1188720"/>
          </a:xfrm>
          <a:prstGeom prst="roundRect">
            <a:avLst>
              <a:gd name="adj" fmla="val 6154"/>
            </a:avLst>
          </a:prstGeom>
          <a:solidFill>
            <a:srgbClr val="2B2B35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489204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 is always judged by the rules validator — never by comparing to one known answer, because instances may have several legitimate solutions.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156716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717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— what does inference buy?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05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691640" y="1170432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nodes to solve the published 7×7 —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inference derives it by propagation alone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126480" y="105156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8FD6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75/75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001000" y="1170432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instances solved by full inference,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sizes &amp; difficulties — the only 100 % solver</a:t>
            </a:r>
            <a:endParaRPr lang="en-US" sz="1200" dirty="0"/>
          </a:p>
        </p:txBody>
      </p:sp>
      <p:pic>
        <p:nvPicPr>
          <p:cNvPr id="7" name="Image 0" descr="C:\Users\Annie\Desktop\AUA\Artificial Intelligence\GroupProject\LightUp\experiments\results\fig1_bt_scal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057400"/>
            <a:ext cx="10607040" cy="424281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" y="6327648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A9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BT leaves the chart after 18×18 (0 % solved at 25×25). The honest nuance: full inference needs ~2× fewer nodes than forward checking, yet fc is slightly faster per board at large sizes — propagation costs time per node.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1156716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717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— complete vs. local search</a:t>
            </a:r>
            <a:endParaRPr lang="en-US" sz="3000" dirty="0"/>
          </a:p>
        </p:txBody>
      </p:sp>
      <p:pic>
        <p:nvPicPr>
          <p:cNvPr id="3" name="Image 0" descr="C:\Users\Annie\Desktop\AUA\Artificial Intelligence\GroupProject\LightUp\experiments\results\fig2_paradigm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7040880" cy="44805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818120" y="1508760"/>
            <a:ext cx="38404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sweep shows: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 ≫ HC everywhere: 19/25 vs 11/25 hard instances solved (60 % vs 28 % over the whole sweep) — reproducing Perera et al. (2021) with our own implementation.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HC's signature failure: stuck ONE violation from the goal (one 20 s run: 12,496 restarts, never closed it).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a 5 s budget, complete search with inference dominates at every size we tested; local search's appeal here is simplicity, not speed.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A9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local solvers are incomplete: they can never prove a board unsolvable.</a:t>
            </a:r>
            <a:endParaRPr lang="en-US" sz="1400" dirty="0"/>
          </a:p>
        </p:txBody>
      </p:sp>
      <p:sp>
        <p:nvSpPr>
          <p:cNvPr id="6" name="Text 2"/>
          <p:cNvSpPr/>
          <p:nvPr/>
        </p:nvSpPr>
        <p:spPr>
          <a:xfrm>
            <a:off x="1156716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717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— what makes an instance hard?</a:t>
            </a:r>
            <a:endParaRPr lang="en-US" sz="3000" dirty="0"/>
          </a:p>
        </p:txBody>
      </p:sp>
      <p:pic>
        <p:nvPicPr>
          <p:cNvPr id="3" name="Image 0" descr="C:\Users\Annie\Desktop\AUA\Artificial Intelligence\GroupProject\LightUp\experiments\results\fig3_difficul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7040880" cy="44805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818120" y="1508760"/>
            <a:ext cx="38404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surprises at 14×14: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sparse “hard” preset is often FASTER for solvers: fewer clues → more valid solutions → any one is easier to find. Human difficulty ≠ search difficulty.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Hill climbing inverts the pattern: it solved NOTHING at easy/medium density but sometimes cracked hard boards — dense clue terms roughen the landscape with local optima (missing bars = zero solved).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inference is the most stable across densities: 1–4 ms medians everywhere.</a:t>
            </a:r>
            <a:endParaRPr lang="en-US" sz="1400" dirty="0"/>
          </a:p>
        </p:txBody>
      </p:sp>
      <p:sp>
        <p:nvSpPr>
          <p:cNvPr id="6" name="Text 2"/>
          <p:cNvSpPr/>
          <p:nvPr/>
        </p:nvSpPr>
        <p:spPr>
          <a:xfrm>
            <a:off x="1156716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717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Robustness — is the 5 s budget arbitrary?</a:t>
            </a:r>
            <a:endParaRPr lang="en-US" sz="3000" dirty="0"/>
          </a:p>
        </p:txBody>
      </p:sp>
      <p:pic>
        <p:nvPicPr>
          <p:cNvPr id="3" name="Image 0" descr="C:\Users\Annie\Desktop\AUA\Artificial Intelligence\GroupProject\LightUp\experiments\results\fig4_budg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58568" y="1234440"/>
            <a:ext cx="7680960" cy="42702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5715000"/>
            <a:ext cx="9418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A9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Doubling the budget on identical instances changed at most 3 results out of 75 per solver — and hill climbing gained exactly zero. More time helps solvers that are slow, not solvers that are stuck: the ranking is structural, not a timeout artifact.</a:t>
            </a:r>
            <a:endParaRPr lang="en-US" sz="1300" dirty="0"/>
          </a:p>
        </p:txBody>
      </p:sp>
      <p:sp>
        <p:nvSpPr>
          <p:cNvPr id="6" name="Text 2"/>
          <p:cNvSpPr/>
          <p:nvPr/>
        </p:nvSpPr>
        <p:spPr>
          <a:xfrm>
            <a:off x="1156716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717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63040"/>
            <a:ext cx="108813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 is the story: full propagation solved all 75 generated instances — the only 100 % solver — and cracked the published 7×7 with zero search nodes.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nodes ≠ less time: full inference needs ~2× fewer nodes than forward checking, but propagation overhead makes fc slightly faster per board at 25×25.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annealing solved 60 % of all instances vs. 28 % for hill climbing (76 % vs 44 % on hard) — reproducing Perera et al.; HC's signature failure is stalling one violation from the goal.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Sparser boards were often EASIER for solvers (more solutions to find) — density presets model human difficulty, not search difficulty.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work: uniqueness-filtered generation, AC-3 / MAC on the binary constraints, difficulty calibration from measured search effort.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2B2B35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54864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 — questions welcome.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156716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717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63040"/>
            <a:ext cx="108813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McPhail (2005). Light Up is NP-complete.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Pulles (2021). Analysis of Akari. Bachelor thesis, Radboud University.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L. Sun, J. Browning, R. Perera (2021). Shedding Some Light on Light Up with Artificial Intelligence. arXiv:2107.10429.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 Salcedo-Sanz et al. (2009). A nested two-steps evolutionary algorithm for the light-up puzzle. ICGA Journal 32.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 Russell, P. Norvig (2021). Artificial Intelligence: A Modern Approach, 4th ed. — Chapters 3, 4, 6.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puzzle-light-up.com — rules and reference instances.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156716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2026-07-24T09:23:26Z</dcterms:created>
  <dcterms:modified xsi:type="dcterms:W3CDTF">2026-07-24T09:23:26Z</dcterms:modified>
</cp:coreProperties>
</file>