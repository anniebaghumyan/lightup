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892" autoAdjust="0"/>
    <p:restoredTop sz="75908" autoAdjust="0"/>
  </p:normalViewPr>
  <p:slideViewPr>
    <p:cSldViewPr snapToGrid="0" snapToObjects="1">
      <p:cViewPr varScale="1">
        <p:scale>
          <a:sx n="84" d="100"/>
          <a:sy n="84" d="100"/>
        </p:scale>
        <p:origin x="8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[~30 s]</a:t>
            </a:r>
          </a:p>
          <a:p>
            <a:endParaRPr dirty="0"/>
          </a:p>
          <a:p>
            <a:r>
              <a:rPr dirty="0"/>
              <a:t>Good morning. Our project is </a:t>
            </a:r>
            <a:r>
              <a:rPr dirty="0" err="1"/>
              <a:t>LightUp</a:t>
            </a:r>
            <a:r>
              <a:rPr dirty="0"/>
              <a:t> — also known as </a:t>
            </a:r>
            <a:r>
              <a:rPr dirty="0" err="1"/>
              <a:t>Akari</a:t>
            </a:r>
            <a:r>
              <a:rPr dirty="0"/>
              <a:t> — a Japanese logic puzzle. We built the game itself, and then made five different AI solvers compete on it. The board you see here is a published puzzle, solved by our own system. Let me start with the rules.</a:t>
            </a:r>
          </a:p>
          <a:p>
            <a:endParaRPr dirty="0"/>
          </a:p>
          <a:p>
            <a:r>
              <a:rPr dirty="0"/>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err="1"/>
              <a:t>LightUp</a:t>
            </a:r>
            <a:r>
              <a:rPr dirty="0"/>
              <a:t>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a:t>
            </a:r>
            <a:endParaRPr lang="en-US" dirty="0"/>
          </a:p>
          <a:p>
            <a:endParaRPr lang="en-US" dirty="0"/>
          </a:p>
          <a:p>
            <a:r>
              <a:rPr b="1" dirty="0">
                <a:solidFill>
                  <a:srgbClr val="C00000"/>
                </a:solidFill>
              </a:rPr>
              <a:t>One detail worth remembering</a:t>
            </a:r>
            <a:r>
              <a:rPr dirty="0"/>
              <a:t>: nothing in the rules says a puzzle has only one solution — uniqueness is a publishing convention</a:t>
            </a:r>
            <a:r>
              <a:rPr lang="en-US" dirty="0"/>
              <a:t>, </a:t>
            </a:r>
            <a:r>
              <a:rPr lang="en-US" b="1" dirty="0"/>
              <a:t>and that detail will come back in our results</a:t>
            </a:r>
            <a:r>
              <a:rPr dirty="0"/>
              <a:t>.</a:t>
            </a:r>
          </a:p>
          <a:p>
            <a:endParaRPr dirty="0"/>
          </a:p>
          <a:p>
            <a:r>
              <a:rPr dirty="0"/>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a:t>Why is this a good AI problem? Three reasons. First, it is NP-complete: it was proven in 2005 to be as hard as circuit satisfiability. Second, it is a very clean constraint-satisfaction problem: one binary variable per white cell. Third, it scales: our generator produces boards from three-by-three up to twenty-five-by-twenty-five with tunable difficulty, which gives us unlimited test data. Earlier work solved </a:t>
            </a:r>
            <a:r>
              <a:rPr dirty="0" err="1"/>
              <a:t>LightUp</a:t>
            </a:r>
            <a:r>
              <a:rPr dirty="0"/>
              <a:t> three ways: by translating it into SAT, by modelling it as a constraint problem, and with local search. Our two solver families follow the last two — and later we check whether the published local-search finding still holds on our own instances.</a:t>
            </a:r>
          </a:p>
          <a:p>
            <a:endParaRPr dirty="0"/>
          </a:p>
          <a:p>
            <a:r>
              <a:rPr dirty="0"/>
              <a:t>(Cue: Prior work stays at one sentence — the course asks for brevity here.)</a:t>
            </a:r>
          </a:p>
          <a:p>
            <a:endParaRPr dirty="0"/>
          </a:p>
          <a:p>
            <a:r>
              <a:rPr dirty="0"/>
              <a:t>(Q&amp;A trap: if NP-complete, why did you solve 25x25 in 20 </a:t>
            </a:r>
            <a:r>
              <a:rPr dirty="0" err="1"/>
              <a:t>ms</a:t>
            </a:r>
            <a:r>
              <a:rPr dirty="0"/>
              <a:t>? Because NP-completeness is a WORST-CASE statement. Puzzle-like instances carry a lot of structure, and inference exploits it; the hard instances the theory guarantees exist are not the ones a puzzle generator usually produces.)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[~45 s]</a:t>
            </a:r>
          </a:p>
          <a:p>
            <a:endParaRPr dirty="0"/>
          </a:p>
          <a:p>
            <a:r>
              <a:rPr dirty="0"/>
              <a:t>Our formulation: one binary variable per white cell — bulb or no bulb. The three rules become three families of constraints: every cell's line of sight must contain at least one bulb; every wall-free segment, at most one; every numbered wall, exactly its number. Whether a cell is lit follows entirely from where the bulbs are</a:t>
            </a:r>
            <a:r>
              <a:rPr lang="en-US" dirty="0"/>
              <a:t>.</a:t>
            </a:r>
          </a:p>
          <a:p>
            <a:endParaRPr dirty="0"/>
          </a:p>
          <a:p>
            <a:r>
              <a:rPr dirty="0"/>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pPr algn="l" rtl="0"/>
            <a:r>
              <a:rPr dirty="0"/>
              <a:t>We implemented five solvers in two families. </a:t>
            </a:r>
            <a:endParaRPr lang="en-US" dirty="0"/>
          </a:p>
          <a:p>
            <a:pPr algn="l" rtl="0"/>
            <a:r>
              <a:rPr lang="en-US" b="0" i="0" dirty="0">
                <a:solidFill>
                  <a:srgbClr val="A5A49A"/>
                </a:solidFill>
                <a:effectLst/>
                <a:latin typeface="Anthropic Sans"/>
              </a:rPr>
              <a:t>On the left, backtracking search - it builds a partial assignment, one cell at a time, and backtracks it when stuck. All three are complete. They differ only in how much inference they do.</a:t>
            </a:r>
          </a:p>
          <a:p>
            <a:pPr algn="l" rtl="0"/>
            <a:r>
              <a:rPr lang="en-US" b="0" i="0" dirty="0">
                <a:solidFill>
                  <a:srgbClr val="A5A49A"/>
                </a:solidFill>
                <a:effectLst/>
                <a:latin typeface="Anthropic Sans"/>
              </a:rPr>
              <a:t>Plain backtracking does none. Forward checking deletes values: place a bulb, and every cell it sees loses the option of being a bulb. Full inference keeps applying the constraints until nothing changes - a clue that already has all its bulbs empties the rest, a clue that needs every cell it has left fills them, a cell with one possible light source forces that source. These are the moves a human player makes.</a:t>
            </a:r>
          </a:p>
          <a:p>
            <a:pPr algn="l" rtl="0"/>
            <a:r>
              <a:rPr lang="en-US" b="0" i="0" dirty="0">
                <a:solidFill>
                  <a:srgbClr val="A5A49A"/>
                </a:solidFill>
                <a:effectLst/>
                <a:latin typeface="Anthropic Sans"/>
              </a:rPr>
              <a:t>On the right, local search. Both start from a random fully lit board and repair it, guided by a score that counts broken rules - zero means solved. Both are incomplete. The difference is which moves they accept. Hill climbing takes only improvements, so it stalls at a local optimum and restarts. Simulated annealing sometimes accepts a worse board, less and less over time.</a:t>
            </a:r>
          </a:p>
          <a:p>
            <a:endParaRPr dirty="0"/>
          </a:p>
          <a:p>
            <a:r>
              <a:rPr dirty="0"/>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[~45 s]</a:t>
            </a:r>
          </a:p>
          <a:p>
            <a:endParaRPr dirty="0"/>
          </a:p>
          <a:p>
            <a:r>
              <a:rPr dirty="0"/>
              <a:t>Everything is observable. This is our game </a:t>
            </a:r>
            <a:r>
              <a:rPr lang="en-US" dirty="0"/>
              <a:t>-</a:t>
            </a:r>
            <a:r>
              <a:rPr dirty="0"/>
              <a:t> you can play it yourself. The window animates </a:t>
            </a:r>
            <a:r>
              <a:rPr lang="en-US" dirty="0"/>
              <a:t>all</a:t>
            </a:r>
            <a:r>
              <a:rPr dirty="0"/>
              <a:t> solver</a:t>
            </a:r>
            <a:r>
              <a:rPr lang="en-US" dirty="0"/>
              <a:t>s</a:t>
            </a:r>
            <a:r>
              <a:rPr dirty="0"/>
              <a:t>: in this screenshot the naive solver is mid-search on a ten-by-ten </a:t>
            </a:r>
            <a:r>
              <a:rPr lang="en-US" dirty="0"/>
              <a:t>-</a:t>
            </a:r>
            <a:r>
              <a:rPr dirty="0"/>
              <a:t> the red frame is a conflict it just hit, and the status bar shows it has already tried eighty-eight thousand nodes. This replay tool is how we debugged the solvers, and honestly, how we came to understand them.</a:t>
            </a:r>
          </a:p>
          <a:p>
            <a:endParaRPr dirty="0"/>
          </a:p>
          <a:p>
            <a:r>
              <a:rPr dirty="0"/>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[~45 s]</a:t>
            </a:r>
          </a:p>
          <a:p>
            <a:endParaRPr dirty="0"/>
          </a:p>
          <a:p>
            <a:r>
              <a:rPr dirty="0"/>
              <a:t>The experiment: five board sizes from seven to twenty-five, three difficulty presets from clue-dense to sparse, five seeded instances per combination </a:t>
            </a:r>
            <a:r>
              <a:rPr lang="en-US" dirty="0"/>
              <a:t>- </a:t>
            </a:r>
            <a:r>
              <a:rPr dirty="0"/>
              <a:t>seventy-five unique puzzles </a:t>
            </a:r>
            <a:r>
              <a:rPr lang="en-US" dirty="0"/>
              <a:t>-</a:t>
            </a:r>
            <a:r>
              <a:rPr dirty="0"/>
              <a:t> and every solver gets identical puzzles with a five-second budget: three hundred seventy-five runs.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What does inference buy? On the published seven-by-seven, full inference places every bulb by deduction - no search at all, where the naive solver needs hundreds of guesses. Publishers design puzzles humans can reason through, and our rules are those same steps.</a:t>
            </a:r>
          </a:p>
          <a:p>
            <a:r>
              <a:t>Full inference solved everything we generated - the only solver with a perfect record.</a:t>
            </a:r>
          </a:p>
          <a:p>
            <a:r>
              <a:t>The chart shows the baseline giving up: naive leaves the picture after eighteen-by-eighteen, while both informed variants stay far lower - about ten times fewer nodes at seven-by-seven, and about fifty times fewer by eighteen.</a:t>
            </a:r>
          </a:p>
          <a:p>
            <a:r>
              <a:t>One nuance. Full inference always expands fewer nodes, but propagation is not free - it re-checks every clue at every node, even when nothing new comes out. On clue-rich boards that pays back. On the sparse boards plotted here it does not, and forward checking wins.</a:t>
            </a:r>
          </a:p>
          <a:p/>
          <a:p>
            <a:r>
              <a:t>(Cue: THE core slide. Say ZERO slowly and let it land. Q&amp;A backup - the exact numbers on that puzzle are 308 naive, 12 forward checking, 0 full; the chart is a median over five GENERATED hard boards, where naive is 94.)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[~1.5 min]</a:t>
            </a:r>
          </a:p>
          <a:p>
            <a:endParaRPr dirty="0"/>
          </a:p>
          <a:p>
            <a:r>
              <a:rPr dirty="0"/>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endParaRPr dirty="0"/>
          </a:p>
          <a:p>
            <a:r>
              <a:rPr dirty="0"/>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 min]</a:t>
            </a:r>
          </a:p>
          <a:p>
            <a:endParaRPr dirty="0"/>
          </a:p>
          <a:p>
            <a:r>
              <a:rPr dirty="0"/>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a:t>
            </a:r>
            <a:r>
              <a:rPr lang="en-US" dirty="0"/>
              <a:t>y</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 s]</a:t>
            </a:r>
          </a:p>
          <a:p>
            <a:endParaRPr dirty="0"/>
          </a:p>
          <a:p>
            <a:r>
              <a:rPr dirty="0"/>
              <a:t>One robustness check: we re-ran the entire sweep with double the budget — almost nothing changed, and hill climbing gained exactly zero — so the ranking you have seen is structural, not an artifact of the timeout.</a:t>
            </a:r>
          </a:p>
          <a:p>
            <a:endParaRPr dirty="0"/>
          </a:p>
          <a:p>
            <a:r>
              <a:rPr dirty="0"/>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endParaRPr/>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puzzles with a guaranteed unique solution, writing our own SAT solver so we can compare a clause-based formulation against our constraint-based one, and calibrating difficulty from measured search effort rather than from clue density. Thank you — we are happy to take questions.</a:t>
            </a:r>
          </a:p>
          <a:p>
            <a:endParaRPr/>
          </a:p>
          <a:p>
            <a:r>
              <a:t>(Cue: All three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endParaRPr/>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lnSpc>
                <a:spcPct val="150000"/>
              </a:lnSpc>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lnSpc>
                <a:spcPct val="150000"/>
              </a:lnSpc>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t>
            </a:r>
          </a:p>
          <a:p>
            <a:pPr marL="0" indent="0">
              <a:buNone/>
            </a:pPr>
            <a:r>
              <a:rPr lang="en-US" sz="1500" dirty="0">
                <a:solidFill>
                  <a:srgbClr val="F2EFE7"/>
                </a:solidFill>
                <a:latin typeface="Calibri" pitchFamily="34" charset="0"/>
                <a:ea typeface="Calibri" pitchFamily="34" charset="-122"/>
                <a:cs typeface="Calibri" pitchFamily="34" charset="-120"/>
              </a:rPr>
              <a:t>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a:t>
            </a:r>
          </a:p>
          <a:p>
            <a:pPr marL="0" indent="0">
              <a:buNone/>
            </a:pPr>
            <a:r>
              <a:rPr lang="en-US" sz="1500" dirty="0">
                <a:solidFill>
                  <a:srgbClr val="F2EFE7"/>
                </a:solidFill>
                <a:latin typeface="Calibri" pitchFamily="34" charset="0"/>
                <a:ea typeface="Calibri" pitchFamily="34" charset="-122"/>
                <a:cs typeface="Calibri" pitchFamily="34" charset="-120"/>
              </a:rPr>
              <a:t>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a:t>
            </a:r>
          </a:p>
          <a:p>
            <a:pPr marL="0" indent="0">
              <a:buNone/>
            </a:pPr>
            <a:r>
              <a:rPr lang="en-US" sz="1300" i="1" dirty="0">
                <a:solidFill>
                  <a:srgbClr val="A9A6B0"/>
                </a:solidFill>
                <a:latin typeface="Calibri" pitchFamily="34" charset="0"/>
                <a:ea typeface="Calibri" pitchFamily="34" charset="-122"/>
                <a:cs typeface="Calibri" pitchFamily="34" charset="-120"/>
              </a:rPr>
              <a:t>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txBody>
          <a:bodyPr/>
          <a:lstStyle/>
          <a:p>
            <a:endParaRPr/>
          </a:p>
        </p:txBody>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lnSpc>
                <a:spcPct val="150000"/>
              </a:lnSpc>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lnSpc>
                <a:spcPct val="150000"/>
              </a:lnSpc>
              <a:buNone/>
            </a:pPr>
            <a:r>
              <a:rPr lang="en-US" sz="1400" dirty="0">
                <a:solidFill>
                  <a:srgbClr val="F2EFE7"/>
                </a:solidFill>
                <a:latin typeface="Calibri" pitchFamily="34" charset="0"/>
                <a:ea typeface="Calibri" pitchFamily="34" charset="-122"/>
                <a:cs typeface="Calibri" pitchFamily="34" charset="-120"/>
              </a:rPr>
              <a:t>Proven by reduction from Circuit-SAT (McPhail 2005). </a:t>
            </a:r>
          </a:p>
          <a:p>
            <a:pPr marL="0" indent="0">
              <a:lnSpc>
                <a:spcPct val="150000"/>
              </a:lnSpc>
              <a:buNone/>
            </a:pPr>
            <a:r>
              <a:rPr lang="en-US" sz="1400" dirty="0">
                <a:solidFill>
                  <a:srgbClr val="F2EFE7"/>
                </a:solidFill>
                <a:latin typeface="Calibri" pitchFamily="34" charset="0"/>
                <a:ea typeface="Calibri" pitchFamily="34" charset="-122"/>
                <a:cs typeface="Calibri" pitchFamily="34" charset="-120"/>
              </a:rPr>
              <a:t>Solving time grows exponentially in the worst case.</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txBody>
          <a:bodyPr/>
          <a:lstStyle/>
          <a:p>
            <a:endParaRPr/>
          </a:p>
        </p:txBody>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lnSpc>
                <a:spcPct val="150000"/>
              </a:lnSpc>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lnSpc>
                <a:spcPct val="150000"/>
              </a:lnSpc>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txBody>
          <a:bodyPr/>
          <a:lstStyle/>
          <a:p>
            <a:endParaRPr/>
          </a:p>
        </p:txBody>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lnSpc>
                <a:spcPct val="150000"/>
              </a:lnSpc>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lnSpc>
                <a:spcPct val="150000"/>
              </a:lnSpc>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146304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a:t>
            </a:r>
          </a:p>
          <a:p>
            <a:pPr marL="0" indent="0">
              <a:buNone/>
            </a:pPr>
            <a:endParaRPr lang="en-US" sz="1400" b="1" dirty="0">
              <a:solidFill>
                <a:srgbClr val="F2EFE7"/>
              </a:solidFill>
              <a:latin typeface="Arial" pitchFamily="34" charset="0"/>
              <a:ea typeface="Arial" pitchFamily="34" charset="-122"/>
              <a:cs typeface="Arial" pitchFamily="34" charset="-120"/>
            </a:endParaRPr>
          </a:p>
          <a:p>
            <a:pPr marL="0" indent="0">
              <a:lnSpc>
                <a:spcPct val="150000"/>
              </a:lnSpc>
              <a:buNone/>
            </a:pPr>
            <a:r>
              <a:rPr lang="en-US" sz="1400" dirty="0">
                <a:solidFill>
                  <a:srgbClr val="A9A6B0"/>
                </a:solidFill>
                <a:latin typeface="Calibri" pitchFamily="34" charset="0"/>
                <a:ea typeface="Calibri" pitchFamily="34" charset="-122"/>
                <a:cs typeface="Calibri" pitchFamily="34" charset="-120"/>
              </a:rPr>
              <a:t>· SAT encoding + backtracking (Pulles 2021) </a:t>
            </a:r>
          </a:p>
          <a:p>
            <a:pPr marL="0" indent="0">
              <a:lnSpc>
                <a:spcPct val="150000"/>
              </a:lnSpc>
              <a:buNone/>
            </a:pPr>
            <a:r>
              <a:rPr lang="en-US" sz="1400" dirty="0">
                <a:solidFill>
                  <a:srgbClr val="A9A6B0"/>
                </a:solidFill>
                <a:latin typeface="Calibri" pitchFamily="34" charset="0"/>
                <a:ea typeface="Calibri" pitchFamily="34" charset="-122"/>
                <a:cs typeface="Calibri" pitchFamily="34" charset="-120"/>
              </a:rPr>
              <a:t>· constraint programming on grid puzzles incl. Akari (Çelik et al. 2009) </a:t>
            </a:r>
          </a:p>
          <a:p>
            <a:pPr marL="0" indent="0">
              <a:lnSpc>
                <a:spcPct val="150000"/>
              </a:lnSpc>
              <a:buNone/>
            </a:pPr>
            <a:r>
              <a:rPr lang="en-US" sz="1400" dirty="0">
                <a:solidFill>
                  <a:srgbClr val="A9A6B0"/>
                </a:solidFill>
                <a:latin typeface="Calibri" pitchFamily="34" charset="0"/>
                <a:ea typeface="Calibri" pitchFamily="34" charset="-122"/>
                <a:cs typeface="Calibri" pitchFamily="34" charset="-120"/>
              </a:rPr>
              <a:t>· hill climbing, simulated annealing, neural networks (Perera et al. 2021).</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017769"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a:t>
            </a:r>
          </a:p>
          <a:p>
            <a:pPr marL="0" indent="0">
              <a:buNone/>
            </a:pPr>
            <a:r>
              <a:rPr lang="en-US" sz="1250" dirty="0">
                <a:solidFill>
                  <a:srgbClr val="F2EFE7"/>
                </a:solidFill>
                <a:latin typeface="Calibri" pitchFamily="34" charset="0"/>
                <a:ea typeface="Calibri" pitchFamily="34" charset="-122"/>
                <a:cs typeface="Calibri" pitchFamily="34" charset="-120"/>
              </a:rPr>
              <a:t>(baseline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01979" y="2697480"/>
            <a:ext cx="5017768"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forward checking  </a:t>
            </a:r>
            <a:r>
              <a:rPr lang="en-US" sz="1250" dirty="0">
                <a:solidFill>
                  <a:srgbClr val="F2EFE7"/>
                </a:solidFill>
                <a:latin typeface="Calibri" pitchFamily="34" charset="0"/>
                <a:ea typeface="Calibri" pitchFamily="34" charset="-122"/>
                <a:cs typeface="Calibri" pitchFamily="34" charset="-120"/>
              </a:rPr>
              <a:t>a bulb rules out every cell it sees; </a:t>
            </a:r>
          </a:p>
          <a:p>
            <a:pPr marL="0" indent="0">
              <a:buNone/>
            </a:pPr>
            <a:r>
              <a:rPr lang="en-US" sz="1250" dirty="0">
                <a:solidFill>
                  <a:srgbClr val="F2EFE7"/>
                </a:solidFill>
                <a:latin typeface="Calibri" pitchFamily="34" charset="0"/>
                <a:ea typeface="Calibri" pitchFamily="34" charset="-122"/>
                <a:cs typeface="Calibri" pitchFamily="34" charset="-120"/>
              </a:rPr>
              <a:t>tightest-clue variable order</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4979666"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full inference  </a:t>
            </a:r>
            <a:r>
              <a:rPr lang="en-US" sz="1250" dirty="0">
                <a:solidFill>
                  <a:srgbClr val="F2EFE7"/>
                </a:solidFill>
                <a:latin typeface="Calibri" pitchFamily="34" charset="0"/>
                <a:ea typeface="Calibri" pitchFamily="34" charset="-122"/>
                <a:cs typeface="Calibri" pitchFamily="34" charset="-120"/>
              </a:rPr>
              <a:t>propagate to a fixpoint: saturated, </a:t>
            </a:r>
            <a:br>
              <a:rPr lang="en-US" sz="1250" dirty="0">
                <a:solidFill>
                  <a:srgbClr val="F2EFE7"/>
                </a:solidFill>
                <a:latin typeface="Calibri" pitchFamily="34" charset="0"/>
                <a:ea typeface="Calibri" pitchFamily="34" charset="-122"/>
                <a:cs typeface="Calibri" pitchFamily="34" charset="-120"/>
              </a:rPr>
            </a:br>
            <a:r>
              <a:rPr lang="en-US" sz="1250" dirty="0">
                <a:solidFill>
                  <a:srgbClr val="F2EFE7"/>
                </a:solidFill>
                <a:latin typeface="Calibri" pitchFamily="34" charset="0"/>
                <a:ea typeface="Calibri" pitchFamily="34" charset="-122"/>
                <a:cs typeface="Calibri" pitchFamily="34" charset="-120"/>
              </a:rPr>
              <a:t>exhausted, forced lighter</a:t>
            </a:r>
            <a:endParaRPr lang="en-US" sz="1500" dirty="0"/>
          </a:p>
        </p:txBody>
      </p:sp>
      <p:sp>
        <p:nvSpPr>
          <p:cNvPr id="11" name="Shape 9"/>
          <p:cNvSpPr/>
          <p:nvPr/>
        </p:nvSpPr>
        <p:spPr>
          <a:xfrm>
            <a:off x="6675120" y="1417320"/>
            <a:ext cx="475488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a:t>
            </a:r>
            <a:br>
              <a:rPr lang="en-US" sz="1250" dirty="0">
                <a:solidFill>
                  <a:srgbClr val="F2EFE7"/>
                </a:solidFill>
                <a:latin typeface="Calibri" pitchFamily="34" charset="0"/>
                <a:ea typeface="Calibri" pitchFamily="34" charset="-122"/>
                <a:cs typeface="Calibri" pitchFamily="34" charset="-120"/>
              </a:rPr>
            </a:br>
            <a:r>
              <a:rPr lang="en-US" sz="1250" dirty="0">
                <a:solidFill>
                  <a:srgbClr val="F2EFE7"/>
                </a:solidFill>
                <a:latin typeface="Calibri" pitchFamily="34" charset="0"/>
                <a:ea typeface="Calibri" pitchFamily="34" charset="-122"/>
                <a:cs typeface="Calibri" pitchFamily="34" charset="-120"/>
              </a:rPr>
              <a:t>objective = violation count</a:t>
            </a:r>
            <a:endParaRPr lang="en-US" sz="1500" dirty="0"/>
          </a:p>
        </p:txBody>
      </p:sp>
      <p:sp>
        <p:nvSpPr>
          <p:cNvPr id="13" name="Shape 11"/>
          <p:cNvSpPr/>
          <p:nvPr/>
        </p:nvSpPr>
        <p:spPr>
          <a:xfrm>
            <a:off x="6675120" y="2697480"/>
            <a:ext cx="475488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a:t>
            </a:r>
            <a:br>
              <a:rPr lang="en-US" sz="1250" dirty="0">
                <a:solidFill>
                  <a:srgbClr val="F2EFE7"/>
                </a:solidFill>
                <a:latin typeface="Calibri" pitchFamily="34" charset="0"/>
                <a:ea typeface="Calibri" pitchFamily="34" charset="-122"/>
                <a:cs typeface="Calibri" pitchFamily="34" charset="-120"/>
              </a:rPr>
            </a:br>
            <a:r>
              <a:rPr lang="en-US" sz="1250" dirty="0">
                <a:solidFill>
                  <a:srgbClr val="F2EFE7"/>
                </a:solidFill>
                <a:latin typeface="Calibri" pitchFamily="34" charset="0"/>
                <a:ea typeface="Calibri" pitchFamily="34" charset="-122"/>
                <a:cs typeface="Calibri" pitchFamily="34" charset="-120"/>
              </a:rPr>
              <a:t>temperature schedule escapes local optima</a:t>
            </a:r>
            <a:endParaRPr lang="en-US" sz="1500" dirty="0"/>
          </a:p>
        </p:txBody>
      </p:sp>
      <p:sp>
        <p:nvSpPr>
          <p:cNvPr id="15" name="Text 13"/>
          <p:cNvSpPr/>
          <p:nvPr/>
        </p:nvSpPr>
        <p:spPr>
          <a:xfrm>
            <a:off x="640080" y="5543550"/>
            <a:ext cx="826389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lnSpc>
                <a:spcPct val="150000"/>
              </a:lnSpc>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lnSpc>
                <a:spcPct val="150000"/>
              </a:lnSpc>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lnSpc>
                <a:spcPct val="150000"/>
              </a:lnSpc>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lnSpc>
                <a:spcPct val="150000"/>
              </a:lnSpc>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lnSpc>
                <a:spcPct val="150000"/>
              </a:lnSpc>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lnSpc>
                <a:spcPct val="150000"/>
              </a:lnSpc>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p>
          <a:p>
            <a:pPr marL="0" indent="0">
              <a:buNone/>
            </a:pPr>
            <a:endParaRPr lang="en-US" sz="1700" dirty="0"/>
          </a:p>
          <a:p>
            <a:pPr marL="342900" indent="-342900">
              <a:lnSpc>
                <a:spcPct val="150000"/>
              </a:lnSpc>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lnSpc>
                <a:spcPct val="150000"/>
              </a:lnSpc>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lnSpc>
                <a:spcPct val="150000"/>
              </a:lnSpc>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p>
          <a:p>
            <a:pPr marL="0" indent="0">
              <a:buNone/>
            </a:pPr>
            <a:endParaRPr lang="en-US" sz="1700" dirty="0"/>
          </a:p>
          <a:p>
            <a:pPr marL="342900" indent="-342900">
              <a:lnSpc>
                <a:spcPct val="150000"/>
              </a:lnSpc>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lnSpc>
                <a:spcPct val="150000"/>
              </a:lnSpc>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lnSpc>
                <a:spcPct val="150000"/>
              </a:lnSpc>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lgn="ctr">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a:t>
            </a:r>
          </a:p>
          <a:p>
            <a:pPr marL="0" indent="0" algn="ctr">
              <a:buNone/>
            </a:pPr>
            <a:r>
              <a:rPr lang="en-US" sz="1400" i="1" dirty="0">
                <a:solidFill>
                  <a:srgbClr val="F2EFE7"/>
                </a:solidFill>
                <a:latin typeface="Calibri" pitchFamily="34" charset="0"/>
                <a:ea typeface="Calibri" pitchFamily="34" charset="-122"/>
                <a:cs typeface="Calibri" pitchFamily="34" charset="-120"/>
              </a:rPr>
              <a:t>never by comparing to one known answer, </a:t>
            </a:r>
          </a:p>
          <a:p>
            <a:pPr marL="0" indent="0" algn="ctr">
              <a:buNone/>
            </a:pPr>
            <a:r>
              <a:rPr lang="en-US" sz="1400" i="1" dirty="0">
                <a:solidFill>
                  <a:srgbClr val="F2EFE7"/>
                </a:solidFill>
                <a:latin typeface="Calibri" pitchFamily="34" charset="0"/>
                <a:ea typeface="Calibri" pitchFamily="34" charset="-122"/>
                <a:cs typeface="Calibri" pitchFamily="34" charset="-120"/>
              </a:rPr>
              <a:t>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Full inference always expands ~2× fewer nodes — but that saves time only where there is something to deduce: </a:t>
            </a:r>
          </a:p>
          <a:p>
            <a:pPr marL="0" indent="0">
              <a:buNone/>
            </a:pPr>
            <a:r>
              <a:rPr lang="en-US" sz="1150" i="1" dirty="0">
                <a:solidFill>
                  <a:srgbClr val="A9A6B0"/>
                </a:solidFill>
                <a:latin typeface="Calibri" pitchFamily="34" charset="0"/>
                <a:ea typeface="Calibri" pitchFamily="34" charset="-122"/>
                <a:cs typeface="Calibri" pitchFamily="34" charset="-120"/>
              </a:rPr>
              <a:t>35× faster on easy boards, slower on the sparse hard boards plotted here.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lnSpc>
                <a:spcPct val="150000"/>
              </a:lnSpc>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lnSpc>
                <a:spcPct val="150000"/>
              </a:lnSpc>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lnSpc>
                <a:spcPct val="150000"/>
              </a:lnSpc>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lnSpc>
                <a:spcPct val="150000"/>
              </a:lnSpc>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lnSpc>
                <a:spcPct val="150000"/>
              </a:lnSpc>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lnSpc>
                <a:spcPct val="150000"/>
              </a:lnSpc>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lnSpc>
                <a:spcPct val="150000"/>
              </a:lnSpc>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lnSpc>
                <a:spcPct val="150000"/>
              </a:lnSpc>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lnSpc>
                <a:spcPct val="150000"/>
              </a:lnSpc>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55320" y="1312164"/>
            <a:ext cx="10881360" cy="3840480"/>
          </a:xfrm>
          <a:prstGeom prst="rect">
            <a:avLst/>
          </a:prstGeom>
          <a:noFill/>
          <a:ln/>
        </p:spPr>
        <p:txBody>
          <a:bodyPr wrap="square" lIns="0" tIns="0" rIns="0" bIns="0" rtlCol="0" anchor="t"/>
          <a:lstStyle/>
          <a:p>
            <a:pPr marL="342900" indent="-342900">
              <a:lnSpc>
                <a:spcPct val="150000"/>
              </a:lnSpc>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lnSpc>
                <a:spcPct val="150000"/>
              </a:lnSpc>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lnSpc>
                <a:spcPct val="150000"/>
              </a:lnSpc>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lnSpc>
                <a:spcPct val="150000"/>
              </a:lnSpc>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lnSpc>
                <a:spcPct val="150000"/>
              </a:lnSpc>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our own SAT route — a CNF encoding plus a DPLL solver we write ourselves — to compare a clause-based formulation against our constraint-based one; and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txBody>
          <a:bodyPr/>
          <a:lstStyle/>
          <a:p>
            <a:endParaRPr/>
          </a:p>
        </p:txBody>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lnSpc>
                <a:spcPct val="150000"/>
              </a:lnSpc>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lnSpc>
                <a:spcPct val="150000"/>
              </a:lnSpc>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lnSpc>
                <a:spcPct val="150000"/>
              </a:lnSpc>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lnSpc>
                <a:spcPct val="150000"/>
              </a:lnSpc>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lnSpc>
                <a:spcPct val="150000"/>
              </a:lnSpc>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lnSpc>
                <a:spcPct val="150000"/>
              </a:lnSpc>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384</TotalTime>
  <Words>2893</Words>
  <Application>Microsoft Office PowerPoint</Application>
  <PresentationFormat>Widescreen</PresentationFormat>
  <Paragraphs>208</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Anthropic Sans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19</cp:revision>
  <dcterms:created xsi:type="dcterms:W3CDTF">2026-07-24T09:23:26Z</dcterms:created>
  <dcterms:modified xsi:type="dcterms:W3CDTF">2026-07-29T12:31:39Z</dcterms:modified>
</cp:coreProperties>
</file>