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805038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a:t>
            </a:r>
          </a:p>
          <a:p/>
          <a:p>
            <a:r>
              <a:t>Good morning. We are [say your names]. Our project is LightUp — also known as Akari — a Japanese logic puzzle. We built the game itself, and then made five different AI solvers compete on it. The board you see here is a published puzzle, solved by our own system. Let me start with the rules.</a:t>
            </a:r>
          </a:p>
          <a:p/>
          <a:p>
            <a:r>
              <a:t>(Cue: One presenter opens; keep it moving.)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min]</a:t>
            </a:r>
          </a:p>
          <a:p/>
          <a:p>
            <a:r>
              <a:t>LightUp has three rules. You place light bulbs on white cells. Rule one: every white cell must be lit — a bulb lights its whole row and column until a wall blocks the light. Rule two: no bulb may shine on another bulb. Rule three: a numbered wall must have exactly that many bulbs next to it — exactly, not at most. In this small example the corner two forces both of its neighbors, and one more bulb finishes the board. One detail worth remembering: nothing in the rules says a puzzle has only one solution — uniqueness is a publishing convention, and that detail will come back in our results.</a:t>
            </a:r>
          </a:p>
          <a:p/>
          <a:p>
            <a:r>
              <a:t>(Cue: Point at the 3x3 while explaining. Do not dwell.)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min]</a:t>
            </a:r>
          </a:p>
          <a:p/>
          <a:p>
            <a:r>
              <a:t>Why is this a good AI problem? Three reasons. First, it is NP-complete — proven by reduction from circuit satisfiability — so no algorithm can be expected to scale forever, and cleverness has to earn its keep. Second, it is a very clean constraint-satisfaction problem: one yes-or-no variable per white cell. Third, it scales: our generator produces boards from three-by-three up to twenty-five-by-twenty-five with tunable difficulty, which gives us unlimited test data. Earlier work solved LightUp with SAT encodings, with local search, and with evolutionary algorithms — we compare directly against the local-search results later.</a:t>
            </a:r>
          </a:p>
          <a:p/>
          <a:p>
            <a:r>
              <a:t>(Cue: Prior work stays at one sentence — the course asks for brevity here.)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[~45 s]</a:t>
            </a:r>
          </a:p>
          <a:p/>
          <a:p>
            <a:r>
              <a:t>Our formulation: one binary variable per white cell — bulb or no bulb. The three rules become three families of counting constraints: every cell's line of sight must contain at least one bulb; every wall-free segment, at most one; every numbered wall, exactly its number. One design decision worth mentioning: 'lit' is not a variable. Whether a cell is lit follows entirely from where the bulbs are, so storing it as a state would only inflate the search space.</a:t>
            </a:r>
          </a:p>
          <a:p/>
          <a:p>
            <a:r>
              <a:t>(Cue: Do not explain what a CSP is — covered in the course.)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min]</a:t>
            </a:r>
          </a:p>
          <a:p/>
          <a:p>
            <a:r>
              <a:t>We implemented five solvers in two families. On the left, complete search. Plain backtracking is the baseline — it re-checks the whole board at every step. Forward checking adds memory: placing a bulb immediately rules out every cell it sees. Full inference adds deduction, applied over and over: a satisfied clue blocks its remaining neighbors, a clue that needs all its remaining cells forces them, and a cell with only one possible light source left forces that source. Those are exactly the moves a human player makes. On the right, local search: hill climbing and simulated annealing start from a complete random placement and repair it, guided by a score that counts rule violations — zero violations means solved. Every solver reports the same statistics, so the comparison is fair.</a:t>
            </a:r>
          </a:p>
          <a:p/>
          <a:p>
            <a:r>
              <a:t>(Cue: This slide is the experiment design in one picture.)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[~45 s]</a:t>
            </a:r>
          </a:p>
          <a:p/>
          <a:p>
            <a:r>
              <a:t>Everything is observable. This is our game — you can play it yourself, including the X marks human players use for notes. The same window animates any solver: in this screenshot the naive solver is mid-search on a ten-by-ten — the red frame is a conflict it just hit, and the status bar shows it has already tried eighty-eight thousand nodes. This replay tool is how we debugged the solvers, and honestly, how we came to understand them.</a:t>
            </a:r>
          </a:p>
          <a:p/>
          <a:p>
            <a:r>
              <a:t>(Cue: If Q&amp;A time allows, a 20-second live solve beats this slide — have the game open in a background window. Never show code.)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[~45 s]</a:t>
            </a:r>
          </a:p>
          <a:p/>
          <a:p>
            <a:r>
              <a:t>The experiment: five board sizes from seven to twenty-five, three difficulty presets from clue-dense to sparse, five seeded instances per combination — seventy-five unique puzzles — and every solver gets identical puzzles with a five-second budget: three hundred seventy-five runs. Everything is seeded, so every number that follows is reproducible. And one principle: we judge correctness by the rules themselves, never by comparing to a stored answer, because a board can have several legal solutions.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min]</a:t>
            </a:r>
          </a:p>
          <a:p/>
          <a:p>
            <a:r>
              <a:t>So, what does inference buy? Two headline numbers. On the published seven-by-seven, the naive solver needs three hundred and eight search nodes. Forward checking needs twelve. Full inference needs zero — the puzzle is solved entirely by deduction, no search at all. And that makes sense: publishers design puzzles that humans can deduce. Across the whole sweep, full inference solved all seventy-five instances — the only solver with a perfect record. The charts show the scaling: the naive curve leaves the picture after eighteen-by-eighteen — it solves nothing at twenty-five — while both smart variants stay one to two orders of magnitude lower. One honest nuance: full inference uses about half the nodes of forward checking, yet forward checking is slightly faster per board at the largest sizes, because propagation costs time at every node. Fewer nodes is not automatically less time.</a:t>
            </a:r>
          </a:p>
          <a:p/>
          <a:p>
            <a:r>
              <a:t>(Cue: THE core slide. Say 308 -&gt; 12 -&gt; 0 slowly.)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min]</a:t>
            </a:r>
          </a:p>
          <a:p/>
          <a:p>
            <a:r>
              <a:t>Now the other paradigm. This chart shows the solve rate within five seconds on hard instances. Simulated annealing clearly beats hill climbing everywhere — nineteen out of twenty-five versus eleven — which independently reproduces the published result of Perera and colleagues. Why does hill climbing fail? It gets stuck. In one twenty-second run it restarted twelve and a half thousand times and ended every attempt exactly one violation away from the goal. That is a local optimum in its purest form — and annealing's willingness to temporarily accept worse states is precisely what escapes it. Overall, though, within this budget, complete search with inference dominated local search at every size we tested. And one structural caveat: local search can never prove a board unsolvable.</a:t>
            </a:r>
          </a:p>
          <a:p/>
          <a:p>
            <a:r>
              <a:t>(Cue: The one-violation-away story is the local-optimum concept made concrete — deliver it as a story.)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min]</a:t>
            </a:r>
          </a:p>
          <a:p/>
          <a:p>
            <a:r>
              <a:t>What makes an instance hard? Here we got a genuine surprise. Our hard preset — few walls, few clues — is hard for humans, but often faster for solvers: fewer clues means more valid solutions, and finding any one of them is easier. Hill climbing shows the mirror image: at fourteen-by-fourteen it solved nothing at easy or medium density, but sometimes cracked the sparse boards — dense clues create exactly the local optima that trap it. So our difficulty presets model human difficulty, not search difficulty — and calibrating them by measured effort is future work.</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[~20 s]</a:t>
            </a:r>
          </a:p>
          <a:p/>
          <a:p>
            <a:r>
              <a:t>One robustness check: we re-ran the entire sweep with double the budget — almost nothing changed, and hill climbing gained exactly zero — so the ranking you have seen is structural, not an artifact of the timeout.</a:t>
            </a:r>
          </a:p>
          <a:p/>
          <a:p>
            <a:r>
              <a:t>(Cue: One sentence, then move on. Q&amp;A backup: predictions were made before the run; the one miss was SA (expected bigger gains) — exponential problems shrug at factors of two.)</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[~45 s]</a:t>
            </a:r>
          </a:p>
          <a:p/>
          <a:p>
            <a:r>
              <a:t>To conclude. Inference was the story: full propagation solved everything we generated, and cracked the reference puzzle without any search. Fewer nodes is not the same as less time. Simulated annealing beats hill climbing, confirming prior work — and hill climbing's failures are structural, stuck one step from the goal. Sparse boards turned out easier for solvers than for humans. Future work: generating unique-solution puzzles, arc consistency, and difficulty calibration. Thank you — we are happy to take questions.</a:t>
            </a:r>
          </a:p>
          <a:p/>
          <a:p>
            <a:r>
              <a:t>(Cue: All four members should have spoken by now.)</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[not spoken]</a:t>
            </a:r>
          </a:p>
          <a:p/>
          <a:p>
            <a:r>
              <a:t>(Cue: Present for completeness and Q&amp;A only.)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1D"/>
        </a:solidFill>
        <a:effectLst/>
      </p:bgPr>
    </p:bg>
    <p:spTree>
      <p:nvGrpSpPr>
        <p:cNvPr id="1" name=""/>
        <p:cNvGrpSpPr/>
        <p:nvPr/>
      </p:nvGrpSpPr>
      <p:grpSpPr>
        <a:xfrm>
          <a:off x="0" y="0"/>
          <a:ext cx="0" cy="0"/>
          <a:chOff x="0" y="0"/>
          <a:chExt cx="0" cy="0"/>
        </a:xfrm>
      </p:grpSpPr>
      <p:sp>
        <p:nvSpPr>
          <p:cNvPr id="2" name="Shape 0"/>
          <p:cNvSpPr/>
          <p:nvPr/>
        </p:nvSpPr>
        <p:spPr>
          <a:xfrm>
            <a:off x="8366760" y="1417320"/>
            <a:ext cx="457200" cy="457200"/>
          </a:xfrm>
          <a:prstGeom prst="rect">
            <a:avLst/>
          </a:prstGeom>
          <a:solidFill>
            <a:srgbClr val="FFE08A"/>
          </a:solidFill>
          <a:ln w="9525">
            <a:solidFill>
              <a:srgbClr val="3F3F4A"/>
            </a:solidFill>
            <a:prstDash val="solid"/>
          </a:ln>
        </p:spPr>
      </p:sp>
      <p:sp>
        <p:nvSpPr>
          <p:cNvPr id="3" name="Shape 1"/>
          <p:cNvSpPr/>
          <p:nvPr/>
        </p:nvSpPr>
        <p:spPr>
          <a:xfrm>
            <a:off x="8750808" y="1645920"/>
            <a:ext cx="64008" cy="0"/>
          </a:xfrm>
          <a:prstGeom prst="line">
            <a:avLst/>
          </a:prstGeom>
          <a:noFill/>
          <a:ln w="17780">
            <a:solidFill>
              <a:srgbClr val="8A6D00"/>
            </a:solidFill>
            <a:prstDash val="solid"/>
          </a:ln>
        </p:spPr>
      </p:sp>
      <p:sp>
        <p:nvSpPr>
          <p:cNvPr id="4" name="Shape 2"/>
          <p:cNvSpPr/>
          <p:nvPr/>
        </p:nvSpPr>
        <p:spPr>
          <a:xfrm>
            <a:off x="8375904" y="1645920"/>
            <a:ext cx="64008" cy="0"/>
          </a:xfrm>
          <a:prstGeom prst="line">
            <a:avLst/>
          </a:prstGeom>
          <a:noFill/>
          <a:ln w="17780">
            <a:solidFill>
              <a:srgbClr val="8A6D00"/>
            </a:solidFill>
            <a:prstDash val="solid"/>
          </a:ln>
        </p:spPr>
      </p:sp>
      <p:sp>
        <p:nvSpPr>
          <p:cNvPr id="5" name="Shape 3"/>
          <p:cNvSpPr/>
          <p:nvPr/>
        </p:nvSpPr>
        <p:spPr>
          <a:xfrm>
            <a:off x="8595360" y="1801368"/>
            <a:ext cx="0" cy="64008"/>
          </a:xfrm>
          <a:prstGeom prst="line">
            <a:avLst/>
          </a:prstGeom>
          <a:noFill/>
          <a:ln w="17780">
            <a:solidFill>
              <a:srgbClr val="8A6D00"/>
            </a:solidFill>
            <a:prstDash val="solid"/>
          </a:ln>
        </p:spPr>
      </p:sp>
      <p:sp>
        <p:nvSpPr>
          <p:cNvPr id="6" name="Shape 4"/>
          <p:cNvSpPr/>
          <p:nvPr/>
        </p:nvSpPr>
        <p:spPr>
          <a:xfrm>
            <a:off x="8595360" y="1426464"/>
            <a:ext cx="0" cy="64008"/>
          </a:xfrm>
          <a:prstGeom prst="line">
            <a:avLst/>
          </a:prstGeom>
          <a:noFill/>
          <a:ln w="17780">
            <a:solidFill>
              <a:srgbClr val="8A6D00"/>
            </a:solidFill>
            <a:prstDash val="solid"/>
          </a:ln>
        </p:spPr>
      </p:sp>
      <p:sp>
        <p:nvSpPr>
          <p:cNvPr id="7" name="Shape 5"/>
          <p:cNvSpPr/>
          <p:nvPr/>
        </p:nvSpPr>
        <p:spPr>
          <a:xfrm>
            <a:off x="8467344" y="1517904"/>
            <a:ext cx="256032" cy="256032"/>
          </a:xfrm>
          <a:prstGeom prst="ellipse">
            <a:avLst/>
          </a:prstGeom>
          <a:solidFill>
            <a:srgbClr val="FFD23F"/>
          </a:solidFill>
          <a:ln w="17780">
            <a:solidFill>
              <a:srgbClr val="8A6D00"/>
            </a:solidFill>
            <a:prstDash val="solid"/>
          </a:ln>
        </p:spPr>
      </p:sp>
      <p:sp>
        <p:nvSpPr>
          <p:cNvPr id="8" name="Shape 6"/>
          <p:cNvSpPr/>
          <p:nvPr/>
        </p:nvSpPr>
        <p:spPr>
          <a:xfrm>
            <a:off x="8823960" y="1417320"/>
            <a:ext cx="457200" cy="457200"/>
          </a:xfrm>
          <a:prstGeom prst="rect">
            <a:avLst/>
          </a:prstGeom>
          <a:solidFill>
            <a:srgbClr val="FFE08A"/>
          </a:solidFill>
          <a:ln w="9525">
            <a:solidFill>
              <a:srgbClr val="3F3F4A"/>
            </a:solidFill>
            <a:prstDash val="solid"/>
          </a:ln>
        </p:spPr>
      </p:sp>
      <p:sp>
        <p:nvSpPr>
          <p:cNvPr id="9" name="Shape 7"/>
          <p:cNvSpPr/>
          <p:nvPr/>
        </p:nvSpPr>
        <p:spPr>
          <a:xfrm>
            <a:off x="9281160" y="1417320"/>
            <a:ext cx="457200" cy="457200"/>
          </a:xfrm>
          <a:prstGeom prst="rect">
            <a:avLst/>
          </a:prstGeom>
          <a:solidFill>
            <a:srgbClr val="FFE08A"/>
          </a:solidFill>
          <a:ln w="9525">
            <a:solidFill>
              <a:srgbClr val="3F3F4A"/>
            </a:solidFill>
            <a:prstDash val="solid"/>
          </a:ln>
        </p:spPr>
      </p:sp>
      <p:sp>
        <p:nvSpPr>
          <p:cNvPr id="10" name="Shape 8"/>
          <p:cNvSpPr/>
          <p:nvPr/>
        </p:nvSpPr>
        <p:spPr>
          <a:xfrm>
            <a:off x="9738360" y="1417320"/>
            <a:ext cx="457200" cy="457200"/>
          </a:xfrm>
          <a:prstGeom prst="rect">
            <a:avLst/>
          </a:prstGeom>
          <a:solidFill>
            <a:srgbClr val="FFE08A"/>
          </a:solidFill>
          <a:ln w="9525">
            <a:solidFill>
              <a:srgbClr val="3F3F4A"/>
            </a:solidFill>
            <a:prstDash val="solid"/>
          </a:ln>
        </p:spPr>
      </p:sp>
      <p:sp>
        <p:nvSpPr>
          <p:cNvPr id="11" name="Shape 9"/>
          <p:cNvSpPr/>
          <p:nvPr/>
        </p:nvSpPr>
        <p:spPr>
          <a:xfrm>
            <a:off x="10195560" y="1417320"/>
            <a:ext cx="457200" cy="457200"/>
          </a:xfrm>
          <a:prstGeom prst="rect">
            <a:avLst/>
          </a:prstGeom>
          <a:solidFill>
            <a:srgbClr val="FFE08A"/>
          </a:solidFill>
          <a:ln w="9525">
            <a:solidFill>
              <a:srgbClr val="3F3F4A"/>
            </a:solidFill>
            <a:prstDash val="solid"/>
          </a:ln>
        </p:spPr>
      </p:sp>
      <p:sp>
        <p:nvSpPr>
          <p:cNvPr id="12" name="Shape 10"/>
          <p:cNvSpPr/>
          <p:nvPr/>
        </p:nvSpPr>
        <p:spPr>
          <a:xfrm>
            <a:off x="10652760" y="1417320"/>
            <a:ext cx="457200" cy="457200"/>
          </a:xfrm>
          <a:prstGeom prst="rect">
            <a:avLst/>
          </a:prstGeom>
          <a:solidFill>
            <a:srgbClr val="0E0E12"/>
          </a:solidFill>
          <a:ln w="9525">
            <a:solidFill>
              <a:srgbClr val="3F3F4A"/>
            </a:solidFill>
            <a:prstDash val="solid"/>
          </a:ln>
        </p:spPr>
      </p:sp>
      <p:sp>
        <p:nvSpPr>
          <p:cNvPr id="13" name="Text 11"/>
          <p:cNvSpPr/>
          <p:nvPr/>
        </p:nvSpPr>
        <p:spPr>
          <a:xfrm>
            <a:off x="10652760" y="1417320"/>
            <a:ext cx="457200" cy="457200"/>
          </a:xfrm>
          <a:prstGeom prst="rect">
            <a:avLst/>
          </a:prstGeom>
          <a:noFill/>
          <a:ln/>
        </p:spPr>
        <p:txBody>
          <a:bodyPr wrap="square" lIns="0" tIns="0" rIns="0" bIns="0" rtlCol="0" anchor="ctr"/>
          <a:lstStyle/>
          <a:p>
            <a:pPr marL="0" indent="0" algn="ctr">
              <a:buNone/>
            </a:pPr>
            <a:r>
              <a:rPr lang="en-US" sz="1300" b="1" dirty="0">
                <a:solidFill>
                  <a:srgbClr val="F2EFE7"/>
                </a:solidFill>
                <a:latin typeface="Arial" pitchFamily="34" charset="0"/>
                <a:ea typeface="Arial" pitchFamily="34" charset="-122"/>
                <a:cs typeface="Arial" pitchFamily="34" charset="-120"/>
              </a:rPr>
              <a:t>0</a:t>
            </a:r>
            <a:endParaRPr lang="en-US" sz="1300" dirty="0"/>
          </a:p>
        </p:txBody>
      </p:sp>
      <p:sp>
        <p:nvSpPr>
          <p:cNvPr id="14" name="Shape 12"/>
          <p:cNvSpPr/>
          <p:nvPr/>
        </p:nvSpPr>
        <p:spPr>
          <a:xfrm>
            <a:off x="11109960" y="1417320"/>
            <a:ext cx="457200" cy="457200"/>
          </a:xfrm>
          <a:prstGeom prst="rect">
            <a:avLst/>
          </a:prstGeom>
          <a:solidFill>
            <a:srgbClr val="FFE08A"/>
          </a:solidFill>
          <a:ln w="9525">
            <a:solidFill>
              <a:srgbClr val="3F3F4A"/>
            </a:solidFill>
            <a:prstDash val="solid"/>
          </a:ln>
        </p:spPr>
      </p:sp>
      <p:sp>
        <p:nvSpPr>
          <p:cNvPr id="15" name="Shape 13"/>
          <p:cNvSpPr/>
          <p:nvPr/>
        </p:nvSpPr>
        <p:spPr>
          <a:xfrm>
            <a:off x="8366760" y="1874520"/>
            <a:ext cx="457200" cy="457200"/>
          </a:xfrm>
          <a:prstGeom prst="rect">
            <a:avLst/>
          </a:prstGeom>
          <a:solidFill>
            <a:srgbClr val="0E0E12"/>
          </a:solidFill>
          <a:ln w="9525">
            <a:solidFill>
              <a:srgbClr val="3F3F4A"/>
            </a:solidFill>
            <a:prstDash val="solid"/>
          </a:ln>
        </p:spPr>
      </p:sp>
      <p:sp>
        <p:nvSpPr>
          <p:cNvPr id="16" name="Text 14"/>
          <p:cNvSpPr/>
          <p:nvPr/>
        </p:nvSpPr>
        <p:spPr>
          <a:xfrm>
            <a:off x="8366760" y="1874520"/>
            <a:ext cx="457200" cy="457200"/>
          </a:xfrm>
          <a:prstGeom prst="rect">
            <a:avLst/>
          </a:prstGeom>
          <a:noFill/>
          <a:ln/>
        </p:spPr>
        <p:txBody>
          <a:bodyPr wrap="square" lIns="0" tIns="0" rIns="0" bIns="0" rtlCol="0" anchor="ctr"/>
          <a:lstStyle/>
          <a:p>
            <a:pPr marL="0" indent="0" algn="ctr">
              <a:buNone/>
            </a:pPr>
            <a:r>
              <a:rPr lang="en-US" sz="1300" b="1" dirty="0">
                <a:solidFill>
                  <a:srgbClr val="F2EFE7"/>
                </a:solidFill>
                <a:latin typeface="Arial" pitchFamily="34" charset="0"/>
                <a:ea typeface="Arial" pitchFamily="34" charset="-122"/>
                <a:cs typeface="Arial" pitchFamily="34" charset="-120"/>
              </a:rPr>
              <a:t>1</a:t>
            </a:r>
            <a:endParaRPr lang="en-US" sz="1300" dirty="0"/>
          </a:p>
        </p:txBody>
      </p:sp>
      <p:sp>
        <p:nvSpPr>
          <p:cNvPr id="17" name="Shape 15"/>
          <p:cNvSpPr/>
          <p:nvPr/>
        </p:nvSpPr>
        <p:spPr>
          <a:xfrm>
            <a:off x="8823960" y="1874520"/>
            <a:ext cx="457200" cy="457200"/>
          </a:xfrm>
          <a:prstGeom prst="rect">
            <a:avLst/>
          </a:prstGeom>
          <a:solidFill>
            <a:srgbClr val="FFE08A"/>
          </a:solidFill>
          <a:ln w="9525">
            <a:solidFill>
              <a:srgbClr val="3F3F4A"/>
            </a:solidFill>
            <a:prstDash val="solid"/>
          </a:ln>
        </p:spPr>
      </p:sp>
      <p:sp>
        <p:nvSpPr>
          <p:cNvPr id="18" name="Shape 16"/>
          <p:cNvSpPr/>
          <p:nvPr/>
        </p:nvSpPr>
        <p:spPr>
          <a:xfrm>
            <a:off x="9281160" y="1874520"/>
            <a:ext cx="457200" cy="457200"/>
          </a:xfrm>
          <a:prstGeom prst="rect">
            <a:avLst/>
          </a:prstGeom>
          <a:solidFill>
            <a:srgbClr val="FFE08A"/>
          </a:solidFill>
          <a:ln w="9525">
            <a:solidFill>
              <a:srgbClr val="3F3F4A"/>
            </a:solidFill>
            <a:prstDash val="solid"/>
          </a:ln>
        </p:spPr>
      </p:sp>
      <p:sp>
        <p:nvSpPr>
          <p:cNvPr id="19" name="Shape 17"/>
          <p:cNvSpPr/>
          <p:nvPr/>
        </p:nvSpPr>
        <p:spPr>
          <a:xfrm>
            <a:off x="9738360" y="1874520"/>
            <a:ext cx="457200" cy="457200"/>
          </a:xfrm>
          <a:prstGeom prst="rect">
            <a:avLst/>
          </a:prstGeom>
          <a:solidFill>
            <a:srgbClr val="FFE08A"/>
          </a:solidFill>
          <a:ln w="9525">
            <a:solidFill>
              <a:srgbClr val="3F3F4A"/>
            </a:solidFill>
            <a:prstDash val="solid"/>
          </a:ln>
        </p:spPr>
      </p:sp>
      <p:sp>
        <p:nvSpPr>
          <p:cNvPr id="20" name="Shape 18"/>
          <p:cNvSpPr/>
          <p:nvPr/>
        </p:nvSpPr>
        <p:spPr>
          <a:xfrm>
            <a:off x="10122408" y="2103120"/>
            <a:ext cx="64008" cy="0"/>
          </a:xfrm>
          <a:prstGeom prst="line">
            <a:avLst/>
          </a:prstGeom>
          <a:noFill/>
          <a:ln w="17780">
            <a:solidFill>
              <a:srgbClr val="8A6D00"/>
            </a:solidFill>
            <a:prstDash val="solid"/>
          </a:ln>
        </p:spPr>
      </p:sp>
      <p:sp>
        <p:nvSpPr>
          <p:cNvPr id="21" name="Shape 19"/>
          <p:cNvSpPr/>
          <p:nvPr/>
        </p:nvSpPr>
        <p:spPr>
          <a:xfrm>
            <a:off x="9747504" y="2103120"/>
            <a:ext cx="64008" cy="0"/>
          </a:xfrm>
          <a:prstGeom prst="line">
            <a:avLst/>
          </a:prstGeom>
          <a:noFill/>
          <a:ln w="17780">
            <a:solidFill>
              <a:srgbClr val="8A6D00"/>
            </a:solidFill>
            <a:prstDash val="solid"/>
          </a:ln>
        </p:spPr>
      </p:sp>
      <p:sp>
        <p:nvSpPr>
          <p:cNvPr id="22" name="Shape 20"/>
          <p:cNvSpPr/>
          <p:nvPr/>
        </p:nvSpPr>
        <p:spPr>
          <a:xfrm>
            <a:off x="9966960" y="2258568"/>
            <a:ext cx="0" cy="64008"/>
          </a:xfrm>
          <a:prstGeom prst="line">
            <a:avLst/>
          </a:prstGeom>
          <a:noFill/>
          <a:ln w="17780">
            <a:solidFill>
              <a:srgbClr val="8A6D00"/>
            </a:solidFill>
            <a:prstDash val="solid"/>
          </a:ln>
        </p:spPr>
      </p:sp>
      <p:sp>
        <p:nvSpPr>
          <p:cNvPr id="23" name="Shape 21"/>
          <p:cNvSpPr/>
          <p:nvPr/>
        </p:nvSpPr>
        <p:spPr>
          <a:xfrm>
            <a:off x="9966960" y="1883664"/>
            <a:ext cx="0" cy="64008"/>
          </a:xfrm>
          <a:prstGeom prst="line">
            <a:avLst/>
          </a:prstGeom>
          <a:noFill/>
          <a:ln w="17780">
            <a:solidFill>
              <a:srgbClr val="8A6D00"/>
            </a:solidFill>
            <a:prstDash val="solid"/>
          </a:ln>
        </p:spPr>
      </p:sp>
      <p:sp>
        <p:nvSpPr>
          <p:cNvPr id="24" name="Shape 22"/>
          <p:cNvSpPr/>
          <p:nvPr/>
        </p:nvSpPr>
        <p:spPr>
          <a:xfrm>
            <a:off x="9838944" y="1975104"/>
            <a:ext cx="256032" cy="256032"/>
          </a:xfrm>
          <a:prstGeom prst="ellipse">
            <a:avLst/>
          </a:prstGeom>
          <a:solidFill>
            <a:srgbClr val="FFD23F"/>
          </a:solidFill>
          <a:ln w="17780">
            <a:solidFill>
              <a:srgbClr val="8A6D00"/>
            </a:solidFill>
            <a:prstDash val="solid"/>
          </a:ln>
        </p:spPr>
      </p:sp>
      <p:sp>
        <p:nvSpPr>
          <p:cNvPr id="25" name="Shape 23"/>
          <p:cNvSpPr/>
          <p:nvPr/>
        </p:nvSpPr>
        <p:spPr>
          <a:xfrm>
            <a:off x="10195560" y="1874520"/>
            <a:ext cx="457200" cy="457200"/>
          </a:xfrm>
          <a:prstGeom prst="rect">
            <a:avLst/>
          </a:prstGeom>
          <a:solidFill>
            <a:srgbClr val="0E0E12"/>
          </a:solidFill>
          <a:ln w="9525">
            <a:solidFill>
              <a:srgbClr val="3F3F4A"/>
            </a:solidFill>
            <a:prstDash val="solid"/>
          </a:ln>
        </p:spPr>
      </p:sp>
      <p:sp>
        <p:nvSpPr>
          <p:cNvPr id="26" name="Text 24"/>
          <p:cNvSpPr/>
          <p:nvPr/>
        </p:nvSpPr>
        <p:spPr>
          <a:xfrm>
            <a:off x="10195560" y="1874520"/>
            <a:ext cx="457200" cy="457200"/>
          </a:xfrm>
          <a:prstGeom prst="rect">
            <a:avLst/>
          </a:prstGeom>
          <a:noFill/>
          <a:ln/>
        </p:spPr>
        <p:txBody>
          <a:bodyPr wrap="square" lIns="0" tIns="0" rIns="0" bIns="0" rtlCol="0" anchor="ctr"/>
          <a:lstStyle/>
          <a:p>
            <a:pPr marL="0" indent="0" algn="ctr">
              <a:buNone/>
            </a:pPr>
            <a:r>
              <a:rPr lang="en-US" sz="1300" b="1" dirty="0">
                <a:solidFill>
                  <a:srgbClr val="F2EFE7"/>
                </a:solidFill>
                <a:latin typeface="Arial" pitchFamily="34" charset="0"/>
                <a:ea typeface="Arial" pitchFamily="34" charset="-122"/>
                <a:cs typeface="Arial" pitchFamily="34" charset="-120"/>
              </a:rPr>
              <a:t>2</a:t>
            </a:r>
            <a:endParaRPr lang="en-US" sz="1300" dirty="0"/>
          </a:p>
        </p:txBody>
      </p:sp>
      <p:sp>
        <p:nvSpPr>
          <p:cNvPr id="27" name="Shape 25"/>
          <p:cNvSpPr/>
          <p:nvPr/>
        </p:nvSpPr>
        <p:spPr>
          <a:xfrm>
            <a:off x="10652760" y="1874520"/>
            <a:ext cx="457200" cy="457200"/>
          </a:xfrm>
          <a:prstGeom prst="rect">
            <a:avLst/>
          </a:prstGeom>
          <a:solidFill>
            <a:srgbClr val="FFE08A"/>
          </a:solidFill>
          <a:ln w="9525">
            <a:solidFill>
              <a:srgbClr val="3F3F4A"/>
            </a:solidFill>
            <a:prstDash val="solid"/>
          </a:ln>
        </p:spPr>
      </p:sp>
      <p:sp>
        <p:nvSpPr>
          <p:cNvPr id="28" name="Shape 26"/>
          <p:cNvSpPr/>
          <p:nvPr/>
        </p:nvSpPr>
        <p:spPr>
          <a:xfrm>
            <a:off x="11109960" y="1874520"/>
            <a:ext cx="457200" cy="457200"/>
          </a:xfrm>
          <a:prstGeom prst="rect">
            <a:avLst/>
          </a:prstGeom>
          <a:solidFill>
            <a:srgbClr val="FFE08A"/>
          </a:solidFill>
          <a:ln w="9525">
            <a:solidFill>
              <a:srgbClr val="3F3F4A"/>
            </a:solidFill>
            <a:prstDash val="solid"/>
          </a:ln>
        </p:spPr>
      </p:sp>
      <p:sp>
        <p:nvSpPr>
          <p:cNvPr id="29" name="Shape 27"/>
          <p:cNvSpPr/>
          <p:nvPr/>
        </p:nvSpPr>
        <p:spPr>
          <a:xfrm>
            <a:off x="8366760" y="2331720"/>
            <a:ext cx="457200" cy="457200"/>
          </a:xfrm>
          <a:prstGeom prst="rect">
            <a:avLst/>
          </a:prstGeom>
          <a:solidFill>
            <a:srgbClr val="FFE08A"/>
          </a:solidFill>
          <a:ln w="9525">
            <a:solidFill>
              <a:srgbClr val="3F3F4A"/>
            </a:solidFill>
            <a:prstDash val="solid"/>
          </a:ln>
        </p:spPr>
      </p:sp>
      <p:sp>
        <p:nvSpPr>
          <p:cNvPr id="30" name="Shape 28"/>
          <p:cNvSpPr/>
          <p:nvPr/>
        </p:nvSpPr>
        <p:spPr>
          <a:xfrm>
            <a:off x="8823960" y="2331720"/>
            <a:ext cx="457200" cy="457200"/>
          </a:xfrm>
          <a:prstGeom prst="rect">
            <a:avLst/>
          </a:prstGeom>
          <a:solidFill>
            <a:srgbClr val="0E0E12"/>
          </a:solidFill>
          <a:ln w="9525">
            <a:solidFill>
              <a:srgbClr val="3F3F4A"/>
            </a:solidFill>
            <a:prstDash val="solid"/>
          </a:ln>
        </p:spPr>
      </p:sp>
      <p:sp>
        <p:nvSpPr>
          <p:cNvPr id="31" name="Shape 29"/>
          <p:cNvSpPr/>
          <p:nvPr/>
        </p:nvSpPr>
        <p:spPr>
          <a:xfrm>
            <a:off x="9281160" y="2331720"/>
            <a:ext cx="457200" cy="457200"/>
          </a:xfrm>
          <a:prstGeom prst="rect">
            <a:avLst/>
          </a:prstGeom>
          <a:solidFill>
            <a:srgbClr val="FFE08A"/>
          </a:solidFill>
          <a:ln w="9525">
            <a:solidFill>
              <a:srgbClr val="3F3F4A"/>
            </a:solidFill>
            <a:prstDash val="solid"/>
          </a:ln>
        </p:spPr>
      </p:sp>
      <p:sp>
        <p:nvSpPr>
          <p:cNvPr id="32" name="Shape 30"/>
          <p:cNvSpPr/>
          <p:nvPr/>
        </p:nvSpPr>
        <p:spPr>
          <a:xfrm>
            <a:off x="9738360" y="2331720"/>
            <a:ext cx="457200" cy="457200"/>
          </a:xfrm>
          <a:prstGeom prst="rect">
            <a:avLst/>
          </a:prstGeom>
          <a:solidFill>
            <a:srgbClr val="FFE08A"/>
          </a:solidFill>
          <a:ln w="9525">
            <a:solidFill>
              <a:srgbClr val="3F3F4A"/>
            </a:solidFill>
            <a:prstDash val="solid"/>
          </a:ln>
        </p:spPr>
      </p:sp>
      <p:sp>
        <p:nvSpPr>
          <p:cNvPr id="33" name="Shape 31"/>
          <p:cNvSpPr/>
          <p:nvPr/>
        </p:nvSpPr>
        <p:spPr>
          <a:xfrm>
            <a:off x="10195560" y="2331720"/>
            <a:ext cx="457200" cy="457200"/>
          </a:xfrm>
          <a:prstGeom prst="rect">
            <a:avLst/>
          </a:prstGeom>
          <a:solidFill>
            <a:srgbClr val="FFE08A"/>
          </a:solidFill>
          <a:ln w="9525">
            <a:solidFill>
              <a:srgbClr val="3F3F4A"/>
            </a:solidFill>
            <a:prstDash val="solid"/>
          </a:ln>
        </p:spPr>
      </p:sp>
      <p:sp>
        <p:nvSpPr>
          <p:cNvPr id="34" name="Shape 32"/>
          <p:cNvSpPr/>
          <p:nvPr/>
        </p:nvSpPr>
        <p:spPr>
          <a:xfrm>
            <a:off x="10579608" y="2560320"/>
            <a:ext cx="64008" cy="0"/>
          </a:xfrm>
          <a:prstGeom prst="line">
            <a:avLst/>
          </a:prstGeom>
          <a:noFill/>
          <a:ln w="17780">
            <a:solidFill>
              <a:srgbClr val="8A6D00"/>
            </a:solidFill>
            <a:prstDash val="solid"/>
          </a:ln>
        </p:spPr>
      </p:sp>
      <p:sp>
        <p:nvSpPr>
          <p:cNvPr id="35" name="Shape 33"/>
          <p:cNvSpPr/>
          <p:nvPr/>
        </p:nvSpPr>
        <p:spPr>
          <a:xfrm>
            <a:off x="10204704" y="2560320"/>
            <a:ext cx="64008" cy="0"/>
          </a:xfrm>
          <a:prstGeom prst="line">
            <a:avLst/>
          </a:prstGeom>
          <a:noFill/>
          <a:ln w="17780">
            <a:solidFill>
              <a:srgbClr val="8A6D00"/>
            </a:solidFill>
            <a:prstDash val="solid"/>
          </a:ln>
        </p:spPr>
      </p:sp>
      <p:sp>
        <p:nvSpPr>
          <p:cNvPr id="36" name="Shape 34"/>
          <p:cNvSpPr/>
          <p:nvPr/>
        </p:nvSpPr>
        <p:spPr>
          <a:xfrm>
            <a:off x="10424160" y="2715768"/>
            <a:ext cx="0" cy="64008"/>
          </a:xfrm>
          <a:prstGeom prst="line">
            <a:avLst/>
          </a:prstGeom>
          <a:noFill/>
          <a:ln w="17780">
            <a:solidFill>
              <a:srgbClr val="8A6D00"/>
            </a:solidFill>
            <a:prstDash val="solid"/>
          </a:ln>
        </p:spPr>
      </p:sp>
      <p:sp>
        <p:nvSpPr>
          <p:cNvPr id="37" name="Shape 35"/>
          <p:cNvSpPr/>
          <p:nvPr/>
        </p:nvSpPr>
        <p:spPr>
          <a:xfrm>
            <a:off x="10424160" y="2340864"/>
            <a:ext cx="0" cy="64008"/>
          </a:xfrm>
          <a:prstGeom prst="line">
            <a:avLst/>
          </a:prstGeom>
          <a:noFill/>
          <a:ln w="17780">
            <a:solidFill>
              <a:srgbClr val="8A6D00"/>
            </a:solidFill>
            <a:prstDash val="solid"/>
          </a:ln>
        </p:spPr>
      </p:sp>
      <p:sp>
        <p:nvSpPr>
          <p:cNvPr id="38" name="Shape 36"/>
          <p:cNvSpPr/>
          <p:nvPr/>
        </p:nvSpPr>
        <p:spPr>
          <a:xfrm>
            <a:off x="10296144" y="2432304"/>
            <a:ext cx="256032" cy="256032"/>
          </a:xfrm>
          <a:prstGeom prst="ellipse">
            <a:avLst/>
          </a:prstGeom>
          <a:solidFill>
            <a:srgbClr val="FFD23F"/>
          </a:solidFill>
          <a:ln w="17780">
            <a:solidFill>
              <a:srgbClr val="8A6D00"/>
            </a:solidFill>
            <a:prstDash val="solid"/>
          </a:ln>
        </p:spPr>
      </p:sp>
      <p:sp>
        <p:nvSpPr>
          <p:cNvPr id="39" name="Shape 37"/>
          <p:cNvSpPr/>
          <p:nvPr/>
        </p:nvSpPr>
        <p:spPr>
          <a:xfrm>
            <a:off x="10652760" y="2331720"/>
            <a:ext cx="457200" cy="457200"/>
          </a:xfrm>
          <a:prstGeom prst="rect">
            <a:avLst/>
          </a:prstGeom>
          <a:solidFill>
            <a:srgbClr val="FFE08A"/>
          </a:solidFill>
          <a:ln w="9525">
            <a:solidFill>
              <a:srgbClr val="3F3F4A"/>
            </a:solidFill>
            <a:prstDash val="solid"/>
          </a:ln>
        </p:spPr>
      </p:sp>
      <p:sp>
        <p:nvSpPr>
          <p:cNvPr id="40" name="Shape 38"/>
          <p:cNvSpPr/>
          <p:nvPr/>
        </p:nvSpPr>
        <p:spPr>
          <a:xfrm>
            <a:off x="11109960" y="2331720"/>
            <a:ext cx="457200" cy="457200"/>
          </a:xfrm>
          <a:prstGeom prst="rect">
            <a:avLst/>
          </a:prstGeom>
          <a:solidFill>
            <a:srgbClr val="FFE08A"/>
          </a:solidFill>
          <a:ln w="9525">
            <a:solidFill>
              <a:srgbClr val="3F3F4A"/>
            </a:solidFill>
            <a:prstDash val="solid"/>
          </a:ln>
        </p:spPr>
      </p:sp>
      <p:sp>
        <p:nvSpPr>
          <p:cNvPr id="41" name="Shape 39"/>
          <p:cNvSpPr/>
          <p:nvPr/>
        </p:nvSpPr>
        <p:spPr>
          <a:xfrm>
            <a:off x="8366760" y="2788920"/>
            <a:ext cx="457200" cy="457200"/>
          </a:xfrm>
          <a:prstGeom prst="rect">
            <a:avLst/>
          </a:prstGeom>
          <a:solidFill>
            <a:srgbClr val="FFE08A"/>
          </a:solidFill>
          <a:ln w="9525">
            <a:solidFill>
              <a:srgbClr val="3F3F4A"/>
            </a:solidFill>
            <a:prstDash val="solid"/>
          </a:ln>
        </p:spPr>
      </p:sp>
      <p:sp>
        <p:nvSpPr>
          <p:cNvPr id="42" name="Shape 40"/>
          <p:cNvSpPr/>
          <p:nvPr/>
        </p:nvSpPr>
        <p:spPr>
          <a:xfrm>
            <a:off x="8823960" y="2788920"/>
            <a:ext cx="457200" cy="457200"/>
          </a:xfrm>
          <a:prstGeom prst="rect">
            <a:avLst/>
          </a:prstGeom>
          <a:solidFill>
            <a:srgbClr val="FFE08A"/>
          </a:solidFill>
          <a:ln w="9525">
            <a:solidFill>
              <a:srgbClr val="3F3F4A"/>
            </a:solidFill>
            <a:prstDash val="solid"/>
          </a:ln>
        </p:spPr>
      </p:sp>
      <p:sp>
        <p:nvSpPr>
          <p:cNvPr id="43" name="Shape 41"/>
          <p:cNvSpPr/>
          <p:nvPr/>
        </p:nvSpPr>
        <p:spPr>
          <a:xfrm>
            <a:off x="9281160" y="2788920"/>
            <a:ext cx="457200" cy="457200"/>
          </a:xfrm>
          <a:prstGeom prst="rect">
            <a:avLst/>
          </a:prstGeom>
          <a:solidFill>
            <a:srgbClr val="FFE08A"/>
          </a:solidFill>
          <a:ln w="9525">
            <a:solidFill>
              <a:srgbClr val="3F3F4A"/>
            </a:solidFill>
            <a:prstDash val="solid"/>
          </a:ln>
        </p:spPr>
      </p:sp>
      <p:sp>
        <p:nvSpPr>
          <p:cNvPr id="44" name="Shape 42"/>
          <p:cNvSpPr/>
          <p:nvPr/>
        </p:nvSpPr>
        <p:spPr>
          <a:xfrm>
            <a:off x="9738360" y="2788920"/>
            <a:ext cx="457200" cy="457200"/>
          </a:xfrm>
          <a:prstGeom prst="rect">
            <a:avLst/>
          </a:prstGeom>
          <a:solidFill>
            <a:srgbClr val="FFE08A"/>
          </a:solidFill>
          <a:ln w="9525">
            <a:solidFill>
              <a:srgbClr val="3F3F4A"/>
            </a:solidFill>
            <a:prstDash val="solid"/>
          </a:ln>
        </p:spPr>
      </p:sp>
      <p:sp>
        <p:nvSpPr>
          <p:cNvPr id="45" name="Shape 43"/>
          <p:cNvSpPr/>
          <p:nvPr/>
        </p:nvSpPr>
        <p:spPr>
          <a:xfrm>
            <a:off x="10195560" y="2788920"/>
            <a:ext cx="457200" cy="457200"/>
          </a:xfrm>
          <a:prstGeom prst="rect">
            <a:avLst/>
          </a:prstGeom>
          <a:solidFill>
            <a:srgbClr val="FFE08A"/>
          </a:solidFill>
          <a:ln w="9525">
            <a:solidFill>
              <a:srgbClr val="3F3F4A"/>
            </a:solidFill>
            <a:prstDash val="solid"/>
          </a:ln>
        </p:spPr>
      </p:sp>
      <p:sp>
        <p:nvSpPr>
          <p:cNvPr id="46" name="Shape 44"/>
          <p:cNvSpPr/>
          <p:nvPr/>
        </p:nvSpPr>
        <p:spPr>
          <a:xfrm>
            <a:off x="10652760" y="2788920"/>
            <a:ext cx="457200" cy="457200"/>
          </a:xfrm>
          <a:prstGeom prst="rect">
            <a:avLst/>
          </a:prstGeom>
          <a:solidFill>
            <a:srgbClr val="FFE08A"/>
          </a:solidFill>
          <a:ln w="9525">
            <a:solidFill>
              <a:srgbClr val="3F3F4A"/>
            </a:solidFill>
            <a:prstDash val="solid"/>
          </a:ln>
        </p:spPr>
      </p:sp>
      <p:sp>
        <p:nvSpPr>
          <p:cNvPr id="47" name="Shape 45"/>
          <p:cNvSpPr/>
          <p:nvPr/>
        </p:nvSpPr>
        <p:spPr>
          <a:xfrm>
            <a:off x="11036808" y="3017520"/>
            <a:ext cx="64008" cy="0"/>
          </a:xfrm>
          <a:prstGeom prst="line">
            <a:avLst/>
          </a:prstGeom>
          <a:noFill/>
          <a:ln w="17780">
            <a:solidFill>
              <a:srgbClr val="8A6D00"/>
            </a:solidFill>
            <a:prstDash val="solid"/>
          </a:ln>
        </p:spPr>
      </p:sp>
      <p:sp>
        <p:nvSpPr>
          <p:cNvPr id="48" name="Shape 46"/>
          <p:cNvSpPr/>
          <p:nvPr/>
        </p:nvSpPr>
        <p:spPr>
          <a:xfrm>
            <a:off x="10661904" y="3017520"/>
            <a:ext cx="64008" cy="0"/>
          </a:xfrm>
          <a:prstGeom prst="line">
            <a:avLst/>
          </a:prstGeom>
          <a:noFill/>
          <a:ln w="17780">
            <a:solidFill>
              <a:srgbClr val="8A6D00"/>
            </a:solidFill>
            <a:prstDash val="solid"/>
          </a:ln>
        </p:spPr>
      </p:sp>
      <p:sp>
        <p:nvSpPr>
          <p:cNvPr id="49" name="Shape 47"/>
          <p:cNvSpPr/>
          <p:nvPr/>
        </p:nvSpPr>
        <p:spPr>
          <a:xfrm>
            <a:off x="10881360" y="3172968"/>
            <a:ext cx="0" cy="64008"/>
          </a:xfrm>
          <a:prstGeom prst="line">
            <a:avLst/>
          </a:prstGeom>
          <a:noFill/>
          <a:ln w="17780">
            <a:solidFill>
              <a:srgbClr val="8A6D00"/>
            </a:solidFill>
            <a:prstDash val="solid"/>
          </a:ln>
        </p:spPr>
      </p:sp>
      <p:sp>
        <p:nvSpPr>
          <p:cNvPr id="50" name="Shape 48"/>
          <p:cNvSpPr/>
          <p:nvPr/>
        </p:nvSpPr>
        <p:spPr>
          <a:xfrm>
            <a:off x="10881360" y="2798064"/>
            <a:ext cx="0" cy="64008"/>
          </a:xfrm>
          <a:prstGeom prst="line">
            <a:avLst/>
          </a:prstGeom>
          <a:noFill/>
          <a:ln w="17780">
            <a:solidFill>
              <a:srgbClr val="8A6D00"/>
            </a:solidFill>
            <a:prstDash val="solid"/>
          </a:ln>
        </p:spPr>
      </p:sp>
      <p:sp>
        <p:nvSpPr>
          <p:cNvPr id="51" name="Shape 49"/>
          <p:cNvSpPr/>
          <p:nvPr/>
        </p:nvSpPr>
        <p:spPr>
          <a:xfrm>
            <a:off x="10753344" y="2889504"/>
            <a:ext cx="256032" cy="256032"/>
          </a:xfrm>
          <a:prstGeom prst="ellipse">
            <a:avLst/>
          </a:prstGeom>
          <a:solidFill>
            <a:srgbClr val="FFD23F"/>
          </a:solidFill>
          <a:ln w="17780">
            <a:solidFill>
              <a:srgbClr val="8A6D00"/>
            </a:solidFill>
            <a:prstDash val="solid"/>
          </a:ln>
        </p:spPr>
      </p:sp>
      <p:sp>
        <p:nvSpPr>
          <p:cNvPr id="52" name="Shape 50"/>
          <p:cNvSpPr/>
          <p:nvPr/>
        </p:nvSpPr>
        <p:spPr>
          <a:xfrm>
            <a:off x="11109960" y="2788920"/>
            <a:ext cx="457200" cy="457200"/>
          </a:xfrm>
          <a:prstGeom prst="rect">
            <a:avLst/>
          </a:prstGeom>
          <a:solidFill>
            <a:srgbClr val="FFE08A"/>
          </a:solidFill>
          <a:ln w="9525">
            <a:solidFill>
              <a:srgbClr val="3F3F4A"/>
            </a:solidFill>
            <a:prstDash val="solid"/>
          </a:ln>
        </p:spPr>
      </p:sp>
      <p:sp>
        <p:nvSpPr>
          <p:cNvPr id="53" name="Shape 51"/>
          <p:cNvSpPr/>
          <p:nvPr/>
        </p:nvSpPr>
        <p:spPr>
          <a:xfrm>
            <a:off x="8366760" y="3246120"/>
            <a:ext cx="457200" cy="457200"/>
          </a:xfrm>
          <a:prstGeom prst="rect">
            <a:avLst/>
          </a:prstGeom>
          <a:solidFill>
            <a:srgbClr val="FFE08A"/>
          </a:solidFill>
          <a:ln w="9525">
            <a:solidFill>
              <a:srgbClr val="3F3F4A"/>
            </a:solidFill>
            <a:prstDash val="solid"/>
          </a:ln>
        </p:spPr>
      </p:sp>
      <p:sp>
        <p:nvSpPr>
          <p:cNvPr id="54" name="Shape 52"/>
          <p:cNvSpPr/>
          <p:nvPr/>
        </p:nvSpPr>
        <p:spPr>
          <a:xfrm>
            <a:off x="8823960" y="3246120"/>
            <a:ext cx="457200" cy="457200"/>
          </a:xfrm>
          <a:prstGeom prst="rect">
            <a:avLst/>
          </a:prstGeom>
          <a:solidFill>
            <a:srgbClr val="FFE08A"/>
          </a:solidFill>
          <a:ln w="9525">
            <a:solidFill>
              <a:srgbClr val="3F3F4A"/>
            </a:solidFill>
            <a:prstDash val="solid"/>
          </a:ln>
        </p:spPr>
      </p:sp>
      <p:sp>
        <p:nvSpPr>
          <p:cNvPr id="55" name="Shape 53"/>
          <p:cNvSpPr/>
          <p:nvPr/>
        </p:nvSpPr>
        <p:spPr>
          <a:xfrm>
            <a:off x="9281160" y="3246120"/>
            <a:ext cx="457200" cy="457200"/>
          </a:xfrm>
          <a:prstGeom prst="rect">
            <a:avLst/>
          </a:prstGeom>
          <a:solidFill>
            <a:srgbClr val="FFE08A"/>
          </a:solidFill>
          <a:ln w="9525">
            <a:solidFill>
              <a:srgbClr val="3F3F4A"/>
            </a:solidFill>
            <a:prstDash val="solid"/>
          </a:ln>
        </p:spPr>
      </p:sp>
      <p:sp>
        <p:nvSpPr>
          <p:cNvPr id="56" name="Shape 54"/>
          <p:cNvSpPr/>
          <p:nvPr/>
        </p:nvSpPr>
        <p:spPr>
          <a:xfrm>
            <a:off x="9665208" y="3474720"/>
            <a:ext cx="64008" cy="0"/>
          </a:xfrm>
          <a:prstGeom prst="line">
            <a:avLst/>
          </a:prstGeom>
          <a:noFill/>
          <a:ln w="17780">
            <a:solidFill>
              <a:srgbClr val="8A6D00"/>
            </a:solidFill>
            <a:prstDash val="solid"/>
          </a:ln>
        </p:spPr>
      </p:sp>
      <p:sp>
        <p:nvSpPr>
          <p:cNvPr id="57" name="Shape 55"/>
          <p:cNvSpPr/>
          <p:nvPr/>
        </p:nvSpPr>
        <p:spPr>
          <a:xfrm>
            <a:off x="9290304" y="3474720"/>
            <a:ext cx="64008" cy="0"/>
          </a:xfrm>
          <a:prstGeom prst="line">
            <a:avLst/>
          </a:prstGeom>
          <a:noFill/>
          <a:ln w="17780">
            <a:solidFill>
              <a:srgbClr val="8A6D00"/>
            </a:solidFill>
            <a:prstDash val="solid"/>
          </a:ln>
        </p:spPr>
      </p:sp>
      <p:sp>
        <p:nvSpPr>
          <p:cNvPr id="58" name="Shape 56"/>
          <p:cNvSpPr/>
          <p:nvPr/>
        </p:nvSpPr>
        <p:spPr>
          <a:xfrm>
            <a:off x="9509760" y="3630168"/>
            <a:ext cx="0" cy="64008"/>
          </a:xfrm>
          <a:prstGeom prst="line">
            <a:avLst/>
          </a:prstGeom>
          <a:noFill/>
          <a:ln w="17780">
            <a:solidFill>
              <a:srgbClr val="8A6D00"/>
            </a:solidFill>
            <a:prstDash val="solid"/>
          </a:ln>
        </p:spPr>
      </p:sp>
      <p:sp>
        <p:nvSpPr>
          <p:cNvPr id="59" name="Shape 57"/>
          <p:cNvSpPr/>
          <p:nvPr/>
        </p:nvSpPr>
        <p:spPr>
          <a:xfrm>
            <a:off x="9509760" y="3255264"/>
            <a:ext cx="0" cy="64008"/>
          </a:xfrm>
          <a:prstGeom prst="line">
            <a:avLst/>
          </a:prstGeom>
          <a:noFill/>
          <a:ln w="17780">
            <a:solidFill>
              <a:srgbClr val="8A6D00"/>
            </a:solidFill>
            <a:prstDash val="solid"/>
          </a:ln>
        </p:spPr>
      </p:sp>
      <p:sp>
        <p:nvSpPr>
          <p:cNvPr id="60" name="Shape 58"/>
          <p:cNvSpPr/>
          <p:nvPr/>
        </p:nvSpPr>
        <p:spPr>
          <a:xfrm>
            <a:off x="9381744" y="3346704"/>
            <a:ext cx="256032" cy="256032"/>
          </a:xfrm>
          <a:prstGeom prst="ellipse">
            <a:avLst/>
          </a:prstGeom>
          <a:solidFill>
            <a:srgbClr val="FFD23F"/>
          </a:solidFill>
          <a:ln w="17780">
            <a:solidFill>
              <a:srgbClr val="8A6D00"/>
            </a:solidFill>
            <a:prstDash val="solid"/>
          </a:ln>
        </p:spPr>
      </p:sp>
      <p:sp>
        <p:nvSpPr>
          <p:cNvPr id="61" name="Shape 59"/>
          <p:cNvSpPr/>
          <p:nvPr/>
        </p:nvSpPr>
        <p:spPr>
          <a:xfrm>
            <a:off x="9738360" y="3246120"/>
            <a:ext cx="457200" cy="457200"/>
          </a:xfrm>
          <a:prstGeom prst="rect">
            <a:avLst/>
          </a:prstGeom>
          <a:solidFill>
            <a:srgbClr val="FFE08A"/>
          </a:solidFill>
          <a:ln w="9525">
            <a:solidFill>
              <a:srgbClr val="3F3F4A"/>
            </a:solidFill>
            <a:prstDash val="solid"/>
          </a:ln>
        </p:spPr>
      </p:sp>
      <p:sp>
        <p:nvSpPr>
          <p:cNvPr id="62" name="Shape 60"/>
          <p:cNvSpPr/>
          <p:nvPr/>
        </p:nvSpPr>
        <p:spPr>
          <a:xfrm>
            <a:off x="10195560" y="3246120"/>
            <a:ext cx="457200" cy="457200"/>
          </a:xfrm>
          <a:prstGeom prst="rect">
            <a:avLst/>
          </a:prstGeom>
          <a:solidFill>
            <a:srgbClr val="FFE08A"/>
          </a:solidFill>
          <a:ln w="9525">
            <a:solidFill>
              <a:srgbClr val="3F3F4A"/>
            </a:solidFill>
            <a:prstDash val="solid"/>
          </a:ln>
        </p:spPr>
      </p:sp>
      <p:sp>
        <p:nvSpPr>
          <p:cNvPr id="63" name="Shape 61"/>
          <p:cNvSpPr/>
          <p:nvPr/>
        </p:nvSpPr>
        <p:spPr>
          <a:xfrm>
            <a:off x="10652760" y="3246120"/>
            <a:ext cx="457200" cy="457200"/>
          </a:xfrm>
          <a:prstGeom prst="rect">
            <a:avLst/>
          </a:prstGeom>
          <a:solidFill>
            <a:srgbClr val="0E0E12"/>
          </a:solidFill>
          <a:ln w="9525">
            <a:solidFill>
              <a:srgbClr val="3F3F4A"/>
            </a:solidFill>
            <a:prstDash val="solid"/>
          </a:ln>
        </p:spPr>
      </p:sp>
      <p:sp>
        <p:nvSpPr>
          <p:cNvPr id="64" name="Shape 62"/>
          <p:cNvSpPr/>
          <p:nvPr/>
        </p:nvSpPr>
        <p:spPr>
          <a:xfrm>
            <a:off x="11109960" y="3246120"/>
            <a:ext cx="457200" cy="457200"/>
          </a:xfrm>
          <a:prstGeom prst="rect">
            <a:avLst/>
          </a:prstGeom>
          <a:solidFill>
            <a:srgbClr val="FFE08A"/>
          </a:solidFill>
          <a:ln w="9525">
            <a:solidFill>
              <a:srgbClr val="3F3F4A"/>
            </a:solidFill>
            <a:prstDash val="solid"/>
          </a:ln>
        </p:spPr>
      </p:sp>
      <p:sp>
        <p:nvSpPr>
          <p:cNvPr id="65" name="Shape 63"/>
          <p:cNvSpPr/>
          <p:nvPr/>
        </p:nvSpPr>
        <p:spPr>
          <a:xfrm>
            <a:off x="11494008" y="3474720"/>
            <a:ext cx="64008" cy="0"/>
          </a:xfrm>
          <a:prstGeom prst="line">
            <a:avLst/>
          </a:prstGeom>
          <a:noFill/>
          <a:ln w="17780">
            <a:solidFill>
              <a:srgbClr val="8A6D00"/>
            </a:solidFill>
            <a:prstDash val="solid"/>
          </a:ln>
        </p:spPr>
      </p:sp>
      <p:sp>
        <p:nvSpPr>
          <p:cNvPr id="66" name="Shape 64"/>
          <p:cNvSpPr/>
          <p:nvPr/>
        </p:nvSpPr>
        <p:spPr>
          <a:xfrm>
            <a:off x="11119104" y="3474720"/>
            <a:ext cx="64008" cy="0"/>
          </a:xfrm>
          <a:prstGeom prst="line">
            <a:avLst/>
          </a:prstGeom>
          <a:noFill/>
          <a:ln w="17780">
            <a:solidFill>
              <a:srgbClr val="8A6D00"/>
            </a:solidFill>
            <a:prstDash val="solid"/>
          </a:ln>
        </p:spPr>
      </p:sp>
      <p:sp>
        <p:nvSpPr>
          <p:cNvPr id="67" name="Shape 65"/>
          <p:cNvSpPr/>
          <p:nvPr/>
        </p:nvSpPr>
        <p:spPr>
          <a:xfrm>
            <a:off x="11338560" y="3630168"/>
            <a:ext cx="0" cy="64008"/>
          </a:xfrm>
          <a:prstGeom prst="line">
            <a:avLst/>
          </a:prstGeom>
          <a:noFill/>
          <a:ln w="17780">
            <a:solidFill>
              <a:srgbClr val="8A6D00"/>
            </a:solidFill>
            <a:prstDash val="solid"/>
          </a:ln>
        </p:spPr>
      </p:sp>
      <p:sp>
        <p:nvSpPr>
          <p:cNvPr id="68" name="Shape 66"/>
          <p:cNvSpPr/>
          <p:nvPr/>
        </p:nvSpPr>
        <p:spPr>
          <a:xfrm>
            <a:off x="11338560" y="3255264"/>
            <a:ext cx="0" cy="64008"/>
          </a:xfrm>
          <a:prstGeom prst="line">
            <a:avLst/>
          </a:prstGeom>
          <a:noFill/>
          <a:ln w="17780">
            <a:solidFill>
              <a:srgbClr val="8A6D00"/>
            </a:solidFill>
            <a:prstDash val="solid"/>
          </a:ln>
        </p:spPr>
      </p:sp>
      <p:sp>
        <p:nvSpPr>
          <p:cNvPr id="69" name="Shape 67"/>
          <p:cNvSpPr/>
          <p:nvPr/>
        </p:nvSpPr>
        <p:spPr>
          <a:xfrm>
            <a:off x="11210544" y="3346704"/>
            <a:ext cx="256032" cy="256032"/>
          </a:xfrm>
          <a:prstGeom prst="ellipse">
            <a:avLst/>
          </a:prstGeom>
          <a:solidFill>
            <a:srgbClr val="FFD23F"/>
          </a:solidFill>
          <a:ln w="17780">
            <a:solidFill>
              <a:srgbClr val="8A6D00"/>
            </a:solidFill>
            <a:prstDash val="solid"/>
          </a:ln>
        </p:spPr>
      </p:sp>
      <p:sp>
        <p:nvSpPr>
          <p:cNvPr id="70" name="Shape 68"/>
          <p:cNvSpPr/>
          <p:nvPr/>
        </p:nvSpPr>
        <p:spPr>
          <a:xfrm>
            <a:off x="8366760" y="3703320"/>
            <a:ext cx="457200" cy="457200"/>
          </a:xfrm>
          <a:prstGeom prst="rect">
            <a:avLst/>
          </a:prstGeom>
          <a:solidFill>
            <a:srgbClr val="FFE08A"/>
          </a:solidFill>
          <a:ln w="9525">
            <a:solidFill>
              <a:srgbClr val="3F3F4A"/>
            </a:solidFill>
            <a:prstDash val="solid"/>
          </a:ln>
        </p:spPr>
      </p:sp>
      <p:sp>
        <p:nvSpPr>
          <p:cNvPr id="71" name="Shape 69"/>
          <p:cNvSpPr/>
          <p:nvPr/>
        </p:nvSpPr>
        <p:spPr>
          <a:xfrm>
            <a:off x="8823960" y="3703320"/>
            <a:ext cx="457200" cy="457200"/>
          </a:xfrm>
          <a:prstGeom prst="rect">
            <a:avLst/>
          </a:prstGeom>
          <a:solidFill>
            <a:srgbClr val="FFE08A"/>
          </a:solidFill>
          <a:ln w="9525">
            <a:solidFill>
              <a:srgbClr val="3F3F4A"/>
            </a:solidFill>
            <a:prstDash val="solid"/>
          </a:ln>
        </p:spPr>
      </p:sp>
      <p:sp>
        <p:nvSpPr>
          <p:cNvPr id="72" name="Shape 70"/>
          <p:cNvSpPr/>
          <p:nvPr/>
        </p:nvSpPr>
        <p:spPr>
          <a:xfrm>
            <a:off x="9208008" y="3931920"/>
            <a:ext cx="64008" cy="0"/>
          </a:xfrm>
          <a:prstGeom prst="line">
            <a:avLst/>
          </a:prstGeom>
          <a:noFill/>
          <a:ln w="17780">
            <a:solidFill>
              <a:srgbClr val="8A6D00"/>
            </a:solidFill>
            <a:prstDash val="solid"/>
          </a:ln>
        </p:spPr>
      </p:sp>
      <p:sp>
        <p:nvSpPr>
          <p:cNvPr id="73" name="Shape 71"/>
          <p:cNvSpPr/>
          <p:nvPr/>
        </p:nvSpPr>
        <p:spPr>
          <a:xfrm>
            <a:off x="8833104" y="3931920"/>
            <a:ext cx="64008" cy="0"/>
          </a:xfrm>
          <a:prstGeom prst="line">
            <a:avLst/>
          </a:prstGeom>
          <a:noFill/>
          <a:ln w="17780">
            <a:solidFill>
              <a:srgbClr val="8A6D00"/>
            </a:solidFill>
            <a:prstDash val="solid"/>
          </a:ln>
        </p:spPr>
      </p:sp>
      <p:sp>
        <p:nvSpPr>
          <p:cNvPr id="74" name="Shape 72"/>
          <p:cNvSpPr/>
          <p:nvPr/>
        </p:nvSpPr>
        <p:spPr>
          <a:xfrm>
            <a:off x="9052560" y="4087368"/>
            <a:ext cx="0" cy="64008"/>
          </a:xfrm>
          <a:prstGeom prst="line">
            <a:avLst/>
          </a:prstGeom>
          <a:noFill/>
          <a:ln w="17780">
            <a:solidFill>
              <a:srgbClr val="8A6D00"/>
            </a:solidFill>
            <a:prstDash val="solid"/>
          </a:ln>
        </p:spPr>
      </p:sp>
      <p:sp>
        <p:nvSpPr>
          <p:cNvPr id="75" name="Shape 73"/>
          <p:cNvSpPr/>
          <p:nvPr/>
        </p:nvSpPr>
        <p:spPr>
          <a:xfrm>
            <a:off x="9052560" y="3712464"/>
            <a:ext cx="0" cy="64008"/>
          </a:xfrm>
          <a:prstGeom prst="line">
            <a:avLst/>
          </a:prstGeom>
          <a:noFill/>
          <a:ln w="17780">
            <a:solidFill>
              <a:srgbClr val="8A6D00"/>
            </a:solidFill>
            <a:prstDash val="solid"/>
          </a:ln>
        </p:spPr>
      </p:sp>
      <p:sp>
        <p:nvSpPr>
          <p:cNvPr id="76" name="Shape 74"/>
          <p:cNvSpPr/>
          <p:nvPr/>
        </p:nvSpPr>
        <p:spPr>
          <a:xfrm>
            <a:off x="8924544" y="3803904"/>
            <a:ext cx="256032" cy="256032"/>
          </a:xfrm>
          <a:prstGeom prst="ellipse">
            <a:avLst/>
          </a:prstGeom>
          <a:solidFill>
            <a:srgbClr val="FFD23F"/>
          </a:solidFill>
          <a:ln w="17780">
            <a:solidFill>
              <a:srgbClr val="8A6D00"/>
            </a:solidFill>
            <a:prstDash val="solid"/>
          </a:ln>
        </p:spPr>
      </p:sp>
      <p:sp>
        <p:nvSpPr>
          <p:cNvPr id="77" name="Shape 75"/>
          <p:cNvSpPr/>
          <p:nvPr/>
        </p:nvSpPr>
        <p:spPr>
          <a:xfrm>
            <a:off x="9281160" y="3703320"/>
            <a:ext cx="457200" cy="457200"/>
          </a:xfrm>
          <a:prstGeom prst="rect">
            <a:avLst/>
          </a:prstGeom>
          <a:solidFill>
            <a:srgbClr val="0E0E12"/>
          </a:solidFill>
          <a:ln w="9525">
            <a:solidFill>
              <a:srgbClr val="3F3F4A"/>
            </a:solidFill>
            <a:prstDash val="solid"/>
          </a:ln>
        </p:spPr>
      </p:sp>
      <p:sp>
        <p:nvSpPr>
          <p:cNvPr id="78" name="Shape 76"/>
          <p:cNvSpPr/>
          <p:nvPr/>
        </p:nvSpPr>
        <p:spPr>
          <a:xfrm>
            <a:off x="9738360" y="3703320"/>
            <a:ext cx="457200" cy="457200"/>
          </a:xfrm>
          <a:prstGeom prst="rect">
            <a:avLst/>
          </a:prstGeom>
          <a:solidFill>
            <a:srgbClr val="FFE08A"/>
          </a:solidFill>
          <a:ln w="9525">
            <a:solidFill>
              <a:srgbClr val="3F3F4A"/>
            </a:solidFill>
            <a:prstDash val="solid"/>
          </a:ln>
        </p:spPr>
      </p:sp>
      <p:sp>
        <p:nvSpPr>
          <p:cNvPr id="79" name="Shape 77"/>
          <p:cNvSpPr/>
          <p:nvPr/>
        </p:nvSpPr>
        <p:spPr>
          <a:xfrm>
            <a:off x="10195560" y="3703320"/>
            <a:ext cx="457200" cy="457200"/>
          </a:xfrm>
          <a:prstGeom prst="rect">
            <a:avLst/>
          </a:prstGeom>
          <a:solidFill>
            <a:srgbClr val="FFE08A"/>
          </a:solidFill>
          <a:ln w="9525">
            <a:solidFill>
              <a:srgbClr val="3F3F4A"/>
            </a:solidFill>
            <a:prstDash val="solid"/>
          </a:ln>
        </p:spPr>
      </p:sp>
      <p:sp>
        <p:nvSpPr>
          <p:cNvPr id="80" name="Shape 78"/>
          <p:cNvSpPr/>
          <p:nvPr/>
        </p:nvSpPr>
        <p:spPr>
          <a:xfrm>
            <a:off x="10652760" y="3703320"/>
            <a:ext cx="457200" cy="457200"/>
          </a:xfrm>
          <a:prstGeom prst="rect">
            <a:avLst/>
          </a:prstGeom>
          <a:solidFill>
            <a:srgbClr val="FFE08A"/>
          </a:solidFill>
          <a:ln w="9525">
            <a:solidFill>
              <a:srgbClr val="3F3F4A"/>
            </a:solidFill>
            <a:prstDash val="solid"/>
          </a:ln>
        </p:spPr>
      </p:sp>
      <p:sp>
        <p:nvSpPr>
          <p:cNvPr id="81" name="Shape 79"/>
          <p:cNvSpPr/>
          <p:nvPr/>
        </p:nvSpPr>
        <p:spPr>
          <a:xfrm>
            <a:off x="11036808" y="3931920"/>
            <a:ext cx="64008" cy="0"/>
          </a:xfrm>
          <a:prstGeom prst="line">
            <a:avLst/>
          </a:prstGeom>
          <a:noFill/>
          <a:ln w="17780">
            <a:solidFill>
              <a:srgbClr val="8A6D00"/>
            </a:solidFill>
            <a:prstDash val="solid"/>
          </a:ln>
        </p:spPr>
      </p:sp>
      <p:sp>
        <p:nvSpPr>
          <p:cNvPr id="82" name="Shape 80"/>
          <p:cNvSpPr/>
          <p:nvPr/>
        </p:nvSpPr>
        <p:spPr>
          <a:xfrm>
            <a:off x="10661904" y="3931920"/>
            <a:ext cx="64008" cy="0"/>
          </a:xfrm>
          <a:prstGeom prst="line">
            <a:avLst/>
          </a:prstGeom>
          <a:noFill/>
          <a:ln w="17780">
            <a:solidFill>
              <a:srgbClr val="8A6D00"/>
            </a:solidFill>
            <a:prstDash val="solid"/>
          </a:ln>
        </p:spPr>
      </p:sp>
      <p:sp>
        <p:nvSpPr>
          <p:cNvPr id="83" name="Shape 81"/>
          <p:cNvSpPr/>
          <p:nvPr/>
        </p:nvSpPr>
        <p:spPr>
          <a:xfrm>
            <a:off x="10881360" y="4087368"/>
            <a:ext cx="0" cy="64008"/>
          </a:xfrm>
          <a:prstGeom prst="line">
            <a:avLst/>
          </a:prstGeom>
          <a:noFill/>
          <a:ln w="17780">
            <a:solidFill>
              <a:srgbClr val="8A6D00"/>
            </a:solidFill>
            <a:prstDash val="solid"/>
          </a:ln>
        </p:spPr>
      </p:sp>
      <p:sp>
        <p:nvSpPr>
          <p:cNvPr id="84" name="Shape 82"/>
          <p:cNvSpPr/>
          <p:nvPr/>
        </p:nvSpPr>
        <p:spPr>
          <a:xfrm>
            <a:off x="10881360" y="3712464"/>
            <a:ext cx="0" cy="64008"/>
          </a:xfrm>
          <a:prstGeom prst="line">
            <a:avLst/>
          </a:prstGeom>
          <a:noFill/>
          <a:ln w="17780">
            <a:solidFill>
              <a:srgbClr val="8A6D00"/>
            </a:solidFill>
            <a:prstDash val="solid"/>
          </a:ln>
        </p:spPr>
      </p:sp>
      <p:sp>
        <p:nvSpPr>
          <p:cNvPr id="85" name="Shape 83"/>
          <p:cNvSpPr/>
          <p:nvPr/>
        </p:nvSpPr>
        <p:spPr>
          <a:xfrm>
            <a:off x="10753344" y="3803904"/>
            <a:ext cx="256032" cy="256032"/>
          </a:xfrm>
          <a:prstGeom prst="ellipse">
            <a:avLst/>
          </a:prstGeom>
          <a:solidFill>
            <a:srgbClr val="FFD23F"/>
          </a:solidFill>
          <a:ln w="17780">
            <a:solidFill>
              <a:srgbClr val="8A6D00"/>
            </a:solidFill>
            <a:prstDash val="solid"/>
          </a:ln>
        </p:spPr>
      </p:sp>
      <p:sp>
        <p:nvSpPr>
          <p:cNvPr id="86" name="Shape 84"/>
          <p:cNvSpPr/>
          <p:nvPr/>
        </p:nvSpPr>
        <p:spPr>
          <a:xfrm>
            <a:off x="11109960" y="3703320"/>
            <a:ext cx="457200" cy="457200"/>
          </a:xfrm>
          <a:prstGeom prst="rect">
            <a:avLst/>
          </a:prstGeom>
          <a:solidFill>
            <a:srgbClr val="0E0E12"/>
          </a:solidFill>
          <a:ln w="9525">
            <a:solidFill>
              <a:srgbClr val="3F3F4A"/>
            </a:solidFill>
            <a:prstDash val="solid"/>
          </a:ln>
        </p:spPr>
      </p:sp>
      <p:sp>
        <p:nvSpPr>
          <p:cNvPr id="87" name="Text 85"/>
          <p:cNvSpPr/>
          <p:nvPr/>
        </p:nvSpPr>
        <p:spPr>
          <a:xfrm>
            <a:off x="11109960" y="3703320"/>
            <a:ext cx="457200" cy="457200"/>
          </a:xfrm>
          <a:prstGeom prst="rect">
            <a:avLst/>
          </a:prstGeom>
          <a:noFill/>
          <a:ln/>
        </p:spPr>
        <p:txBody>
          <a:bodyPr wrap="square" lIns="0" tIns="0" rIns="0" bIns="0" rtlCol="0" anchor="ctr"/>
          <a:lstStyle/>
          <a:p>
            <a:pPr marL="0" indent="0" algn="ctr">
              <a:buNone/>
            </a:pPr>
            <a:r>
              <a:rPr lang="en-US" sz="1300" b="1" dirty="0">
                <a:solidFill>
                  <a:srgbClr val="F2EFE7"/>
                </a:solidFill>
                <a:latin typeface="Arial" pitchFamily="34" charset="0"/>
                <a:ea typeface="Arial" pitchFamily="34" charset="-122"/>
                <a:cs typeface="Arial" pitchFamily="34" charset="-120"/>
              </a:rPr>
              <a:t>3</a:t>
            </a:r>
            <a:endParaRPr lang="en-US" sz="1300" dirty="0"/>
          </a:p>
        </p:txBody>
      </p:sp>
      <p:sp>
        <p:nvSpPr>
          <p:cNvPr id="88" name="Shape 86"/>
          <p:cNvSpPr/>
          <p:nvPr/>
        </p:nvSpPr>
        <p:spPr>
          <a:xfrm>
            <a:off x="8366760" y="4160520"/>
            <a:ext cx="457200" cy="457200"/>
          </a:xfrm>
          <a:prstGeom prst="rect">
            <a:avLst/>
          </a:prstGeom>
          <a:solidFill>
            <a:srgbClr val="FFE08A"/>
          </a:solidFill>
          <a:ln w="9525">
            <a:solidFill>
              <a:srgbClr val="3F3F4A"/>
            </a:solidFill>
            <a:prstDash val="solid"/>
          </a:ln>
        </p:spPr>
      </p:sp>
      <p:sp>
        <p:nvSpPr>
          <p:cNvPr id="89" name="Shape 87"/>
          <p:cNvSpPr/>
          <p:nvPr/>
        </p:nvSpPr>
        <p:spPr>
          <a:xfrm>
            <a:off x="8750808" y="4389120"/>
            <a:ext cx="64008" cy="0"/>
          </a:xfrm>
          <a:prstGeom prst="line">
            <a:avLst/>
          </a:prstGeom>
          <a:noFill/>
          <a:ln w="17780">
            <a:solidFill>
              <a:srgbClr val="8A6D00"/>
            </a:solidFill>
            <a:prstDash val="solid"/>
          </a:ln>
        </p:spPr>
      </p:sp>
      <p:sp>
        <p:nvSpPr>
          <p:cNvPr id="90" name="Shape 88"/>
          <p:cNvSpPr/>
          <p:nvPr/>
        </p:nvSpPr>
        <p:spPr>
          <a:xfrm>
            <a:off x="8375904" y="4389120"/>
            <a:ext cx="64008" cy="0"/>
          </a:xfrm>
          <a:prstGeom prst="line">
            <a:avLst/>
          </a:prstGeom>
          <a:noFill/>
          <a:ln w="17780">
            <a:solidFill>
              <a:srgbClr val="8A6D00"/>
            </a:solidFill>
            <a:prstDash val="solid"/>
          </a:ln>
        </p:spPr>
      </p:sp>
      <p:sp>
        <p:nvSpPr>
          <p:cNvPr id="91" name="Shape 89"/>
          <p:cNvSpPr/>
          <p:nvPr/>
        </p:nvSpPr>
        <p:spPr>
          <a:xfrm>
            <a:off x="8595360" y="4544568"/>
            <a:ext cx="0" cy="64008"/>
          </a:xfrm>
          <a:prstGeom prst="line">
            <a:avLst/>
          </a:prstGeom>
          <a:noFill/>
          <a:ln w="17780">
            <a:solidFill>
              <a:srgbClr val="8A6D00"/>
            </a:solidFill>
            <a:prstDash val="solid"/>
          </a:ln>
        </p:spPr>
      </p:sp>
      <p:sp>
        <p:nvSpPr>
          <p:cNvPr id="92" name="Shape 90"/>
          <p:cNvSpPr/>
          <p:nvPr/>
        </p:nvSpPr>
        <p:spPr>
          <a:xfrm>
            <a:off x="8595360" y="4169664"/>
            <a:ext cx="0" cy="64008"/>
          </a:xfrm>
          <a:prstGeom prst="line">
            <a:avLst/>
          </a:prstGeom>
          <a:noFill/>
          <a:ln w="17780">
            <a:solidFill>
              <a:srgbClr val="8A6D00"/>
            </a:solidFill>
            <a:prstDash val="solid"/>
          </a:ln>
        </p:spPr>
      </p:sp>
      <p:sp>
        <p:nvSpPr>
          <p:cNvPr id="93" name="Shape 91"/>
          <p:cNvSpPr/>
          <p:nvPr/>
        </p:nvSpPr>
        <p:spPr>
          <a:xfrm>
            <a:off x="8467344" y="4261104"/>
            <a:ext cx="256032" cy="256032"/>
          </a:xfrm>
          <a:prstGeom prst="ellipse">
            <a:avLst/>
          </a:prstGeom>
          <a:solidFill>
            <a:srgbClr val="FFD23F"/>
          </a:solidFill>
          <a:ln w="17780">
            <a:solidFill>
              <a:srgbClr val="8A6D00"/>
            </a:solidFill>
            <a:prstDash val="solid"/>
          </a:ln>
        </p:spPr>
      </p:sp>
      <p:sp>
        <p:nvSpPr>
          <p:cNvPr id="94" name="Shape 92"/>
          <p:cNvSpPr/>
          <p:nvPr/>
        </p:nvSpPr>
        <p:spPr>
          <a:xfrm>
            <a:off x="8823960" y="4160520"/>
            <a:ext cx="457200" cy="457200"/>
          </a:xfrm>
          <a:prstGeom prst="rect">
            <a:avLst/>
          </a:prstGeom>
          <a:solidFill>
            <a:srgbClr val="0E0E12"/>
          </a:solidFill>
          <a:ln w="9525">
            <a:solidFill>
              <a:srgbClr val="3F3F4A"/>
            </a:solidFill>
            <a:prstDash val="solid"/>
          </a:ln>
        </p:spPr>
      </p:sp>
      <p:sp>
        <p:nvSpPr>
          <p:cNvPr id="95" name="Text 93"/>
          <p:cNvSpPr/>
          <p:nvPr/>
        </p:nvSpPr>
        <p:spPr>
          <a:xfrm>
            <a:off x="8823960" y="4160520"/>
            <a:ext cx="457200" cy="457200"/>
          </a:xfrm>
          <a:prstGeom prst="rect">
            <a:avLst/>
          </a:prstGeom>
          <a:noFill/>
          <a:ln/>
        </p:spPr>
        <p:txBody>
          <a:bodyPr wrap="square" lIns="0" tIns="0" rIns="0" bIns="0" rtlCol="0" anchor="ctr"/>
          <a:lstStyle/>
          <a:p>
            <a:pPr marL="0" indent="0" algn="ctr">
              <a:buNone/>
            </a:pPr>
            <a:r>
              <a:rPr lang="en-US" sz="1300" b="1" dirty="0">
                <a:solidFill>
                  <a:srgbClr val="F2EFE7"/>
                </a:solidFill>
                <a:latin typeface="Arial" pitchFamily="34" charset="0"/>
                <a:ea typeface="Arial" pitchFamily="34" charset="-122"/>
                <a:cs typeface="Arial" pitchFamily="34" charset="-120"/>
              </a:rPr>
              <a:t>2</a:t>
            </a:r>
            <a:endParaRPr lang="en-US" sz="1300" dirty="0"/>
          </a:p>
        </p:txBody>
      </p:sp>
      <p:sp>
        <p:nvSpPr>
          <p:cNvPr id="96" name="Shape 94"/>
          <p:cNvSpPr/>
          <p:nvPr/>
        </p:nvSpPr>
        <p:spPr>
          <a:xfrm>
            <a:off x="9281160" y="4160520"/>
            <a:ext cx="457200" cy="457200"/>
          </a:xfrm>
          <a:prstGeom prst="rect">
            <a:avLst/>
          </a:prstGeom>
          <a:solidFill>
            <a:srgbClr val="FFE08A"/>
          </a:solidFill>
          <a:ln w="9525">
            <a:solidFill>
              <a:srgbClr val="3F3F4A"/>
            </a:solidFill>
            <a:prstDash val="solid"/>
          </a:ln>
        </p:spPr>
      </p:sp>
      <p:sp>
        <p:nvSpPr>
          <p:cNvPr id="97" name="Shape 95"/>
          <p:cNvSpPr/>
          <p:nvPr/>
        </p:nvSpPr>
        <p:spPr>
          <a:xfrm>
            <a:off x="9738360" y="4160520"/>
            <a:ext cx="457200" cy="457200"/>
          </a:xfrm>
          <a:prstGeom prst="rect">
            <a:avLst/>
          </a:prstGeom>
          <a:solidFill>
            <a:srgbClr val="FFE08A"/>
          </a:solidFill>
          <a:ln w="9525">
            <a:solidFill>
              <a:srgbClr val="3F3F4A"/>
            </a:solidFill>
            <a:prstDash val="solid"/>
          </a:ln>
        </p:spPr>
      </p:sp>
      <p:sp>
        <p:nvSpPr>
          <p:cNvPr id="98" name="Shape 96"/>
          <p:cNvSpPr/>
          <p:nvPr/>
        </p:nvSpPr>
        <p:spPr>
          <a:xfrm>
            <a:off x="10195560" y="4160520"/>
            <a:ext cx="457200" cy="457200"/>
          </a:xfrm>
          <a:prstGeom prst="rect">
            <a:avLst/>
          </a:prstGeom>
          <a:solidFill>
            <a:srgbClr val="FFE08A"/>
          </a:solidFill>
          <a:ln w="9525">
            <a:solidFill>
              <a:srgbClr val="3F3F4A"/>
            </a:solidFill>
            <a:prstDash val="solid"/>
          </a:ln>
        </p:spPr>
      </p:sp>
      <p:sp>
        <p:nvSpPr>
          <p:cNvPr id="99" name="Shape 97"/>
          <p:cNvSpPr/>
          <p:nvPr/>
        </p:nvSpPr>
        <p:spPr>
          <a:xfrm>
            <a:off x="10652760" y="4160520"/>
            <a:ext cx="457200" cy="457200"/>
          </a:xfrm>
          <a:prstGeom prst="rect">
            <a:avLst/>
          </a:prstGeom>
          <a:solidFill>
            <a:srgbClr val="FFE08A"/>
          </a:solidFill>
          <a:ln w="9525">
            <a:solidFill>
              <a:srgbClr val="3F3F4A"/>
            </a:solidFill>
            <a:prstDash val="solid"/>
          </a:ln>
        </p:spPr>
      </p:sp>
      <p:sp>
        <p:nvSpPr>
          <p:cNvPr id="100" name="Shape 98"/>
          <p:cNvSpPr/>
          <p:nvPr/>
        </p:nvSpPr>
        <p:spPr>
          <a:xfrm>
            <a:off x="11109960" y="4160520"/>
            <a:ext cx="457200" cy="457200"/>
          </a:xfrm>
          <a:prstGeom prst="rect">
            <a:avLst/>
          </a:prstGeom>
          <a:solidFill>
            <a:srgbClr val="FFE08A"/>
          </a:solidFill>
          <a:ln w="9525">
            <a:solidFill>
              <a:srgbClr val="3F3F4A"/>
            </a:solidFill>
            <a:prstDash val="solid"/>
          </a:ln>
        </p:spPr>
      </p:sp>
      <p:sp>
        <p:nvSpPr>
          <p:cNvPr id="101" name="Shape 99"/>
          <p:cNvSpPr/>
          <p:nvPr/>
        </p:nvSpPr>
        <p:spPr>
          <a:xfrm>
            <a:off x="11494008" y="4389120"/>
            <a:ext cx="64008" cy="0"/>
          </a:xfrm>
          <a:prstGeom prst="line">
            <a:avLst/>
          </a:prstGeom>
          <a:noFill/>
          <a:ln w="17780">
            <a:solidFill>
              <a:srgbClr val="8A6D00"/>
            </a:solidFill>
            <a:prstDash val="solid"/>
          </a:ln>
        </p:spPr>
      </p:sp>
      <p:sp>
        <p:nvSpPr>
          <p:cNvPr id="102" name="Shape 100"/>
          <p:cNvSpPr/>
          <p:nvPr/>
        </p:nvSpPr>
        <p:spPr>
          <a:xfrm>
            <a:off x="11119104" y="4389120"/>
            <a:ext cx="64008" cy="0"/>
          </a:xfrm>
          <a:prstGeom prst="line">
            <a:avLst/>
          </a:prstGeom>
          <a:noFill/>
          <a:ln w="17780">
            <a:solidFill>
              <a:srgbClr val="8A6D00"/>
            </a:solidFill>
            <a:prstDash val="solid"/>
          </a:ln>
        </p:spPr>
      </p:sp>
      <p:sp>
        <p:nvSpPr>
          <p:cNvPr id="103" name="Shape 101"/>
          <p:cNvSpPr/>
          <p:nvPr/>
        </p:nvSpPr>
        <p:spPr>
          <a:xfrm>
            <a:off x="11338560" y="4544568"/>
            <a:ext cx="0" cy="64008"/>
          </a:xfrm>
          <a:prstGeom prst="line">
            <a:avLst/>
          </a:prstGeom>
          <a:noFill/>
          <a:ln w="17780">
            <a:solidFill>
              <a:srgbClr val="8A6D00"/>
            </a:solidFill>
            <a:prstDash val="solid"/>
          </a:ln>
        </p:spPr>
      </p:sp>
      <p:sp>
        <p:nvSpPr>
          <p:cNvPr id="104" name="Shape 102"/>
          <p:cNvSpPr/>
          <p:nvPr/>
        </p:nvSpPr>
        <p:spPr>
          <a:xfrm>
            <a:off x="11338560" y="4169664"/>
            <a:ext cx="0" cy="64008"/>
          </a:xfrm>
          <a:prstGeom prst="line">
            <a:avLst/>
          </a:prstGeom>
          <a:noFill/>
          <a:ln w="17780">
            <a:solidFill>
              <a:srgbClr val="8A6D00"/>
            </a:solidFill>
            <a:prstDash val="solid"/>
          </a:ln>
        </p:spPr>
      </p:sp>
      <p:sp>
        <p:nvSpPr>
          <p:cNvPr id="105" name="Shape 103"/>
          <p:cNvSpPr/>
          <p:nvPr/>
        </p:nvSpPr>
        <p:spPr>
          <a:xfrm>
            <a:off x="11210544" y="4261104"/>
            <a:ext cx="256032" cy="256032"/>
          </a:xfrm>
          <a:prstGeom prst="ellipse">
            <a:avLst/>
          </a:prstGeom>
          <a:solidFill>
            <a:srgbClr val="FFD23F"/>
          </a:solidFill>
          <a:ln w="17780">
            <a:solidFill>
              <a:srgbClr val="8A6D00"/>
            </a:solidFill>
            <a:prstDash val="solid"/>
          </a:ln>
        </p:spPr>
      </p:sp>
      <p:sp>
        <p:nvSpPr>
          <p:cNvPr id="106" name="Text 104"/>
          <p:cNvSpPr/>
          <p:nvPr/>
        </p:nvSpPr>
        <p:spPr>
          <a:xfrm>
            <a:off x="640080" y="1554480"/>
            <a:ext cx="7315200" cy="1463040"/>
          </a:xfrm>
          <a:prstGeom prst="rect">
            <a:avLst/>
          </a:prstGeom>
          <a:noFill/>
          <a:ln/>
        </p:spPr>
        <p:txBody>
          <a:bodyPr wrap="square" lIns="0" tIns="0" rIns="0" bIns="0" rtlCol="0" anchor="ctr"/>
          <a:lstStyle/>
          <a:p>
            <a:pPr marL="0" indent="0">
              <a:buNone/>
            </a:pPr>
            <a:r>
              <a:rPr lang="en-US" sz="4000" b="1" dirty="0">
                <a:solidFill>
                  <a:srgbClr val="F2EFE7"/>
                </a:solidFill>
                <a:latin typeface="Arial" pitchFamily="34" charset="0"/>
                <a:ea typeface="Arial" pitchFamily="34" charset="-122"/>
                <a:cs typeface="Arial" pitchFamily="34" charset="-120"/>
              </a:rPr>
              <a:t>Lighting Up Akari with </a:t>
            </a:r>
          </a:p>
          <a:p>
            <a:pPr marL="0" indent="0">
              <a:buNone/>
            </a:pPr>
            <a:r>
              <a:rPr lang="en-US" sz="4000" b="1" dirty="0">
                <a:solidFill>
                  <a:srgbClr val="F2EFE7"/>
                </a:solidFill>
                <a:latin typeface="Arial" pitchFamily="34" charset="0"/>
                <a:ea typeface="Arial" pitchFamily="34" charset="-122"/>
                <a:cs typeface="Arial" pitchFamily="34" charset="-120"/>
              </a:rPr>
              <a:t>AI Search</a:t>
            </a:r>
            <a:endParaRPr lang="en-US" sz="4000" dirty="0"/>
          </a:p>
        </p:txBody>
      </p:sp>
      <p:sp>
        <p:nvSpPr>
          <p:cNvPr id="107" name="Text 105"/>
          <p:cNvSpPr/>
          <p:nvPr/>
        </p:nvSpPr>
        <p:spPr>
          <a:xfrm>
            <a:off x="640080" y="2880360"/>
            <a:ext cx="7315200" cy="914400"/>
          </a:xfrm>
          <a:prstGeom prst="rect">
            <a:avLst/>
          </a:prstGeom>
          <a:noFill/>
          <a:ln/>
        </p:spPr>
        <p:txBody>
          <a:bodyPr wrap="square" lIns="0" tIns="0" rIns="0" bIns="0" rtlCol="0" anchor="ctr"/>
          <a:lstStyle/>
          <a:p>
            <a:pPr marL="0" indent="0">
              <a:buNone/>
            </a:pPr>
            <a:r>
              <a:rPr lang="en-US" sz="1700" dirty="0">
                <a:solidFill>
                  <a:srgbClr val="FFD23F"/>
                </a:solidFill>
                <a:latin typeface="Calibri" pitchFamily="34" charset="0"/>
                <a:ea typeface="Calibri" pitchFamily="34" charset="-122"/>
                <a:cs typeface="Calibri" pitchFamily="34" charset="-120"/>
              </a:rPr>
              <a:t>Solving the LightUp puzzle with CSP backtracking,</a:t>
            </a:r>
            <a:endParaRPr lang="en-US" sz="1700" dirty="0"/>
          </a:p>
          <a:p>
            <a:pPr marL="0" indent="0">
              <a:buNone/>
            </a:pPr>
            <a:r>
              <a:rPr lang="en-US" sz="1700" dirty="0">
                <a:solidFill>
                  <a:srgbClr val="FFD23F"/>
                </a:solidFill>
                <a:latin typeface="Calibri" pitchFamily="34" charset="0"/>
                <a:ea typeface="Calibri" pitchFamily="34" charset="-122"/>
                <a:cs typeface="Calibri" pitchFamily="34" charset="-120"/>
              </a:rPr>
              <a:t>hill climbing and simulated annealing</a:t>
            </a:r>
            <a:endParaRPr lang="en-US" sz="1700" dirty="0"/>
          </a:p>
        </p:txBody>
      </p:sp>
      <p:sp>
        <p:nvSpPr>
          <p:cNvPr id="108" name="Text 106"/>
          <p:cNvSpPr/>
          <p:nvPr/>
        </p:nvSpPr>
        <p:spPr>
          <a:xfrm>
            <a:off x="640080" y="4297680"/>
            <a:ext cx="7315200" cy="365760"/>
          </a:xfrm>
          <a:prstGeom prst="rect">
            <a:avLst/>
          </a:prstGeom>
          <a:noFill/>
          <a:ln/>
        </p:spPr>
        <p:txBody>
          <a:bodyPr wrap="square" lIns="0" tIns="0" rIns="0" bIns="0" rtlCol="0" anchor="ctr"/>
          <a:lstStyle/>
          <a:p>
            <a:pPr marL="0" indent="0">
              <a:buNone/>
            </a:pPr>
            <a:r>
              <a:rPr lang="en-US" sz="1400" dirty="0">
                <a:solidFill>
                  <a:srgbClr val="F2EFE7"/>
                </a:solidFill>
                <a:latin typeface="Calibri" pitchFamily="34" charset="0"/>
                <a:ea typeface="Calibri" pitchFamily="34" charset="-122"/>
                <a:cs typeface="Calibri" pitchFamily="34" charset="-120"/>
              </a:rPr>
              <a:t>Anna Gasparyan ·  Ani Baghumyan ·  Izabella </a:t>
            </a:r>
            <a:r>
              <a:rPr lang="en-US" sz="1400" dirty="0" err="1">
                <a:solidFill>
                  <a:srgbClr val="F2EFE7"/>
                </a:solidFill>
                <a:latin typeface="Calibri" pitchFamily="34" charset="0"/>
                <a:ea typeface="Calibri" pitchFamily="34" charset="-122"/>
                <a:cs typeface="Calibri" pitchFamily="34" charset="-120"/>
              </a:rPr>
              <a:t>Atajanyan</a:t>
            </a:r>
            <a:endParaRPr lang="en-US" sz="1400" dirty="0"/>
          </a:p>
        </p:txBody>
      </p:sp>
      <p:sp>
        <p:nvSpPr>
          <p:cNvPr id="109" name="Text 107"/>
          <p:cNvSpPr/>
          <p:nvPr/>
        </p:nvSpPr>
        <p:spPr>
          <a:xfrm>
            <a:off x="640080" y="4709160"/>
            <a:ext cx="7315200" cy="365760"/>
          </a:xfrm>
          <a:prstGeom prst="rect">
            <a:avLst/>
          </a:prstGeom>
          <a:noFill/>
          <a:ln/>
        </p:spPr>
        <p:txBody>
          <a:bodyPr wrap="square" lIns="0" tIns="0" rIns="0" bIns="0" rtlCol="0" anchor="ctr"/>
          <a:lstStyle/>
          <a:p>
            <a:pPr marL="0" indent="0">
              <a:buNone/>
            </a:pPr>
            <a:r>
              <a:rPr lang="en-US" sz="1300" dirty="0">
                <a:solidFill>
                  <a:srgbClr val="A9A6B0"/>
                </a:solidFill>
                <a:latin typeface="Calibri" pitchFamily="34" charset="0"/>
                <a:ea typeface="Calibri" pitchFamily="34" charset="-122"/>
                <a:cs typeface="Calibri" pitchFamily="34" charset="-120"/>
              </a:rPr>
              <a:t>CS 246 Artificial Intelligence — AUA, Summer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The puzzle: three rules</a:t>
            </a:r>
            <a:endParaRPr lang="en-US" sz="3000" dirty="0"/>
          </a:p>
        </p:txBody>
      </p:sp>
      <p:sp>
        <p:nvSpPr>
          <p:cNvPr id="3" name="Text 1"/>
          <p:cNvSpPr/>
          <p:nvPr/>
        </p:nvSpPr>
        <p:spPr>
          <a:xfrm>
            <a:off x="640080" y="1325880"/>
            <a:ext cx="6126480" cy="1143000"/>
          </a:xfrm>
          <a:prstGeom prst="rect">
            <a:avLst/>
          </a:prstGeom>
          <a:noFill/>
          <a:ln/>
        </p:spPr>
        <p:txBody>
          <a:bodyPr wrap="square" lIns="0" tIns="0" rIns="0" bIns="0" rtlCol="0" anchor="t"/>
          <a:lstStyle/>
          <a:p>
            <a:pPr marL="0" indent="0">
              <a:buNone/>
            </a:pPr>
            <a:r>
              <a:rPr lang="en-US" sz="1800" b="1" dirty="0">
                <a:solidFill>
                  <a:srgbClr val="FFD23F"/>
                </a:solidFill>
                <a:latin typeface="Arial" pitchFamily="34" charset="0"/>
                <a:ea typeface="Arial" pitchFamily="34" charset="-122"/>
                <a:cs typeface="Arial" pitchFamily="34" charset="-120"/>
              </a:rPr>
              <a:t>R1 — Illumination</a:t>
            </a:r>
            <a:endParaRPr lang="en-US" sz="1800" dirty="0"/>
          </a:p>
          <a:p>
            <a:pPr marL="0" indent="0">
              <a:buNone/>
            </a:pPr>
            <a:r>
              <a:rPr lang="en-US" sz="1500" dirty="0">
                <a:solidFill>
                  <a:srgbClr val="F2EFE7"/>
                </a:solidFill>
                <a:latin typeface="Calibri" pitchFamily="34" charset="0"/>
                <a:ea typeface="Calibri" pitchFamily="34" charset="-122"/>
                <a:cs typeface="Calibri" pitchFamily="34" charset="-120"/>
              </a:rPr>
              <a:t>Every white cell must be lit. A bulb lights its whole row and column until a wall blocks it.</a:t>
            </a:r>
            <a:endParaRPr lang="en-US" sz="1800" dirty="0"/>
          </a:p>
        </p:txBody>
      </p:sp>
      <p:sp>
        <p:nvSpPr>
          <p:cNvPr id="4" name="Text 2"/>
          <p:cNvSpPr/>
          <p:nvPr/>
        </p:nvSpPr>
        <p:spPr>
          <a:xfrm>
            <a:off x="640080" y="2606040"/>
            <a:ext cx="6126480" cy="1143000"/>
          </a:xfrm>
          <a:prstGeom prst="rect">
            <a:avLst/>
          </a:prstGeom>
          <a:noFill/>
          <a:ln/>
        </p:spPr>
        <p:txBody>
          <a:bodyPr wrap="square" lIns="0" tIns="0" rIns="0" bIns="0" rtlCol="0" anchor="t"/>
          <a:lstStyle/>
          <a:p>
            <a:pPr marL="0" indent="0">
              <a:buNone/>
            </a:pPr>
            <a:r>
              <a:rPr lang="en-US" sz="1800" b="1" dirty="0">
                <a:solidFill>
                  <a:srgbClr val="FFD23F"/>
                </a:solidFill>
                <a:latin typeface="Arial" pitchFamily="34" charset="0"/>
                <a:ea typeface="Arial" pitchFamily="34" charset="-122"/>
                <a:cs typeface="Arial" pitchFamily="34" charset="-120"/>
              </a:rPr>
              <a:t>R2 — No mutual light</a:t>
            </a:r>
            <a:endParaRPr lang="en-US" sz="1800" dirty="0"/>
          </a:p>
          <a:p>
            <a:pPr marL="0" indent="0">
              <a:buNone/>
            </a:pPr>
            <a:r>
              <a:rPr lang="en-US" sz="1500" dirty="0">
                <a:solidFill>
                  <a:srgbClr val="F2EFE7"/>
                </a:solidFill>
                <a:latin typeface="Calibri" pitchFamily="34" charset="0"/>
                <a:ea typeface="Calibri" pitchFamily="34" charset="-122"/>
                <a:cs typeface="Calibri" pitchFamily="34" charset="-120"/>
              </a:rPr>
              <a:t>No bulb may shine on another bulb.</a:t>
            </a:r>
            <a:endParaRPr lang="en-US" sz="1800" dirty="0"/>
          </a:p>
        </p:txBody>
      </p:sp>
      <p:sp>
        <p:nvSpPr>
          <p:cNvPr id="5" name="Text 3"/>
          <p:cNvSpPr/>
          <p:nvPr/>
        </p:nvSpPr>
        <p:spPr>
          <a:xfrm>
            <a:off x="640080" y="3886200"/>
            <a:ext cx="6126480" cy="1143000"/>
          </a:xfrm>
          <a:prstGeom prst="rect">
            <a:avLst/>
          </a:prstGeom>
          <a:noFill/>
          <a:ln/>
        </p:spPr>
        <p:txBody>
          <a:bodyPr wrap="square" lIns="0" tIns="0" rIns="0" bIns="0" rtlCol="0" anchor="t"/>
          <a:lstStyle/>
          <a:p>
            <a:pPr marL="0" indent="0">
              <a:buNone/>
            </a:pPr>
            <a:r>
              <a:rPr lang="en-US" sz="1800" b="1" dirty="0">
                <a:solidFill>
                  <a:srgbClr val="FFD23F"/>
                </a:solidFill>
                <a:latin typeface="Arial" pitchFamily="34" charset="0"/>
                <a:ea typeface="Arial" pitchFamily="34" charset="-122"/>
                <a:cs typeface="Arial" pitchFamily="34" charset="-120"/>
              </a:rPr>
              <a:t>R3 — Clue exactness</a:t>
            </a:r>
            <a:endParaRPr lang="en-US" sz="1800" dirty="0"/>
          </a:p>
          <a:p>
            <a:pPr marL="0" indent="0">
              <a:buNone/>
            </a:pPr>
            <a:r>
              <a:rPr lang="en-US" sz="1500" dirty="0">
                <a:solidFill>
                  <a:srgbClr val="F2EFE7"/>
                </a:solidFill>
                <a:latin typeface="Calibri" pitchFamily="34" charset="0"/>
                <a:ea typeface="Calibri" pitchFamily="34" charset="-122"/>
                <a:cs typeface="Calibri" pitchFamily="34" charset="-120"/>
              </a:rPr>
              <a:t>A numbered wall must touch exactly that many bulbs. Plain walls constrain nothing.</a:t>
            </a:r>
            <a:endParaRPr lang="en-US" sz="1800" dirty="0"/>
          </a:p>
        </p:txBody>
      </p:sp>
      <p:sp>
        <p:nvSpPr>
          <p:cNvPr id="6" name="Text 4"/>
          <p:cNvSpPr/>
          <p:nvPr/>
        </p:nvSpPr>
        <p:spPr>
          <a:xfrm>
            <a:off x="640080" y="5303520"/>
            <a:ext cx="6126480" cy="822960"/>
          </a:xfrm>
          <a:prstGeom prst="rect">
            <a:avLst/>
          </a:prstGeom>
          <a:noFill/>
          <a:ln/>
        </p:spPr>
        <p:txBody>
          <a:bodyPr wrap="square" lIns="0" tIns="0" rIns="0" bIns="0" rtlCol="0" anchor="ctr"/>
          <a:lstStyle/>
          <a:p>
            <a:pPr marL="0" indent="0">
              <a:buNone/>
            </a:pPr>
            <a:r>
              <a:rPr lang="en-US" sz="1300" i="1" dirty="0">
                <a:solidFill>
                  <a:srgbClr val="A9A6B0"/>
                </a:solidFill>
                <a:latin typeface="Calibri" pitchFamily="34" charset="0"/>
                <a:ea typeface="Calibri" pitchFamily="34" charset="-122"/>
                <a:cs typeface="Calibri" pitchFamily="34" charset="-120"/>
              </a:rPr>
              <a:t>Uniqueness of the solution is a publishing convention — not a rule. The rules define a constraint-satisfaction problem.</a:t>
            </a:r>
            <a:endParaRPr lang="en-US" sz="1300" dirty="0"/>
          </a:p>
        </p:txBody>
      </p:sp>
      <p:sp>
        <p:nvSpPr>
          <p:cNvPr id="7" name="Shape 5"/>
          <p:cNvSpPr/>
          <p:nvPr/>
        </p:nvSpPr>
        <p:spPr>
          <a:xfrm>
            <a:off x="7863840" y="1554480"/>
            <a:ext cx="1005840" cy="1005840"/>
          </a:xfrm>
          <a:prstGeom prst="rect">
            <a:avLst/>
          </a:prstGeom>
          <a:solidFill>
            <a:srgbClr val="0E0E12"/>
          </a:solidFill>
          <a:ln w="9525">
            <a:solidFill>
              <a:srgbClr val="3F3F4A"/>
            </a:solidFill>
            <a:prstDash val="solid"/>
          </a:ln>
        </p:spPr>
      </p:sp>
      <p:sp>
        <p:nvSpPr>
          <p:cNvPr id="8" name="Text 6"/>
          <p:cNvSpPr/>
          <p:nvPr/>
        </p:nvSpPr>
        <p:spPr>
          <a:xfrm>
            <a:off x="7863840" y="1554480"/>
            <a:ext cx="1005840" cy="1005840"/>
          </a:xfrm>
          <a:prstGeom prst="rect">
            <a:avLst/>
          </a:prstGeom>
          <a:noFill/>
          <a:ln/>
        </p:spPr>
        <p:txBody>
          <a:bodyPr wrap="square" lIns="0" tIns="0" rIns="0" bIns="0" rtlCol="0" anchor="ctr"/>
          <a:lstStyle/>
          <a:p>
            <a:pPr marL="0" indent="0" algn="ctr">
              <a:buNone/>
            </a:pPr>
            <a:r>
              <a:rPr lang="en-US" sz="2860" b="1" dirty="0">
                <a:solidFill>
                  <a:srgbClr val="F2EFE7"/>
                </a:solidFill>
                <a:latin typeface="Arial" pitchFamily="34" charset="0"/>
                <a:ea typeface="Arial" pitchFamily="34" charset="-122"/>
                <a:cs typeface="Arial" pitchFamily="34" charset="-120"/>
              </a:rPr>
              <a:t>2</a:t>
            </a:r>
            <a:endParaRPr lang="en-US" sz="2860" dirty="0"/>
          </a:p>
        </p:txBody>
      </p:sp>
      <p:sp>
        <p:nvSpPr>
          <p:cNvPr id="9" name="Shape 7"/>
          <p:cNvSpPr/>
          <p:nvPr/>
        </p:nvSpPr>
        <p:spPr>
          <a:xfrm>
            <a:off x="8869680" y="1554480"/>
            <a:ext cx="1005840" cy="1005840"/>
          </a:xfrm>
          <a:prstGeom prst="rect">
            <a:avLst/>
          </a:prstGeom>
          <a:solidFill>
            <a:srgbClr val="FFE08A"/>
          </a:solidFill>
          <a:ln w="9525">
            <a:solidFill>
              <a:srgbClr val="3F3F4A"/>
            </a:solidFill>
            <a:prstDash val="solid"/>
          </a:ln>
        </p:spPr>
      </p:sp>
      <p:sp>
        <p:nvSpPr>
          <p:cNvPr id="10" name="Shape 8"/>
          <p:cNvSpPr/>
          <p:nvPr/>
        </p:nvSpPr>
        <p:spPr>
          <a:xfrm>
            <a:off x="9714586" y="2057400"/>
            <a:ext cx="140818" cy="0"/>
          </a:xfrm>
          <a:prstGeom prst="line">
            <a:avLst/>
          </a:prstGeom>
          <a:noFill/>
          <a:ln w="17780">
            <a:solidFill>
              <a:srgbClr val="8A6D00"/>
            </a:solidFill>
            <a:prstDash val="solid"/>
          </a:ln>
        </p:spPr>
      </p:sp>
      <p:sp>
        <p:nvSpPr>
          <p:cNvPr id="11" name="Shape 9"/>
          <p:cNvSpPr/>
          <p:nvPr/>
        </p:nvSpPr>
        <p:spPr>
          <a:xfrm>
            <a:off x="8889797" y="2057400"/>
            <a:ext cx="140818" cy="0"/>
          </a:xfrm>
          <a:prstGeom prst="line">
            <a:avLst/>
          </a:prstGeom>
          <a:noFill/>
          <a:ln w="17780">
            <a:solidFill>
              <a:srgbClr val="8A6D00"/>
            </a:solidFill>
            <a:prstDash val="solid"/>
          </a:ln>
        </p:spPr>
      </p:sp>
      <p:sp>
        <p:nvSpPr>
          <p:cNvPr id="12" name="Shape 10"/>
          <p:cNvSpPr/>
          <p:nvPr/>
        </p:nvSpPr>
        <p:spPr>
          <a:xfrm>
            <a:off x="9372600" y="2399386"/>
            <a:ext cx="0" cy="140818"/>
          </a:xfrm>
          <a:prstGeom prst="line">
            <a:avLst/>
          </a:prstGeom>
          <a:noFill/>
          <a:ln w="17780">
            <a:solidFill>
              <a:srgbClr val="8A6D00"/>
            </a:solidFill>
            <a:prstDash val="solid"/>
          </a:ln>
        </p:spPr>
      </p:sp>
      <p:sp>
        <p:nvSpPr>
          <p:cNvPr id="13" name="Shape 11"/>
          <p:cNvSpPr/>
          <p:nvPr/>
        </p:nvSpPr>
        <p:spPr>
          <a:xfrm>
            <a:off x="9372600" y="1574597"/>
            <a:ext cx="0" cy="140818"/>
          </a:xfrm>
          <a:prstGeom prst="line">
            <a:avLst/>
          </a:prstGeom>
          <a:noFill/>
          <a:ln w="17780">
            <a:solidFill>
              <a:srgbClr val="8A6D00"/>
            </a:solidFill>
            <a:prstDash val="solid"/>
          </a:ln>
        </p:spPr>
      </p:sp>
      <p:sp>
        <p:nvSpPr>
          <p:cNvPr id="14" name="Shape 12"/>
          <p:cNvSpPr/>
          <p:nvPr/>
        </p:nvSpPr>
        <p:spPr>
          <a:xfrm>
            <a:off x="9090965" y="1775765"/>
            <a:ext cx="563270" cy="563270"/>
          </a:xfrm>
          <a:prstGeom prst="ellipse">
            <a:avLst/>
          </a:prstGeom>
          <a:solidFill>
            <a:srgbClr val="FFD23F"/>
          </a:solidFill>
          <a:ln w="17780">
            <a:solidFill>
              <a:srgbClr val="8A6D00"/>
            </a:solidFill>
            <a:prstDash val="solid"/>
          </a:ln>
        </p:spPr>
      </p:sp>
      <p:sp>
        <p:nvSpPr>
          <p:cNvPr id="15" name="Shape 13"/>
          <p:cNvSpPr/>
          <p:nvPr/>
        </p:nvSpPr>
        <p:spPr>
          <a:xfrm>
            <a:off x="9875520" y="1554480"/>
            <a:ext cx="1005840" cy="1005840"/>
          </a:xfrm>
          <a:prstGeom prst="rect">
            <a:avLst/>
          </a:prstGeom>
          <a:solidFill>
            <a:srgbClr val="FFE08A"/>
          </a:solidFill>
          <a:ln w="9525">
            <a:solidFill>
              <a:srgbClr val="3F3F4A"/>
            </a:solidFill>
            <a:prstDash val="solid"/>
          </a:ln>
        </p:spPr>
      </p:sp>
      <p:sp>
        <p:nvSpPr>
          <p:cNvPr id="16" name="Shape 14"/>
          <p:cNvSpPr/>
          <p:nvPr/>
        </p:nvSpPr>
        <p:spPr>
          <a:xfrm>
            <a:off x="7863840" y="2560320"/>
            <a:ext cx="1005840" cy="1005840"/>
          </a:xfrm>
          <a:prstGeom prst="rect">
            <a:avLst/>
          </a:prstGeom>
          <a:solidFill>
            <a:srgbClr val="FFE08A"/>
          </a:solidFill>
          <a:ln w="9525">
            <a:solidFill>
              <a:srgbClr val="3F3F4A"/>
            </a:solidFill>
            <a:prstDash val="solid"/>
          </a:ln>
        </p:spPr>
      </p:sp>
      <p:sp>
        <p:nvSpPr>
          <p:cNvPr id="17" name="Shape 15"/>
          <p:cNvSpPr/>
          <p:nvPr/>
        </p:nvSpPr>
        <p:spPr>
          <a:xfrm>
            <a:off x="8708746" y="3063240"/>
            <a:ext cx="140818" cy="0"/>
          </a:xfrm>
          <a:prstGeom prst="line">
            <a:avLst/>
          </a:prstGeom>
          <a:noFill/>
          <a:ln w="17780">
            <a:solidFill>
              <a:srgbClr val="8A6D00"/>
            </a:solidFill>
            <a:prstDash val="solid"/>
          </a:ln>
        </p:spPr>
      </p:sp>
      <p:sp>
        <p:nvSpPr>
          <p:cNvPr id="18" name="Shape 16"/>
          <p:cNvSpPr/>
          <p:nvPr/>
        </p:nvSpPr>
        <p:spPr>
          <a:xfrm>
            <a:off x="7883957" y="3063240"/>
            <a:ext cx="140818" cy="0"/>
          </a:xfrm>
          <a:prstGeom prst="line">
            <a:avLst/>
          </a:prstGeom>
          <a:noFill/>
          <a:ln w="17780">
            <a:solidFill>
              <a:srgbClr val="8A6D00"/>
            </a:solidFill>
            <a:prstDash val="solid"/>
          </a:ln>
        </p:spPr>
      </p:sp>
      <p:sp>
        <p:nvSpPr>
          <p:cNvPr id="19" name="Shape 17"/>
          <p:cNvSpPr/>
          <p:nvPr/>
        </p:nvSpPr>
        <p:spPr>
          <a:xfrm>
            <a:off x="8366760" y="3405226"/>
            <a:ext cx="0" cy="140818"/>
          </a:xfrm>
          <a:prstGeom prst="line">
            <a:avLst/>
          </a:prstGeom>
          <a:noFill/>
          <a:ln w="17780">
            <a:solidFill>
              <a:srgbClr val="8A6D00"/>
            </a:solidFill>
            <a:prstDash val="solid"/>
          </a:ln>
        </p:spPr>
      </p:sp>
      <p:sp>
        <p:nvSpPr>
          <p:cNvPr id="20" name="Shape 18"/>
          <p:cNvSpPr/>
          <p:nvPr/>
        </p:nvSpPr>
        <p:spPr>
          <a:xfrm>
            <a:off x="8366760" y="2580437"/>
            <a:ext cx="0" cy="140818"/>
          </a:xfrm>
          <a:prstGeom prst="line">
            <a:avLst/>
          </a:prstGeom>
          <a:noFill/>
          <a:ln w="17780">
            <a:solidFill>
              <a:srgbClr val="8A6D00"/>
            </a:solidFill>
            <a:prstDash val="solid"/>
          </a:ln>
        </p:spPr>
      </p:sp>
      <p:sp>
        <p:nvSpPr>
          <p:cNvPr id="21" name="Shape 19"/>
          <p:cNvSpPr/>
          <p:nvPr/>
        </p:nvSpPr>
        <p:spPr>
          <a:xfrm>
            <a:off x="8085125" y="2781605"/>
            <a:ext cx="563270" cy="563270"/>
          </a:xfrm>
          <a:prstGeom prst="ellipse">
            <a:avLst/>
          </a:prstGeom>
          <a:solidFill>
            <a:srgbClr val="FFD23F"/>
          </a:solidFill>
          <a:ln w="17780">
            <a:solidFill>
              <a:srgbClr val="8A6D00"/>
            </a:solidFill>
            <a:prstDash val="solid"/>
          </a:ln>
        </p:spPr>
      </p:sp>
      <p:sp>
        <p:nvSpPr>
          <p:cNvPr id="22" name="Shape 20"/>
          <p:cNvSpPr/>
          <p:nvPr/>
        </p:nvSpPr>
        <p:spPr>
          <a:xfrm>
            <a:off x="8869680" y="2560320"/>
            <a:ext cx="1005840" cy="1005840"/>
          </a:xfrm>
          <a:prstGeom prst="rect">
            <a:avLst/>
          </a:prstGeom>
          <a:solidFill>
            <a:srgbClr val="FFE08A"/>
          </a:solidFill>
          <a:ln w="9525">
            <a:solidFill>
              <a:srgbClr val="3F3F4A"/>
            </a:solidFill>
            <a:prstDash val="solid"/>
          </a:ln>
        </p:spPr>
      </p:sp>
      <p:sp>
        <p:nvSpPr>
          <p:cNvPr id="23" name="Shape 21"/>
          <p:cNvSpPr/>
          <p:nvPr/>
        </p:nvSpPr>
        <p:spPr>
          <a:xfrm>
            <a:off x="9875520" y="2560320"/>
            <a:ext cx="1005840" cy="1005840"/>
          </a:xfrm>
          <a:prstGeom prst="rect">
            <a:avLst/>
          </a:prstGeom>
          <a:solidFill>
            <a:srgbClr val="FFE08A"/>
          </a:solidFill>
          <a:ln w="9525">
            <a:solidFill>
              <a:srgbClr val="3F3F4A"/>
            </a:solidFill>
            <a:prstDash val="solid"/>
          </a:ln>
        </p:spPr>
      </p:sp>
      <p:sp>
        <p:nvSpPr>
          <p:cNvPr id="24" name="Shape 22"/>
          <p:cNvSpPr/>
          <p:nvPr/>
        </p:nvSpPr>
        <p:spPr>
          <a:xfrm>
            <a:off x="7863840" y="3566160"/>
            <a:ext cx="1005840" cy="1005840"/>
          </a:xfrm>
          <a:prstGeom prst="rect">
            <a:avLst/>
          </a:prstGeom>
          <a:solidFill>
            <a:srgbClr val="FFE08A"/>
          </a:solidFill>
          <a:ln w="9525">
            <a:solidFill>
              <a:srgbClr val="3F3F4A"/>
            </a:solidFill>
            <a:prstDash val="solid"/>
          </a:ln>
        </p:spPr>
      </p:sp>
      <p:sp>
        <p:nvSpPr>
          <p:cNvPr id="25" name="Shape 23"/>
          <p:cNvSpPr/>
          <p:nvPr/>
        </p:nvSpPr>
        <p:spPr>
          <a:xfrm>
            <a:off x="8869680" y="3566160"/>
            <a:ext cx="1005840" cy="1005840"/>
          </a:xfrm>
          <a:prstGeom prst="rect">
            <a:avLst/>
          </a:prstGeom>
          <a:solidFill>
            <a:srgbClr val="FFE08A"/>
          </a:solidFill>
          <a:ln w="9525">
            <a:solidFill>
              <a:srgbClr val="3F3F4A"/>
            </a:solidFill>
            <a:prstDash val="solid"/>
          </a:ln>
        </p:spPr>
      </p:sp>
      <p:sp>
        <p:nvSpPr>
          <p:cNvPr id="26" name="Shape 24"/>
          <p:cNvSpPr/>
          <p:nvPr/>
        </p:nvSpPr>
        <p:spPr>
          <a:xfrm>
            <a:off x="9875520" y="3566160"/>
            <a:ext cx="1005840" cy="1005840"/>
          </a:xfrm>
          <a:prstGeom prst="rect">
            <a:avLst/>
          </a:prstGeom>
          <a:solidFill>
            <a:srgbClr val="FFE08A"/>
          </a:solidFill>
          <a:ln w="9525">
            <a:solidFill>
              <a:srgbClr val="3F3F4A"/>
            </a:solidFill>
            <a:prstDash val="solid"/>
          </a:ln>
        </p:spPr>
      </p:sp>
      <p:sp>
        <p:nvSpPr>
          <p:cNvPr id="27" name="Shape 25"/>
          <p:cNvSpPr/>
          <p:nvPr/>
        </p:nvSpPr>
        <p:spPr>
          <a:xfrm>
            <a:off x="10720426" y="4069080"/>
            <a:ext cx="140818" cy="0"/>
          </a:xfrm>
          <a:prstGeom prst="line">
            <a:avLst/>
          </a:prstGeom>
          <a:noFill/>
          <a:ln w="17780">
            <a:solidFill>
              <a:srgbClr val="8A6D00"/>
            </a:solidFill>
            <a:prstDash val="solid"/>
          </a:ln>
        </p:spPr>
      </p:sp>
      <p:sp>
        <p:nvSpPr>
          <p:cNvPr id="28" name="Shape 26"/>
          <p:cNvSpPr/>
          <p:nvPr/>
        </p:nvSpPr>
        <p:spPr>
          <a:xfrm>
            <a:off x="9895637" y="4069080"/>
            <a:ext cx="140818" cy="0"/>
          </a:xfrm>
          <a:prstGeom prst="line">
            <a:avLst/>
          </a:prstGeom>
          <a:noFill/>
          <a:ln w="17780">
            <a:solidFill>
              <a:srgbClr val="8A6D00"/>
            </a:solidFill>
            <a:prstDash val="solid"/>
          </a:ln>
        </p:spPr>
      </p:sp>
      <p:sp>
        <p:nvSpPr>
          <p:cNvPr id="29" name="Shape 27"/>
          <p:cNvSpPr/>
          <p:nvPr/>
        </p:nvSpPr>
        <p:spPr>
          <a:xfrm>
            <a:off x="10378440" y="4411066"/>
            <a:ext cx="0" cy="140818"/>
          </a:xfrm>
          <a:prstGeom prst="line">
            <a:avLst/>
          </a:prstGeom>
          <a:noFill/>
          <a:ln w="17780">
            <a:solidFill>
              <a:srgbClr val="8A6D00"/>
            </a:solidFill>
            <a:prstDash val="solid"/>
          </a:ln>
        </p:spPr>
      </p:sp>
      <p:sp>
        <p:nvSpPr>
          <p:cNvPr id="30" name="Shape 28"/>
          <p:cNvSpPr/>
          <p:nvPr/>
        </p:nvSpPr>
        <p:spPr>
          <a:xfrm>
            <a:off x="10378440" y="3586277"/>
            <a:ext cx="0" cy="140818"/>
          </a:xfrm>
          <a:prstGeom prst="line">
            <a:avLst/>
          </a:prstGeom>
          <a:noFill/>
          <a:ln w="17780">
            <a:solidFill>
              <a:srgbClr val="8A6D00"/>
            </a:solidFill>
            <a:prstDash val="solid"/>
          </a:ln>
        </p:spPr>
      </p:sp>
      <p:sp>
        <p:nvSpPr>
          <p:cNvPr id="31" name="Shape 29"/>
          <p:cNvSpPr/>
          <p:nvPr/>
        </p:nvSpPr>
        <p:spPr>
          <a:xfrm>
            <a:off x="10096805" y="3787445"/>
            <a:ext cx="563270" cy="563270"/>
          </a:xfrm>
          <a:prstGeom prst="ellipse">
            <a:avLst/>
          </a:prstGeom>
          <a:solidFill>
            <a:srgbClr val="FFD23F"/>
          </a:solidFill>
          <a:ln w="17780">
            <a:solidFill>
              <a:srgbClr val="8A6D00"/>
            </a:solidFill>
            <a:prstDash val="solid"/>
          </a:ln>
        </p:spPr>
      </p:sp>
      <p:sp>
        <p:nvSpPr>
          <p:cNvPr id="32" name="Text 30"/>
          <p:cNvSpPr/>
          <p:nvPr/>
        </p:nvSpPr>
        <p:spPr>
          <a:xfrm>
            <a:off x="7452360" y="4800600"/>
            <a:ext cx="3931920" cy="640080"/>
          </a:xfrm>
          <a:prstGeom prst="rect">
            <a:avLst/>
          </a:prstGeom>
          <a:noFill/>
          <a:ln/>
        </p:spPr>
        <p:txBody>
          <a:bodyPr wrap="square" lIns="0" tIns="0" rIns="0" bIns="0" rtlCol="0" anchor="ctr"/>
          <a:lstStyle/>
          <a:p>
            <a:pPr marL="0" indent="0" algn="ctr">
              <a:buNone/>
            </a:pPr>
            <a:r>
              <a:rPr lang="en-US" sz="1200" dirty="0">
                <a:solidFill>
                  <a:srgbClr val="A9A6B0"/>
                </a:solidFill>
                <a:latin typeface="Calibri" pitchFamily="34" charset="0"/>
                <a:ea typeface="Calibri" pitchFamily="34" charset="-122"/>
                <a:cs typeface="Calibri" pitchFamily="34" charset="-120"/>
              </a:rPr>
              <a:t>A 3×3 instance, solved: the corner ‘2’ forces both its neighbors.</a:t>
            </a:r>
            <a:endParaRPr lang="en-US" sz="1200" dirty="0"/>
          </a:p>
        </p:txBody>
      </p:sp>
      <p:sp>
        <p:nvSpPr>
          <p:cNvPr id="34" name="Text 31"/>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Why LightUp is a good AI problem</a:t>
            </a:r>
            <a:endParaRPr lang="en-US" sz="3000" dirty="0"/>
          </a:p>
        </p:txBody>
      </p:sp>
      <p:sp>
        <p:nvSpPr>
          <p:cNvPr id="3" name="Shape 1"/>
          <p:cNvSpPr/>
          <p:nvPr/>
        </p:nvSpPr>
        <p:spPr>
          <a:xfrm>
            <a:off x="457200" y="1371600"/>
            <a:ext cx="3566160" cy="2377440"/>
          </a:xfrm>
          <a:prstGeom prst="roundRect">
            <a:avLst>
              <a:gd name="adj" fmla="val 3077"/>
            </a:avLst>
          </a:prstGeom>
          <a:solidFill>
            <a:srgbClr val="2B2B35"/>
          </a:solidFill>
          <a:ln/>
        </p:spPr>
      </p:sp>
      <p:sp>
        <p:nvSpPr>
          <p:cNvPr id="4" name="Text 2"/>
          <p:cNvSpPr/>
          <p:nvPr/>
        </p:nvSpPr>
        <p:spPr>
          <a:xfrm>
            <a:off x="731520" y="1600200"/>
            <a:ext cx="3017520" cy="2011680"/>
          </a:xfrm>
          <a:prstGeom prst="rect">
            <a:avLst/>
          </a:prstGeom>
          <a:noFill/>
          <a:ln/>
        </p:spPr>
        <p:txBody>
          <a:bodyPr wrap="square" lIns="0" tIns="0" rIns="0" bIns="0" rtlCol="0" anchor="t"/>
          <a:lstStyle/>
          <a:p>
            <a:pPr marL="0" indent="0">
              <a:buNone/>
            </a:pPr>
            <a:r>
              <a:rPr lang="en-US" sz="1900" b="1" dirty="0">
                <a:solidFill>
                  <a:srgbClr val="FFD23F"/>
                </a:solidFill>
                <a:latin typeface="Arial" pitchFamily="34" charset="0"/>
                <a:ea typeface="Arial" pitchFamily="34" charset="-122"/>
                <a:cs typeface="Arial" pitchFamily="34" charset="-120"/>
              </a:rPr>
              <a:t>NP-complete</a:t>
            </a:r>
            <a:endParaRPr lang="en-US" sz="1900" dirty="0"/>
          </a:p>
          <a:p>
            <a:pPr marL="0" indent="0">
              <a:buNone/>
            </a:pPr>
            <a:r>
              <a:rPr lang="en-US" sz="1400" dirty="0">
                <a:solidFill>
                  <a:srgbClr val="F2EFE7"/>
                </a:solidFill>
                <a:latin typeface="Calibri" pitchFamily="34" charset="0"/>
                <a:ea typeface="Calibri" pitchFamily="34" charset="-122"/>
                <a:cs typeface="Calibri" pitchFamily="34" charset="-120"/>
              </a:rPr>
              <a:t>Proven by reduction from Circuit-SAT (McPhail 2005). Worst-case exponential — cleverness must earn its keep.</a:t>
            </a:r>
            <a:endParaRPr lang="en-US" sz="1900" dirty="0"/>
          </a:p>
        </p:txBody>
      </p:sp>
      <p:sp>
        <p:nvSpPr>
          <p:cNvPr id="5" name="Shape 3"/>
          <p:cNvSpPr/>
          <p:nvPr/>
        </p:nvSpPr>
        <p:spPr>
          <a:xfrm>
            <a:off x="4297680" y="1371600"/>
            <a:ext cx="3566160" cy="2377440"/>
          </a:xfrm>
          <a:prstGeom prst="roundRect">
            <a:avLst>
              <a:gd name="adj" fmla="val 3077"/>
            </a:avLst>
          </a:prstGeom>
          <a:solidFill>
            <a:srgbClr val="2B2B35"/>
          </a:solidFill>
          <a:ln/>
        </p:spPr>
      </p:sp>
      <p:sp>
        <p:nvSpPr>
          <p:cNvPr id="6" name="Text 4"/>
          <p:cNvSpPr/>
          <p:nvPr/>
        </p:nvSpPr>
        <p:spPr>
          <a:xfrm>
            <a:off x="4572000" y="1600200"/>
            <a:ext cx="3017520" cy="2011680"/>
          </a:xfrm>
          <a:prstGeom prst="rect">
            <a:avLst/>
          </a:prstGeom>
          <a:noFill/>
          <a:ln/>
        </p:spPr>
        <p:txBody>
          <a:bodyPr wrap="square" lIns="0" tIns="0" rIns="0" bIns="0" rtlCol="0" anchor="t"/>
          <a:lstStyle/>
          <a:p>
            <a:pPr marL="0" indent="0">
              <a:buNone/>
            </a:pPr>
            <a:r>
              <a:rPr lang="en-US" sz="1900" b="1" dirty="0">
                <a:solidFill>
                  <a:srgbClr val="FFD23F"/>
                </a:solidFill>
                <a:latin typeface="Arial" pitchFamily="34" charset="0"/>
                <a:ea typeface="Arial" pitchFamily="34" charset="-122"/>
                <a:cs typeface="Arial" pitchFamily="34" charset="-120"/>
              </a:rPr>
              <a:t>Clean CSP</a:t>
            </a:r>
            <a:endParaRPr lang="en-US" sz="1900" dirty="0"/>
          </a:p>
          <a:p>
            <a:pPr marL="0" indent="0">
              <a:buNone/>
            </a:pPr>
            <a:r>
              <a:rPr lang="en-US" sz="1400" dirty="0">
                <a:solidFill>
                  <a:srgbClr val="F2EFE7"/>
                </a:solidFill>
                <a:latin typeface="Calibri" pitchFamily="34" charset="0"/>
                <a:ea typeface="Calibri" pitchFamily="34" charset="-122"/>
                <a:cs typeface="Calibri" pitchFamily="34" charset="-120"/>
              </a:rPr>
              <a:t>One binary variable per white cell; the three rules become sum constraints. Search space up to 2ⁿ.</a:t>
            </a:r>
            <a:endParaRPr lang="en-US" sz="1900" dirty="0"/>
          </a:p>
        </p:txBody>
      </p:sp>
      <p:sp>
        <p:nvSpPr>
          <p:cNvPr id="7" name="Shape 5"/>
          <p:cNvSpPr/>
          <p:nvPr/>
        </p:nvSpPr>
        <p:spPr>
          <a:xfrm>
            <a:off x="8138160" y="1371600"/>
            <a:ext cx="3566160" cy="2377440"/>
          </a:xfrm>
          <a:prstGeom prst="roundRect">
            <a:avLst>
              <a:gd name="adj" fmla="val 3077"/>
            </a:avLst>
          </a:prstGeom>
          <a:solidFill>
            <a:srgbClr val="2B2B35"/>
          </a:solidFill>
          <a:ln/>
        </p:spPr>
      </p:sp>
      <p:sp>
        <p:nvSpPr>
          <p:cNvPr id="8" name="Text 6"/>
          <p:cNvSpPr/>
          <p:nvPr/>
        </p:nvSpPr>
        <p:spPr>
          <a:xfrm>
            <a:off x="8412480" y="1600200"/>
            <a:ext cx="3017520" cy="2011680"/>
          </a:xfrm>
          <a:prstGeom prst="rect">
            <a:avLst/>
          </a:prstGeom>
          <a:noFill/>
          <a:ln/>
        </p:spPr>
        <p:txBody>
          <a:bodyPr wrap="square" lIns="0" tIns="0" rIns="0" bIns="0" rtlCol="0" anchor="t"/>
          <a:lstStyle/>
          <a:p>
            <a:pPr marL="0" indent="0">
              <a:buNone/>
            </a:pPr>
            <a:r>
              <a:rPr lang="en-US" sz="1900" b="1" dirty="0">
                <a:solidFill>
                  <a:srgbClr val="FFD23F"/>
                </a:solidFill>
                <a:latin typeface="Arial" pitchFamily="34" charset="0"/>
                <a:ea typeface="Arial" pitchFamily="34" charset="-122"/>
                <a:cs typeface="Arial" pitchFamily="34" charset="-120"/>
              </a:rPr>
              <a:t>Endlessly scalable</a:t>
            </a:r>
            <a:endParaRPr lang="en-US" sz="1900" dirty="0"/>
          </a:p>
          <a:p>
            <a:pPr marL="0" indent="0">
              <a:buNone/>
            </a:pPr>
            <a:r>
              <a:rPr lang="en-US" sz="1400" dirty="0">
                <a:solidFill>
                  <a:srgbClr val="F2EFE7"/>
                </a:solidFill>
                <a:latin typeface="Calibri" pitchFamily="34" charset="0"/>
                <a:ea typeface="Calibri" pitchFamily="34" charset="-122"/>
                <a:cs typeface="Calibri" pitchFamily="34" charset="-120"/>
              </a:rPr>
              <a:t>Our generator builds solvable instances from 3×3 to 25×25 with tunable wall and clue density.</a:t>
            </a:r>
            <a:endParaRPr lang="en-US" sz="1900" dirty="0"/>
          </a:p>
        </p:txBody>
      </p:sp>
      <p:sp>
        <p:nvSpPr>
          <p:cNvPr id="9" name="Text 7"/>
          <p:cNvSpPr/>
          <p:nvPr/>
        </p:nvSpPr>
        <p:spPr>
          <a:xfrm>
            <a:off x="640080" y="4206240"/>
            <a:ext cx="10972800" cy="914400"/>
          </a:xfrm>
          <a:prstGeom prst="rect">
            <a:avLst/>
          </a:prstGeom>
          <a:noFill/>
          <a:ln/>
        </p:spPr>
        <p:txBody>
          <a:bodyPr wrap="square" lIns="0" tIns="0" rIns="0" bIns="0" rtlCol="0" anchor="ctr"/>
          <a:lstStyle/>
          <a:p>
            <a:pPr marL="0" indent="0">
              <a:buNone/>
            </a:pPr>
            <a:r>
              <a:rPr lang="en-US" sz="1400" b="1" dirty="0">
                <a:solidFill>
                  <a:srgbClr val="F2EFE7"/>
                </a:solidFill>
                <a:latin typeface="Arial" pitchFamily="34" charset="0"/>
                <a:ea typeface="Arial" pitchFamily="34" charset="-122"/>
                <a:cs typeface="Arial" pitchFamily="34" charset="-120"/>
              </a:rPr>
              <a:t>Existing approaches (briefly): </a:t>
            </a:r>
            <a:r>
              <a:rPr lang="en-US" sz="1400" dirty="0">
                <a:solidFill>
                  <a:srgbClr val="A9A6B0"/>
                </a:solidFill>
                <a:latin typeface="Calibri" pitchFamily="34" charset="0"/>
                <a:ea typeface="Calibri" pitchFamily="34" charset="-122"/>
                <a:cs typeface="Calibri" pitchFamily="34" charset="-120"/>
              </a:rPr>
              <a:t>SAT encoding + backtracking (Pulles 2021) · hill climbing, simulated annealing, neural networks (Perera et al. 2021) · evolutionary algorithms (Salcedo-Sanz et al. 2009).</a:t>
            </a:r>
            <a:endParaRPr lang="en-US" sz="1400" dirty="0"/>
          </a:p>
        </p:txBody>
      </p:sp>
      <p:sp>
        <p:nvSpPr>
          <p:cNvPr id="11" name="Text 8"/>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Problem formulation (CSP)</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10881360" cy="2834640"/>
        </p:xfrm>
        <a:graphic>
          <a:graphicData uri="http://schemas.openxmlformats.org/drawingml/2006/table">
            <a:tbl>
              <a:tblPr/>
              <a:tblGrid>
                <a:gridCol w="2377440">
                  <a:extLst>
                    <a:ext uri="{9D8B030D-6E8A-4147-A177-3AD203B41FA5}">
                      <a16:colId xmlns:a16="http://schemas.microsoft.com/office/drawing/2014/main" val="20000"/>
                    </a:ext>
                  </a:extLst>
                </a:gridCol>
                <a:gridCol w="8503920">
                  <a:extLst>
                    <a:ext uri="{9D8B030D-6E8A-4147-A177-3AD203B41FA5}">
                      <a16:colId xmlns:a16="http://schemas.microsoft.com/office/drawing/2014/main" val="20001"/>
                    </a:ext>
                  </a:extLst>
                </a:gridCol>
              </a:tblGrid>
              <a:tr h="566928">
                <a:tc>
                  <a:txBody>
                    <a:bodyPr/>
                    <a:lstStyle/>
                    <a:p>
                      <a:pPr marL="0" indent="0">
                        <a:buNone/>
                      </a:pPr>
                      <a:r>
                        <a:rPr lang="en-US" sz="1500" b="1" dirty="0">
                          <a:solidFill>
                            <a:srgbClr val="FFD23F"/>
                          </a:solidFill>
                          <a:latin typeface="Calibri" pitchFamily="34" charset="0"/>
                          <a:ea typeface="Calibri" pitchFamily="34" charset="-122"/>
                          <a:cs typeface="Calibri" pitchFamily="34" charset="-120"/>
                        </a:rPr>
                        <a:t>Variables</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tc>
                  <a:txBody>
                    <a:bodyPr/>
                    <a:lstStyle/>
                    <a:p>
                      <a:pPr marL="0" indent="0">
                        <a:buNone/>
                      </a:pPr>
                      <a:r>
                        <a:rPr lang="en-US" sz="1500" dirty="0">
                          <a:solidFill>
                            <a:srgbClr val="F2EFE7"/>
                          </a:solidFill>
                          <a:latin typeface="Calibri" pitchFamily="34" charset="0"/>
                          <a:ea typeface="Calibri" pitchFamily="34" charset="-122"/>
                          <a:cs typeface="Calibri" pitchFamily="34" charset="-120"/>
                        </a:rPr>
                        <a:t>one Xᵥ ∈ {bulb, no-bulb} per white cell</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extLst>
                  <a:ext uri="{0D108BD9-81ED-4DB2-BD59-A6C34878D82A}">
                    <a16:rowId xmlns:a16="http://schemas.microsoft.com/office/drawing/2014/main" val="10000"/>
                  </a:ext>
                </a:extLst>
              </a:tr>
              <a:tr h="566928">
                <a:tc>
                  <a:txBody>
                    <a:bodyPr/>
                    <a:lstStyle/>
                    <a:p>
                      <a:pPr marL="0" indent="0">
                        <a:buNone/>
                      </a:pPr>
                      <a:r>
                        <a:rPr lang="en-US" sz="1500" b="1" dirty="0">
                          <a:solidFill>
                            <a:srgbClr val="FFD23F"/>
                          </a:solidFill>
                          <a:latin typeface="Calibri" pitchFamily="34" charset="0"/>
                          <a:ea typeface="Calibri" pitchFamily="34" charset="-122"/>
                          <a:cs typeface="Calibri" pitchFamily="34" charset="-120"/>
                        </a:rPr>
                        <a:t>R1  all lit</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tc>
                  <a:txBody>
                    <a:bodyPr/>
                    <a:lstStyle/>
                    <a:p>
                      <a:pPr marL="0" indent="0">
                        <a:buNone/>
                      </a:pPr>
                      <a:r>
                        <a:rPr lang="en-US" sz="1500" dirty="0">
                          <a:solidFill>
                            <a:srgbClr val="F2EFE7"/>
                          </a:solidFill>
                          <a:latin typeface="Calibri" pitchFamily="34" charset="0"/>
                          <a:ea typeface="Calibri" pitchFamily="34" charset="-122"/>
                          <a:cs typeface="Calibri" pitchFamily="34" charset="-120"/>
                        </a:rPr>
                        <a:t>Σ Xᵥ over {w} ∪ sight(w)  ≥ 1   for every white cell w</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extLst>
                  <a:ext uri="{0D108BD9-81ED-4DB2-BD59-A6C34878D82A}">
                    <a16:rowId xmlns:a16="http://schemas.microsoft.com/office/drawing/2014/main" val="10001"/>
                  </a:ext>
                </a:extLst>
              </a:tr>
              <a:tr h="566928">
                <a:tc>
                  <a:txBody>
                    <a:bodyPr/>
                    <a:lstStyle/>
                    <a:p>
                      <a:pPr marL="0" indent="0">
                        <a:buNone/>
                      </a:pPr>
                      <a:r>
                        <a:rPr lang="en-US" sz="1500" b="1" dirty="0">
                          <a:solidFill>
                            <a:srgbClr val="FFD23F"/>
                          </a:solidFill>
                          <a:latin typeface="Calibri" pitchFamily="34" charset="0"/>
                          <a:ea typeface="Calibri" pitchFamily="34" charset="-122"/>
                          <a:cs typeface="Calibri" pitchFamily="34" charset="-120"/>
                        </a:rPr>
                        <a:t>R2  no clashes</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tc>
                  <a:txBody>
                    <a:bodyPr/>
                    <a:lstStyle/>
                    <a:p>
                      <a:pPr marL="0" indent="0">
                        <a:buNone/>
                      </a:pPr>
                      <a:r>
                        <a:rPr lang="en-US" sz="1500" dirty="0">
                          <a:solidFill>
                            <a:srgbClr val="F2EFE7"/>
                          </a:solidFill>
                          <a:latin typeface="Calibri" pitchFamily="34" charset="0"/>
                          <a:ea typeface="Calibri" pitchFamily="34" charset="-122"/>
                          <a:cs typeface="Calibri" pitchFamily="34" charset="-120"/>
                        </a:rPr>
                        <a:t>Σ Xᵥ over a wall-free segment  ≤ 1   (binary constraints)</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extLst>
                  <a:ext uri="{0D108BD9-81ED-4DB2-BD59-A6C34878D82A}">
                    <a16:rowId xmlns:a16="http://schemas.microsoft.com/office/drawing/2014/main" val="10002"/>
                  </a:ext>
                </a:extLst>
              </a:tr>
              <a:tr h="566928">
                <a:tc>
                  <a:txBody>
                    <a:bodyPr/>
                    <a:lstStyle/>
                    <a:p>
                      <a:pPr marL="0" indent="0">
                        <a:buNone/>
                      </a:pPr>
                      <a:r>
                        <a:rPr lang="en-US" sz="1500" b="1" dirty="0">
                          <a:solidFill>
                            <a:srgbClr val="FFD23F"/>
                          </a:solidFill>
                          <a:latin typeface="Calibri" pitchFamily="34" charset="0"/>
                          <a:ea typeface="Calibri" pitchFamily="34" charset="-122"/>
                          <a:cs typeface="Calibri" pitchFamily="34" charset="-120"/>
                        </a:rPr>
                        <a:t>R3  clues exact</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tc>
                  <a:txBody>
                    <a:bodyPr/>
                    <a:lstStyle/>
                    <a:p>
                      <a:pPr marL="0" indent="0">
                        <a:buNone/>
                      </a:pPr>
                      <a:r>
                        <a:rPr lang="en-US" sz="1500" dirty="0">
                          <a:solidFill>
                            <a:srgbClr val="F2EFE7"/>
                          </a:solidFill>
                          <a:latin typeface="Calibri" pitchFamily="34" charset="0"/>
                          <a:ea typeface="Calibri" pitchFamily="34" charset="-122"/>
                          <a:cs typeface="Calibri" pitchFamily="34" charset="-120"/>
                        </a:rPr>
                        <a:t>Σ Xᵥ over a clue's neighbors  =  nₖ   (global, exactly-k)</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extLst>
                  <a:ext uri="{0D108BD9-81ED-4DB2-BD59-A6C34878D82A}">
                    <a16:rowId xmlns:a16="http://schemas.microsoft.com/office/drawing/2014/main" val="10003"/>
                  </a:ext>
                </a:extLst>
              </a:tr>
              <a:tr h="566928">
                <a:tc>
                  <a:txBody>
                    <a:bodyPr/>
                    <a:lstStyle/>
                    <a:p>
                      <a:pPr marL="0" indent="0">
                        <a:buNone/>
                      </a:pPr>
                      <a:r>
                        <a:rPr lang="en-US" sz="1500" b="1" dirty="0">
                          <a:solidFill>
                            <a:srgbClr val="FFD23F"/>
                          </a:solidFill>
                          <a:latin typeface="Calibri" pitchFamily="34" charset="0"/>
                          <a:ea typeface="Calibri" pitchFamily="34" charset="-122"/>
                          <a:cs typeface="Calibri" pitchFamily="34" charset="-120"/>
                        </a:rPr>
                        <a:t>Goal test</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tc>
                  <a:txBody>
                    <a:bodyPr/>
                    <a:lstStyle/>
                    <a:p>
                      <a:pPr marL="0" indent="0">
                        <a:buNone/>
                      </a:pPr>
                      <a:r>
                        <a:rPr lang="en-US" sz="1500" dirty="0">
                          <a:solidFill>
                            <a:srgbClr val="F2EFE7"/>
                          </a:solidFill>
                          <a:latin typeface="Calibri" pitchFamily="34" charset="0"/>
                          <a:ea typeface="Calibri" pitchFamily="34" charset="-122"/>
                          <a:cs typeface="Calibri" pitchFamily="34" charset="-120"/>
                        </a:rPr>
                        <a:t>all constraints satisfied — checked by one shared validator</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extLst>
                  <a:ext uri="{0D108BD9-81ED-4DB2-BD59-A6C34878D82A}">
                    <a16:rowId xmlns:a16="http://schemas.microsoft.com/office/drawing/2014/main" val="10004"/>
                  </a:ext>
                </a:extLst>
              </a:tr>
            </a:tbl>
          </a:graphicData>
        </a:graphic>
      </p:graphicFrame>
      <p:sp>
        <p:nvSpPr>
          <p:cNvPr id="4" name="Text 1"/>
          <p:cNvSpPr/>
          <p:nvPr/>
        </p:nvSpPr>
        <p:spPr>
          <a:xfrm>
            <a:off x="640080" y="5029200"/>
            <a:ext cx="10881360" cy="548640"/>
          </a:xfrm>
          <a:prstGeom prst="rect">
            <a:avLst/>
          </a:prstGeom>
          <a:noFill/>
          <a:ln/>
        </p:spPr>
        <p:txBody>
          <a:bodyPr wrap="square" lIns="0" tIns="0" rIns="0" bIns="0" rtlCol="0" anchor="ctr"/>
          <a:lstStyle/>
          <a:p>
            <a:pPr marL="0" indent="0">
              <a:buNone/>
            </a:pPr>
            <a:r>
              <a:rPr lang="en-US" sz="1400" i="1" dirty="0">
                <a:solidFill>
                  <a:srgbClr val="A9A6B0"/>
                </a:solidFill>
                <a:latin typeface="Calibri" pitchFamily="34" charset="0"/>
                <a:ea typeface="Calibri" pitchFamily="34" charset="-122"/>
                <a:cs typeface="Calibri" pitchFamily="34" charset="-120"/>
              </a:rPr>
              <a:t>“Lit” is a derived property, not a cell state — it inflates nothing: lit(w) ⟺ a bulb exists in {w} ∪ sight(w).</a:t>
            </a:r>
            <a:endParaRPr lang="en-US" sz="1400" dirty="0"/>
          </a:p>
        </p:txBody>
      </p:sp>
      <p:sp>
        <p:nvSpPr>
          <p:cNvPr id="6" name="Text 2"/>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One problem, five solvers</a:t>
            </a:r>
            <a:endParaRPr lang="en-US" sz="3000" dirty="0"/>
          </a:p>
        </p:txBody>
      </p:sp>
      <p:sp>
        <p:nvSpPr>
          <p:cNvPr id="3" name="Shape 1"/>
          <p:cNvSpPr/>
          <p:nvPr/>
        </p:nvSpPr>
        <p:spPr>
          <a:xfrm>
            <a:off x="640080" y="1417320"/>
            <a:ext cx="5577840" cy="960120"/>
          </a:xfrm>
          <a:prstGeom prst="roundRect">
            <a:avLst>
              <a:gd name="adj" fmla="val 7619"/>
            </a:avLst>
          </a:prstGeom>
          <a:solidFill>
            <a:srgbClr val="2B2B35"/>
          </a:solidFill>
          <a:ln/>
        </p:spPr>
      </p:sp>
      <p:sp>
        <p:nvSpPr>
          <p:cNvPr id="4" name="Text 2"/>
          <p:cNvSpPr/>
          <p:nvPr/>
        </p:nvSpPr>
        <p:spPr>
          <a:xfrm>
            <a:off x="914400" y="1508760"/>
            <a:ext cx="5120640" cy="777240"/>
          </a:xfrm>
          <a:prstGeom prst="rect">
            <a:avLst/>
          </a:prstGeom>
          <a:noFill/>
          <a:ln/>
        </p:spPr>
        <p:txBody>
          <a:bodyPr wrap="square" lIns="0" tIns="0" rIns="0" bIns="0" rtlCol="0" anchor="ctr"/>
          <a:lstStyle/>
          <a:p>
            <a:pPr marL="0" indent="0">
              <a:buNone/>
            </a:pPr>
            <a:r>
              <a:rPr lang="en-US" sz="1500" b="1" dirty="0">
                <a:solidFill>
                  <a:srgbClr val="FFD23F"/>
                </a:solidFill>
                <a:latin typeface="Arial" pitchFamily="34" charset="0"/>
                <a:ea typeface="Arial" pitchFamily="34" charset="-122"/>
                <a:cs typeface="Arial" pitchFamily="34" charset="-120"/>
              </a:rPr>
              <a:t>Backtracking — naive  </a:t>
            </a:r>
            <a:r>
              <a:rPr lang="en-US" sz="1250" dirty="0">
                <a:solidFill>
                  <a:srgbClr val="F2EFE7"/>
                </a:solidFill>
                <a:latin typeface="Calibri" pitchFamily="34" charset="0"/>
                <a:ea typeface="Calibri" pitchFamily="34" charset="-122"/>
                <a:cs typeface="Calibri" pitchFamily="34" charset="-120"/>
              </a:rPr>
              <a:t>fixed order, full re-check per node (baseline to beat)</a:t>
            </a:r>
            <a:endParaRPr lang="en-US" sz="1500" dirty="0"/>
          </a:p>
        </p:txBody>
      </p:sp>
      <p:sp>
        <p:nvSpPr>
          <p:cNvPr id="5" name="Shape 3"/>
          <p:cNvSpPr/>
          <p:nvPr/>
        </p:nvSpPr>
        <p:spPr>
          <a:xfrm>
            <a:off x="3383280" y="2377440"/>
            <a:ext cx="0" cy="320040"/>
          </a:xfrm>
          <a:prstGeom prst="line">
            <a:avLst/>
          </a:prstGeom>
          <a:noFill/>
          <a:ln w="25400">
            <a:solidFill>
              <a:srgbClr val="FFD23F"/>
            </a:solidFill>
            <a:prstDash val="solid"/>
            <a:tailEnd type="triangle"/>
          </a:ln>
        </p:spPr>
      </p:sp>
      <p:sp>
        <p:nvSpPr>
          <p:cNvPr id="6" name="Shape 4"/>
          <p:cNvSpPr/>
          <p:nvPr/>
        </p:nvSpPr>
        <p:spPr>
          <a:xfrm>
            <a:off x="640080" y="2697480"/>
            <a:ext cx="5577840" cy="960120"/>
          </a:xfrm>
          <a:prstGeom prst="roundRect">
            <a:avLst>
              <a:gd name="adj" fmla="val 7619"/>
            </a:avLst>
          </a:prstGeom>
          <a:solidFill>
            <a:srgbClr val="2B2B35"/>
          </a:solidFill>
          <a:ln/>
        </p:spPr>
      </p:sp>
      <p:sp>
        <p:nvSpPr>
          <p:cNvPr id="7" name="Text 5"/>
          <p:cNvSpPr/>
          <p:nvPr/>
        </p:nvSpPr>
        <p:spPr>
          <a:xfrm>
            <a:off x="914400" y="2788920"/>
            <a:ext cx="5120640" cy="777240"/>
          </a:xfrm>
          <a:prstGeom prst="rect">
            <a:avLst/>
          </a:prstGeom>
          <a:noFill/>
          <a:ln/>
        </p:spPr>
        <p:txBody>
          <a:bodyPr wrap="square" lIns="0" tIns="0" rIns="0" bIns="0" rtlCol="0" anchor="ctr"/>
          <a:lstStyle/>
          <a:p>
            <a:pPr marL="0" indent="0">
              <a:buNone/>
            </a:pPr>
            <a:r>
              <a:rPr lang="en-US" sz="1500" b="1" dirty="0">
                <a:solidFill>
                  <a:srgbClr val="FFD23F"/>
                </a:solidFill>
                <a:latin typeface="Arial" pitchFamily="34" charset="0"/>
                <a:ea typeface="Arial" pitchFamily="34" charset="-122"/>
                <a:cs typeface="Arial" pitchFamily="34" charset="-120"/>
              </a:rPr>
              <a:t>+ ordering heuristics  </a:t>
            </a:r>
            <a:r>
              <a:rPr lang="en-US" sz="1250" dirty="0">
                <a:solidFill>
                  <a:srgbClr val="F2EFE7"/>
                </a:solidFill>
                <a:latin typeface="Calibri" pitchFamily="34" charset="0"/>
                <a:ea typeface="Calibri" pitchFamily="34" charset="-122"/>
                <a:cs typeface="Calibri" pitchFamily="34" charset="-120"/>
              </a:rPr>
              <a:t>MRV / degree variable order, value ordering</a:t>
            </a:r>
            <a:endParaRPr lang="en-US" sz="1500" dirty="0"/>
          </a:p>
        </p:txBody>
      </p:sp>
      <p:sp>
        <p:nvSpPr>
          <p:cNvPr id="8" name="Shape 6"/>
          <p:cNvSpPr/>
          <p:nvPr/>
        </p:nvSpPr>
        <p:spPr>
          <a:xfrm>
            <a:off x="3383280" y="3657600"/>
            <a:ext cx="0" cy="320040"/>
          </a:xfrm>
          <a:prstGeom prst="line">
            <a:avLst/>
          </a:prstGeom>
          <a:noFill/>
          <a:ln w="25400">
            <a:solidFill>
              <a:srgbClr val="FFD23F"/>
            </a:solidFill>
            <a:prstDash val="solid"/>
            <a:tailEnd type="triangle"/>
          </a:ln>
        </p:spPr>
      </p:sp>
      <p:sp>
        <p:nvSpPr>
          <p:cNvPr id="9" name="Shape 7"/>
          <p:cNvSpPr/>
          <p:nvPr/>
        </p:nvSpPr>
        <p:spPr>
          <a:xfrm>
            <a:off x="640080" y="3977640"/>
            <a:ext cx="5577840" cy="960120"/>
          </a:xfrm>
          <a:prstGeom prst="roundRect">
            <a:avLst>
              <a:gd name="adj" fmla="val 7619"/>
            </a:avLst>
          </a:prstGeom>
          <a:solidFill>
            <a:srgbClr val="2B2B35"/>
          </a:solidFill>
          <a:ln/>
        </p:spPr>
      </p:sp>
      <p:sp>
        <p:nvSpPr>
          <p:cNvPr id="10" name="Text 8"/>
          <p:cNvSpPr/>
          <p:nvPr/>
        </p:nvSpPr>
        <p:spPr>
          <a:xfrm>
            <a:off x="914400" y="4069080"/>
            <a:ext cx="5120640" cy="777240"/>
          </a:xfrm>
          <a:prstGeom prst="rect">
            <a:avLst/>
          </a:prstGeom>
          <a:noFill/>
          <a:ln/>
        </p:spPr>
        <p:txBody>
          <a:bodyPr wrap="square" lIns="0" tIns="0" rIns="0" bIns="0" rtlCol="0" anchor="ctr"/>
          <a:lstStyle/>
          <a:p>
            <a:pPr marL="0" indent="0">
              <a:buNone/>
            </a:pPr>
            <a:r>
              <a:rPr lang="en-US" sz="1500" b="1" dirty="0">
                <a:solidFill>
                  <a:srgbClr val="FFD23F"/>
                </a:solidFill>
                <a:latin typeface="Arial" pitchFamily="34" charset="0"/>
                <a:ea typeface="Arial" pitchFamily="34" charset="-122"/>
                <a:cs typeface="Arial" pitchFamily="34" charset="-120"/>
              </a:rPr>
              <a:t>+ inference  </a:t>
            </a:r>
            <a:r>
              <a:rPr lang="en-US" sz="1250" dirty="0">
                <a:solidFill>
                  <a:srgbClr val="F2EFE7"/>
                </a:solidFill>
                <a:latin typeface="Calibri" pitchFamily="34" charset="0"/>
                <a:ea typeface="Calibri" pitchFamily="34" charset="-122"/>
                <a:cs typeface="Calibri" pitchFamily="34" charset="-120"/>
              </a:rPr>
              <a:t>forward checking, clue propagation (0/4, saturated, exhausted)</a:t>
            </a:r>
            <a:endParaRPr lang="en-US" sz="1500" dirty="0"/>
          </a:p>
        </p:txBody>
      </p:sp>
      <p:sp>
        <p:nvSpPr>
          <p:cNvPr id="11" name="Shape 9"/>
          <p:cNvSpPr/>
          <p:nvPr/>
        </p:nvSpPr>
        <p:spPr>
          <a:xfrm>
            <a:off x="6675120" y="1417320"/>
            <a:ext cx="4937760" cy="960120"/>
          </a:xfrm>
          <a:prstGeom prst="roundRect">
            <a:avLst>
              <a:gd name="adj" fmla="val 7619"/>
            </a:avLst>
          </a:prstGeom>
          <a:solidFill>
            <a:srgbClr val="2B2B35"/>
          </a:solidFill>
          <a:ln/>
        </p:spPr>
      </p:sp>
      <p:sp>
        <p:nvSpPr>
          <p:cNvPr id="12" name="Text 10"/>
          <p:cNvSpPr/>
          <p:nvPr/>
        </p:nvSpPr>
        <p:spPr>
          <a:xfrm>
            <a:off x="6949440" y="1508760"/>
            <a:ext cx="4480560" cy="777240"/>
          </a:xfrm>
          <a:prstGeom prst="rect">
            <a:avLst/>
          </a:prstGeom>
          <a:noFill/>
          <a:ln/>
        </p:spPr>
        <p:txBody>
          <a:bodyPr wrap="square" lIns="0" tIns="0" rIns="0" bIns="0" rtlCol="0" anchor="ctr"/>
          <a:lstStyle/>
          <a:p>
            <a:pPr marL="0" indent="0">
              <a:buNone/>
            </a:pPr>
            <a:r>
              <a:rPr lang="en-US" sz="1500" b="1" dirty="0">
                <a:solidFill>
                  <a:srgbClr val="8FD694"/>
                </a:solidFill>
                <a:latin typeface="Arial" pitchFamily="34" charset="0"/>
                <a:ea typeface="Arial" pitchFamily="34" charset="-122"/>
                <a:cs typeface="Arial" pitchFamily="34" charset="-120"/>
              </a:rPr>
              <a:t>Hill climbing  </a:t>
            </a:r>
            <a:r>
              <a:rPr lang="en-US" sz="1250" dirty="0">
                <a:solidFill>
                  <a:srgbClr val="F2EFE7"/>
                </a:solidFill>
                <a:latin typeface="Calibri" pitchFamily="34" charset="0"/>
                <a:ea typeface="Calibri" pitchFamily="34" charset="-122"/>
                <a:cs typeface="Calibri" pitchFamily="34" charset="-120"/>
              </a:rPr>
              <a:t>local search over complete assignments; objective = violation count</a:t>
            </a:r>
            <a:endParaRPr lang="en-US" sz="1500" dirty="0"/>
          </a:p>
        </p:txBody>
      </p:sp>
      <p:sp>
        <p:nvSpPr>
          <p:cNvPr id="13" name="Shape 11"/>
          <p:cNvSpPr/>
          <p:nvPr/>
        </p:nvSpPr>
        <p:spPr>
          <a:xfrm>
            <a:off x="6675120" y="2697480"/>
            <a:ext cx="4937760" cy="960120"/>
          </a:xfrm>
          <a:prstGeom prst="roundRect">
            <a:avLst>
              <a:gd name="adj" fmla="val 7619"/>
            </a:avLst>
          </a:prstGeom>
          <a:solidFill>
            <a:srgbClr val="2B2B35"/>
          </a:solidFill>
          <a:ln/>
        </p:spPr>
      </p:sp>
      <p:sp>
        <p:nvSpPr>
          <p:cNvPr id="14" name="Text 12"/>
          <p:cNvSpPr/>
          <p:nvPr/>
        </p:nvSpPr>
        <p:spPr>
          <a:xfrm>
            <a:off x="6949440" y="2788920"/>
            <a:ext cx="4480560" cy="777240"/>
          </a:xfrm>
          <a:prstGeom prst="rect">
            <a:avLst/>
          </a:prstGeom>
          <a:noFill/>
          <a:ln/>
        </p:spPr>
        <p:txBody>
          <a:bodyPr wrap="square" lIns="0" tIns="0" rIns="0" bIns="0" rtlCol="0" anchor="ctr"/>
          <a:lstStyle/>
          <a:p>
            <a:pPr marL="0" indent="0">
              <a:buNone/>
            </a:pPr>
            <a:r>
              <a:rPr lang="en-US" sz="1500" b="1" dirty="0">
                <a:solidFill>
                  <a:srgbClr val="8FD694"/>
                </a:solidFill>
                <a:latin typeface="Arial" pitchFamily="34" charset="0"/>
                <a:ea typeface="Arial" pitchFamily="34" charset="-122"/>
                <a:cs typeface="Arial" pitchFamily="34" charset="-120"/>
              </a:rPr>
              <a:t>Simulated annealing  </a:t>
            </a:r>
            <a:r>
              <a:rPr lang="en-US" sz="1250" dirty="0">
                <a:solidFill>
                  <a:srgbClr val="F2EFE7"/>
                </a:solidFill>
                <a:latin typeface="Calibri" pitchFamily="34" charset="0"/>
                <a:ea typeface="Calibri" pitchFamily="34" charset="-122"/>
                <a:cs typeface="Calibri" pitchFamily="34" charset="-120"/>
              </a:rPr>
              <a:t>same moves, temperature schedule escapes local optima</a:t>
            </a:r>
            <a:endParaRPr lang="en-US" sz="1500" dirty="0"/>
          </a:p>
        </p:txBody>
      </p:sp>
      <p:sp>
        <p:nvSpPr>
          <p:cNvPr id="15" name="Text 13"/>
          <p:cNvSpPr/>
          <p:nvPr/>
        </p:nvSpPr>
        <p:spPr>
          <a:xfrm>
            <a:off x="640080" y="5394960"/>
            <a:ext cx="10972800" cy="731520"/>
          </a:xfrm>
          <a:prstGeom prst="rect">
            <a:avLst/>
          </a:prstGeom>
          <a:noFill/>
          <a:ln/>
        </p:spPr>
        <p:txBody>
          <a:bodyPr wrap="square" lIns="0" tIns="0" rIns="0" bIns="0" rtlCol="0" anchor="ctr"/>
          <a:lstStyle/>
          <a:p>
            <a:pPr marL="0" indent="0">
              <a:buNone/>
            </a:pPr>
            <a:r>
              <a:rPr lang="en-US" sz="1400" dirty="0">
                <a:solidFill>
                  <a:srgbClr val="A9A6B0"/>
                </a:solidFill>
                <a:latin typeface="Calibri" pitchFamily="34" charset="0"/>
                <a:ea typeface="Calibri" pitchFamily="34" charset="-122"/>
                <a:cs typeface="Calibri" pitchFamily="34" charset="-120"/>
              </a:rPr>
              <a:t>Complete search (left) vs. local search (right) — same rules, same validator as referee, same statistics collected: nodes / moves, conflicts, backtracks, time.</a:t>
            </a:r>
            <a:endParaRPr lang="en-US" sz="1400" dirty="0"/>
          </a:p>
        </p:txBody>
      </p:sp>
      <p:sp>
        <p:nvSpPr>
          <p:cNvPr id="17" name="Text 14"/>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The system: game, generator, observable solvers</a:t>
            </a:r>
            <a:endParaRPr lang="en-US" sz="3000" dirty="0"/>
          </a:p>
        </p:txBody>
      </p:sp>
      <p:sp>
        <p:nvSpPr>
          <p:cNvPr id="3" name="Text 1"/>
          <p:cNvSpPr/>
          <p:nvPr/>
        </p:nvSpPr>
        <p:spPr>
          <a:xfrm>
            <a:off x="640080" y="1371600"/>
            <a:ext cx="5394960" cy="1371600"/>
          </a:xfrm>
          <a:prstGeom prst="rect">
            <a:avLst/>
          </a:prstGeom>
          <a:noFill/>
          <a:ln/>
        </p:spPr>
        <p:txBody>
          <a:bodyPr wrap="square" lIns="0" tIns="0" rIns="0" bIns="0" rtlCol="0" anchor="t"/>
          <a:lstStyle/>
          <a:p>
            <a:pPr marL="0" indent="0">
              <a:buNone/>
            </a:pPr>
            <a:r>
              <a:rPr lang="en-US" sz="1600" b="1" dirty="0">
                <a:solidFill>
                  <a:srgbClr val="FFD23F"/>
                </a:solidFill>
                <a:latin typeface="Arial" pitchFamily="34" charset="0"/>
                <a:ea typeface="Arial" pitchFamily="34" charset="-122"/>
                <a:cs typeface="Arial" pitchFamily="34" charset="-120"/>
              </a:rPr>
              <a:t>Playable game</a:t>
            </a:r>
            <a:endParaRPr lang="en-US" sz="1600" dirty="0"/>
          </a:p>
          <a:p>
            <a:pPr marL="0" indent="0">
              <a:buNone/>
            </a:pPr>
            <a:r>
              <a:rPr lang="en-US" sz="1350" dirty="0">
                <a:solidFill>
                  <a:srgbClr val="F2EFE7"/>
                </a:solidFill>
                <a:latin typeface="Calibri" pitchFamily="34" charset="0"/>
                <a:ea typeface="Calibri" pitchFamily="34" charset="-122"/>
                <a:cs typeface="Calibri" pitchFamily="34" charset="-120"/>
              </a:rPr>
              <a:t>Tkinter GUI: click to place bulbs, X marks, live rule feedback, any board 3×3–25×25, three difficulty presets.</a:t>
            </a:r>
            <a:endParaRPr lang="en-US" sz="1600" dirty="0"/>
          </a:p>
        </p:txBody>
      </p:sp>
      <p:sp>
        <p:nvSpPr>
          <p:cNvPr id="4" name="Text 2"/>
          <p:cNvSpPr/>
          <p:nvPr/>
        </p:nvSpPr>
        <p:spPr>
          <a:xfrm>
            <a:off x="640080" y="2852928"/>
            <a:ext cx="5394960" cy="1371600"/>
          </a:xfrm>
          <a:prstGeom prst="rect">
            <a:avLst/>
          </a:prstGeom>
          <a:noFill/>
          <a:ln/>
        </p:spPr>
        <p:txBody>
          <a:bodyPr wrap="square" lIns="0" tIns="0" rIns="0" bIns="0" rtlCol="0" anchor="t"/>
          <a:lstStyle/>
          <a:p>
            <a:pPr marL="0" indent="0">
              <a:buNone/>
            </a:pPr>
            <a:r>
              <a:rPr lang="en-US" sz="1600" b="1" dirty="0">
                <a:solidFill>
                  <a:srgbClr val="FFD23F"/>
                </a:solidFill>
                <a:latin typeface="Arial" pitchFamily="34" charset="0"/>
                <a:ea typeface="Arial" pitchFamily="34" charset="-122"/>
                <a:cs typeface="Arial" pitchFamily="34" charset="-120"/>
              </a:rPr>
              <a:t>Instance generator</a:t>
            </a:r>
            <a:endParaRPr lang="en-US" sz="1600" dirty="0"/>
          </a:p>
          <a:p>
            <a:pPr marL="0" indent="0">
              <a:buNone/>
            </a:pPr>
            <a:r>
              <a:rPr lang="en-US" sz="1350" dirty="0">
                <a:solidFill>
                  <a:srgbClr val="F2EFE7"/>
                </a:solidFill>
                <a:latin typeface="Calibri" pitchFamily="34" charset="0"/>
                <a:ea typeface="Calibri" pitchFamily="34" charset="-122"/>
                <a:cs typeface="Calibri" pitchFamily="34" charset="-120"/>
              </a:rPr>
              <a:t>Solution-first construction: build a valid lighting, derive clues from it, remove bulbs → solvable by construction.</a:t>
            </a:r>
            <a:endParaRPr lang="en-US" sz="1600" dirty="0"/>
          </a:p>
        </p:txBody>
      </p:sp>
      <p:sp>
        <p:nvSpPr>
          <p:cNvPr id="5" name="Text 3"/>
          <p:cNvSpPr/>
          <p:nvPr/>
        </p:nvSpPr>
        <p:spPr>
          <a:xfrm>
            <a:off x="640080" y="4334256"/>
            <a:ext cx="5394960" cy="1371600"/>
          </a:xfrm>
          <a:prstGeom prst="rect">
            <a:avLst/>
          </a:prstGeom>
          <a:noFill/>
          <a:ln/>
        </p:spPr>
        <p:txBody>
          <a:bodyPr wrap="square" lIns="0" tIns="0" rIns="0" bIns="0" rtlCol="0" anchor="t"/>
          <a:lstStyle/>
          <a:p>
            <a:pPr marL="0" indent="0">
              <a:buNone/>
            </a:pPr>
            <a:r>
              <a:rPr lang="en-US" sz="1600" b="1" dirty="0">
                <a:solidFill>
                  <a:srgbClr val="FFD23F"/>
                </a:solidFill>
                <a:latin typeface="Arial" pitchFamily="34" charset="0"/>
                <a:ea typeface="Arial" pitchFamily="34" charset="-122"/>
                <a:cs typeface="Arial" pitchFamily="34" charset="-120"/>
              </a:rPr>
              <a:t>Watchable search</a:t>
            </a:r>
            <a:endParaRPr lang="en-US" sz="1600" dirty="0"/>
          </a:p>
          <a:p>
            <a:pPr marL="0" indent="0">
              <a:buNone/>
            </a:pPr>
            <a:r>
              <a:rPr lang="en-US" sz="1350" dirty="0">
                <a:solidFill>
                  <a:srgbClr val="F2EFE7"/>
                </a:solidFill>
                <a:latin typeface="Calibri" pitchFamily="34" charset="0"/>
                <a:ea typeface="Calibri" pitchFamily="34" charset="-122"/>
                <a:cs typeface="Calibri" pitchFamily="34" charset="-120"/>
              </a:rPr>
              <a:t>Every solver streams place / conflict / backtrack events — animated replay with play, pause, step, finish.</a:t>
            </a:r>
            <a:endParaRPr lang="en-US" sz="1600" dirty="0"/>
          </a:p>
        </p:txBody>
      </p:sp>
      <p:pic>
        <p:nvPicPr>
          <p:cNvPr id="6" name="Image 0" descr="C:\Users\Annie\AppData\Local\Temp\claude\C--Users-Annie-Desktop-AUA-Artificial-Intelligence-GroupProject\3713b754-8c0d-4788-ba37-4fc6479a5014\scratchpad\gui_screenshot.png"/>
          <p:cNvPicPr>
            <a:picLocks noChangeAspect="1"/>
          </p:cNvPicPr>
          <p:nvPr/>
        </p:nvPicPr>
        <p:blipFill>
          <a:blip r:embed="rId3"/>
          <a:srcRect/>
          <a:stretch/>
        </p:blipFill>
        <p:spPr>
          <a:xfrm>
            <a:off x="6400800" y="1280160"/>
            <a:ext cx="5212080" cy="4572000"/>
          </a:xfrm>
          <a:prstGeom prst="rect">
            <a:avLst/>
          </a:prstGeom>
        </p:spPr>
      </p:pic>
      <p:sp>
        <p:nvSpPr>
          <p:cNvPr id="8" name="Text 4"/>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Experimental setup</a:t>
            </a:r>
            <a:endParaRPr lang="en-US" sz="3000" dirty="0"/>
          </a:p>
        </p:txBody>
      </p:sp>
      <p:sp>
        <p:nvSpPr>
          <p:cNvPr id="3" name="Text 1"/>
          <p:cNvSpPr/>
          <p:nvPr/>
        </p:nvSpPr>
        <p:spPr>
          <a:xfrm>
            <a:off x="640080" y="1371600"/>
            <a:ext cx="5394960" cy="3108960"/>
          </a:xfrm>
          <a:prstGeom prst="rect">
            <a:avLst/>
          </a:prstGeom>
          <a:noFill/>
          <a:ln/>
        </p:spPr>
        <p:txBody>
          <a:bodyPr wrap="square" lIns="0" tIns="0" rIns="0" bIns="0" rtlCol="0" anchor="t"/>
          <a:lstStyle/>
          <a:p>
            <a:pPr marL="0" indent="0">
              <a:buNone/>
            </a:pPr>
            <a:r>
              <a:rPr lang="en-US" sz="1700" b="1" dirty="0">
                <a:solidFill>
                  <a:srgbClr val="FFD23F"/>
                </a:solidFill>
                <a:latin typeface="Arial" pitchFamily="34" charset="0"/>
                <a:ea typeface="Arial" pitchFamily="34" charset="-122"/>
                <a:cs typeface="Arial" pitchFamily="34" charset="-120"/>
              </a:rPr>
              <a:t>Instances</a:t>
            </a:r>
            <a:endParaRPr lang="en-US" sz="1700" dirty="0"/>
          </a:p>
          <a:p>
            <a:pPr marL="342900" indent="-342900">
              <a:spcAft>
                <a:spcPts val="600"/>
              </a:spcAft>
              <a:buSzPct val="100000"/>
              <a:buChar char="•"/>
            </a:pPr>
            <a:r>
              <a:rPr lang="en-US" sz="1400" dirty="0">
                <a:solidFill>
                  <a:srgbClr val="F2EFE7"/>
                </a:solidFill>
                <a:latin typeface="Calibri" pitchFamily="34" charset="0"/>
                <a:ea typeface="Calibri" pitchFamily="34" charset="-122"/>
                <a:cs typeface="Calibri" pitchFamily="34" charset="-120"/>
              </a:rPr>
              <a:t>Generated boards: sizes 7, 10, 14, 18, 25; easy / medium / hard density presets; 5 seeded instances per bucket</a:t>
            </a:r>
            <a:endParaRPr lang="en-US" sz="1700" dirty="0"/>
          </a:p>
          <a:p>
            <a:pPr marL="342900" indent="-342900">
              <a:spcAft>
                <a:spcPts val="600"/>
              </a:spcAft>
              <a:buSzPct val="100000"/>
              <a:buChar char="•"/>
            </a:pPr>
            <a:r>
              <a:rPr lang="en-US" sz="1400" dirty="0">
                <a:solidFill>
                  <a:srgbClr val="F2EFE7"/>
                </a:solidFill>
                <a:latin typeface="Calibri" pitchFamily="34" charset="0"/>
                <a:ea typeface="Calibri" pitchFamily="34" charset="-122"/>
                <a:cs typeface="Calibri" pitchFamily="34" charset="-120"/>
              </a:rPr>
              <a:t>Every solver runs on IDENTICAL instances; 375 runs total (~11 min)</a:t>
            </a:r>
            <a:endParaRPr lang="en-US" sz="1700" dirty="0"/>
          </a:p>
          <a:p>
            <a:pPr marL="342900" indent="-342900">
              <a:buSzPct val="100000"/>
              <a:buChar char="•"/>
            </a:pPr>
            <a:r>
              <a:rPr lang="en-US" sz="1400" dirty="0">
                <a:solidFill>
                  <a:srgbClr val="F2EFE7"/>
                </a:solidFill>
                <a:latin typeface="Calibri" pitchFamily="34" charset="0"/>
                <a:ea typeface="Calibri" pitchFamily="34" charset="-122"/>
                <a:cs typeface="Calibri" pitchFamily="34" charset="-120"/>
              </a:rPr>
              <a:t>Reproducible: fixed seeds everywhere, 5 s budget per run</a:t>
            </a:r>
            <a:endParaRPr lang="en-US" sz="1700" dirty="0"/>
          </a:p>
        </p:txBody>
      </p:sp>
      <p:sp>
        <p:nvSpPr>
          <p:cNvPr id="4" name="Text 2"/>
          <p:cNvSpPr/>
          <p:nvPr/>
        </p:nvSpPr>
        <p:spPr>
          <a:xfrm>
            <a:off x="6400800" y="1371600"/>
            <a:ext cx="5120640" cy="3108960"/>
          </a:xfrm>
          <a:prstGeom prst="rect">
            <a:avLst/>
          </a:prstGeom>
          <a:noFill/>
          <a:ln/>
        </p:spPr>
        <p:txBody>
          <a:bodyPr wrap="square" lIns="0" tIns="0" rIns="0" bIns="0" rtlCol="0" anchor="t"/>
          <a:lstStyle/>
          <a:p>
            <a:pPr marL="0" indent="0">
              <a:buNone/>
            </a:pPr>
            <a:r>
              <a:rPr lang="en-US" sz="1700" b="1" dirty="0">
                <a:solidFill>
                  <a:srgbClr val="FFD23F"/>
                </a:solidFill>
                <a:latin typeface="Arial" pitchFamily="34" charset="0"/>
                <a:ea typeface="Arial" pitchFamily="34" charset="-122"/>
                <a:cs typeface="Arial" pitchFamily="34" charset="-120"/>
              </a:rPr>
              <a:t>Metrics</a:t>
            </a:r>
            <a:endParaRPr lang="en-US" sz="1700" dirty="0"/>
          </a:p>
          <a:p>
            <a:pPr marL="342900" indent="-342900">
              <a:spcAft>
                <a:spcPts val="600"/>
              </a:spcAft>
              <a:buSzPct val="100000"/>
              <a:buChar char="•"/>
            </a:pPr>
            <a:r>
              <a:rPr lang="en-US" sz="1400" dirty="0">
                <a:solidFill>
                  <a:srgbClr val="F2EFE7"/>
                </a:solidFill>
                <a:latin typeface="Calibri" pitchFamily="34" charset="0"/>
                <a:ea typeface="Calibri" pitchFamily="34" charset="-122"/>
                <a:cs typeface="Calibri" pitchFamily="34" charset="-120"/>
              </a:rPr>
              <a:t>Search effort: nodes / moves, conflicts, backtracks</a:t>
            </a:r>
            <a:endParaRPr lang="en-US" sz="1700" dirty="0"/>
          </a:p>
          <a:p>
            <a:pPr marL="342900" indent="-342900">
              <a:spcAft>
                <a:spcPts val="600"/>
              </a:spcAft>
              <a:buSzPct val="100000"/>
              <a:buChar char="•"/>
            </a:pPr>
            <a:r>
              <a:rPr lang="en-US" sz="1400" dirty="0">
                <a:solidFill>
                  <a:srgbClr val="F2EFE7"/>
                </a:solidFill>
                <a:latin typeface="Calibri" pitchFamily="34" charset="0"/>
                <a:ea typeface="Calibri" pitchFamily="34" charset="-122"/>
                <a:cs typeface="Calibri" pitchFamily="34" charset="-120"/>
              </a:rPr>
              <a:t>Wall-clock time (median over seeds)</a:t>
            </a:r>
            <a:endParaRPr lang="en-US" sz="1700" dirty="0"/>
          </a:p>
          <a:p>
            <a:pPr marL="342900" indent="-342900">
              <a:buSzPct val="100000"/>
              <a:buChar char="•"/>
            </a:pPr>
            <a:r>
              <a:rPr lang="en-US" sz="1400" dirty="0">
                <a:solidFill>
                  <a:srgbClr val="F2EFE7"/>
                </a:solidFill>
                <a:latin typeface="Calibri" pitchFamily="34" charset="0"/>
                <a:ea typeface="Calibri" pitchFamily="34" charset="-122"/>
                <a:cs typeface="Calibri" pitchFamily="34" charset="-120"/>
              </a:rPr>
              <a:t>Solve rate within the timeout (local search: also solution quality)</a:t>
            </a:r>
            <a:endParaRPr lang="en-US" sz="1700" dirty="0"/>
          </a:p>
        </p:txBody>
      </p:sp>
      <p:sp>
        <p:nvSpPr>
          <p:cNvPr id="5" name="Shape 3"/>
          <p:cNvSpPr/>
          <p:nvPr/>
        </p:nvSpPr>
        <p:spPr>
          <a:xfrm>
            <a:off x="640080" y="4754880"/>
            <a:ext cx="10881360" cy="1188720"/>
          </a:xfrm>
          <a:prstGeom prst="roundRect">
            <a:avLst>
              <a:gd name="adj" fmla="val 6154"/>
            </a:avLst>
          </a:prstGeom>
          <a:solidFill>
            <a:srgbClr val="2B2B35"/>
          </a:solidFill>
          <a:ln/>
        </p:spPr>
      </p:sp>
      <p:sp>
        <p:nvSpPr>
          <p:cNvPr id="6" name="Text 4"/>
          <p:cNvSpPr/>
          <p:nvPr/>
        </p:nvSpPr>
        <p:spPr>
          <a:xfrm>
            <a:off x="914400" y="4892040"/>
            <a:ext cx="10332720" cy="914400"/>
          </a:xfrm>
          <a:prstGeom prst="rect">
            <a:avLst/>
          </a:prstGeom>
          <a:noFill/>
          <a:ln/>
        </p:spPr>
        <p:txBody>
          <a:bodyPr wrap="square" lIns="0" tIns="0" rIns="0" bIns="0" rtlCol="0" anchor="ctr"/>
          <a:lstStyle/>
          <a:p>
            <a:pPr marL="0" indent="0">
              <a:buNone/>
            </a:pPr>
            <a:r>
              <a:rPr lang="en-US" sz="1400" i="1" dirty="0">
                <a:solidFill>
                  <a:srgbClr val="F2EFE7"/>
                </a:solidFill>
                <a:latin typeface="Calibri" pitchFamily="34" charset="0"/>
                <a:ea typeface="Calibri" pitchFamily="34" charset="-122"/>
                <a:cs typeface="Calibri" pitchFamily="34" charset="-120"/>
              </a:rPr>
              <a:t>Correctness is always judged by the rules validator — never by comparing to one known answer, because instances may have several legitimate solutions.</a:t>
            </a:r>
            <a:endParaRPr lang="en-US" sz="1400" dirty="0"/>
          </a:p>
        </p:txBody>
      </p:sp>
      <p:sp>
        <p:nvSpPr>
          <p:cNvPr id="8" name="Text 5"/>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Results — what does inference buy?</a:t>
            </a:r>
            <a:endParaRPr lang="en-US" sz="3000" dirty="0"/>
          </a:p>
        </p:txBody>
      </p:sp>
      <p:sp>
        <p:nvSpPr>
          <p:cNvPr id="3" name="Text 1"/>
          <p:cNvSpPr/>
          <p:nvPr/>
        </p:nvSpPr>
        <p:spPr>
          <a:xfrm>
            <a:off x="640080" y="1051560"/>
            <a:ext cx="1005840" cy="777240"/>
          </a:xfrm>
          <a:prstGeom prst="rect">
            <a:avLst/>
          </a:prstGeom>
          <a:noFill/>
          <a:ln/>
        </p:spPr>
        <p:txBody>
          <a:bodyPr wrap="square" lIns="0" tIns="0" rIns="0" bIns="0" rtlCol="0" anchor="ctr"/>
          <a:lstStyle/>
          <a:p>
            <a:pPr marL="0" indent="0">
              <a:buNone/>
            </a:pPr>
            <a:r>
              <a:rPr lang="en-US" sz="4400" b="1" dirty="0">
                <a:solidFill>
                  <a:srgbClr val="FFD23F"/>
                </a:solidFill>
                <a:latin typeface="Arial" pitchFamily="34" charset="0"/>
                <a:ea typeface="Arial" pitchFamily="34" charset="-122"/>
                <a:cs typeface="Arial" pitchFamily="34" charset="-120"/>
              </a:rPr>
              <a:t>0</a:t>
            </a:r>
            <a:endParaRPr lang="en-US" sz="4400" dirty="0"/>
          </a:p>
        </p:txBody>
      </p:sp>
      <p:sp>
        <p:nvSpPr>
          <p:cNvPr id="4" name="Text 2"/>
          <p:cNvSpPr/>
          <p:nvPr/>
        </p:nvSpPr>
        <p:spPr>
          <a:xfrm>
            <a:off x="1691640" y="1170432"/>
            <a:ext cx="4023360" cy="640080"/>
          </a:xfrm>
          <a:prstGeom prst="rect">
            <a:avLst/>
          </a:prstGeom>
          <a:noFill/>
          <a:ln/>
        </p:spPr>
        <p:txBody>
          <a:bodyPr wrap="square" lIns="0" tIns="0" rIns="0" bIns="0" rtlCol="0" anchor="ctr"/>
          <a:lstStyle/>
          <a:p>
            <a:pPr marL="0" indent="0">
              <a:buNone/>
            </a:pPr>
            <a:r>
              <a:rPr lang="en-US" sz="1200" dirty="0">
                <a:solidFill>
                  <a:srgbClr val="F2EFE7"/>
                </a:solidFill>
                <a:latin typeface="Calibri" pitchFamily="34" charset="0"/>
                <a:ea typeface="Calibri" pitchFamily="34" charset="-122"/>
                <a:cs typeface="Calibri" pitchFamily="34" charset="-120"/>
              </a:rPr>
              <a:t>search nodes to solve the published 7×7 —</a:t>
            </a:r>
            <a:endParaRPr lang="en-US" sz="1200" dirty="0"/>
          </a:p>
          <a:p>
            <a:pPr marL="0" indent="0">
              <a:buNone/>
            </a:pPr>
            <a:r>
              <a:rPr lang="en-US" sz="1200" dirty="0">
                <a:solidFill>
                  <a:srgbClr val="F2EFE7"/>
                </a:solidFill>
                <a:latin typeface="Calibri" pitchFamily="34" charset="0"/>
                <a:ea typeface="Calibri" pitchFamily="34" charset="-122"/>
                <a:cs typeface="Calibri" pitchFamily="34" charset="-120"/>
              </a:rPr>
              <a:t>full inference derives it by propagation alone</a:t>
            </a:r>
            <a:endParaRPr lang="en-US" sz="1200" dirty="0"/>
          </a:p>
        </p:txBody>
      </p:sp>
      <p:sp>
        <p:nvSpPr>
          <p:cNvPr id="5" name="Text 3"/>
          <p:cNvSpPr/>
          <p:nvPr/>
        </p:nvSpPr>
        <p:spPr>
          <a:xfrm>
            <a:off x="6126480" y="1051560"/>
            <a:ext cx="1828800" cy="777240"/>
          </a:xfrm>
          <a:prstGeom prst="rect">
            <a:avLst/>
          </a:prstGeom>
          <a:noFill/>
          <a:ln/>
        </p:spPr>
        <p:txBody>
          <a:bodyPr wrap="square" lIns="0" tIns="0" rIns="0" bIns="0" rtlCol="0" anchor="ctr"/>
          <a:lstStyle/>
          <a:p>
            <a:pPr marL="0" indent="0">
              <a:buNone/>
            </a:pPr>
            <a:r>
              <a:rPr lang="en-US" sz="4400" b="1" dirty="0">
                <a:solidFill>
                  <a:srgbClr val="8FD694"/>
                </a:solidFill>
                <a:latin typeface="Arial" pitchFamily="34" charset="0"/>
                <a:ea typeface="Arial" pitchFamily="34" charset="-122"/>
                <a:cs typeface="Arial" pitchFamily="34" charset="-120"/>
              </a:rPr>
              <a:t>75/75</a:t>
            </a:r>
            <a:endParaRPr lang="en-US" sz="4400" dirty="0"/>
          </a:p>
        </p:txBody>
      </p:sp>
      <p:sp>
        <p:nvSpPr>
          <p:cNvPr id="6" name="Text 4"/>
          <p:cNvSpPr/>
          <p:nvPr/>
        </p:nvSpPr>
        <p:spPr>
          <a:xfrm>
            <a:off x="8001000" y="1170432"/>
            <a:ext cx="3657600" cy="640080"/>
          </a:xfrm>
          <a:prstGeom prst="rect">
            <a:avLst/>
          </a:prstGeom>
          <a:noFill/>
          <a:ln/>
        </p:spPr>
        <p:txBody>
          <a:bodyPr wrap="square" lIns="0" tIns="0" rIns="0" bIns="0" rtlCol="0" anchor="ctr"/>
          <a:lstStyle/>
          <a:p>
            <a:pPr marL="0" indent="0">
              <a:buNone/>
            </a:pPr>
            <a:r>
              <a:rPr lang="en-US" sz="1200" dirty="0">
                <a:solidFill>
                  <a:srgbClr val="F2EFE7"/>
                </a:solidFill>
                <a:latin typeface="Calibri" pitchFamily="34" charset="0"/>
                <a:ea typeface="Calibri" pitchFamily="34" charset="-122"/>
                <a:cs typeface="Calibri" pitchFamily="34" charset="-120"/>
              </a:rPr>
              <a:t>generated instances solved by full inference,</a:t>
            </a:r>
            <a:endParaRPr lang="en-US" sz="1200" dirty="0"/>
          </a:p>
          <a:p>
            <a:pPr marL="0" indent="0">
              <a:buNone/>
            </a:pPr>
            <a:r>
              <a:rPr lang="en-US" sz="1200" dirty="0">
                <a:solidFill>
                  <a:srgbClr val="F2EFE7"/>
                </a:solidFill>
                <a:latin typeface="Calibri" pitchFamily="34" charset="0"/>
                <a:ea typeface="Calibri" pitchFamily="34" charset="-122"/>
                <a:cs typeface="Calibri" pitchFamily="34" charset="-120"/>
              </a:rPr>
              <a:t>all sizes &amp; difficulties — the only 100 % solver</a:t>
            </a:r>
            <a:endParaRPr lang="en-US" sz="1200" dirty="0"/>
          </a:p>
        </p:txBody>
      </p:sp>
      <p:pic>
        <p:nvPicPr>
          <p:cNvPr id="7" name="Image 0" descr="C:\Users\Annie\Desktop\AUA\Artificial Intelligence\GroupProject\LightUp\experiments\results\fig1_bt_scaling.png"/>
          <p:cNvPicPr>
            <a:picLocks noChangeAspect="1"/>
          </p:cNvPicPr>
          <p:nvPr/>
        </p:nvPicPr>
        <p:blipFill>
          <a:blip r:embed="rId3"/>
          <a:stretch>
            <a:fillRect/>
          </a:stretch>
        </p:blipFill>
        <p:spPr>
          <a:xfrm>
            <a:off x="777240" y="2057400"/>
            <a:ext cx="10607040" cy="4242816"/>
          </a:xfrm>
          <a:prstGeom prst="rect">
            <a:avLst/>
          </a:prstGeom>
        </p:spPr>
      </p:pic>
      <p:sp>
        <p:nvSpPr>
          <p:cNvPr id="8" name="Text 5"/>
          <p:cNvSpPr/>
          <p:nvPr/>
        </p:nvSpPr>
        <p:spPr>
          <a:xfrm>
            <a:off x="777240" y="6327648"/>
            <a:ext cx="10607040" cy="502920"/>
          </a:xfrm>
          <a:prstGeom prst="rect">
            <a:avLst/>
          </a:prstGeom>
          <a:noFill/>
          <a:ln/>
        </p:spPr>
        <p:txBody>
          <a:bodyPr wrap="square" lIns="0" tIns="0" rIns="0" bIns="0" rtlCol="0" anchor="ctr"/>
          <a:lstStyle/>
          <a:p>
            <a:pPr marL="0" indent="0">
              <a:buNone/>
            </a:pPr>
            <a:r>
              <a:rPr lang="en-US" sz="1150" i="1" dirty="0">
                <a:solidFill>
                  <a:srgbClr val="A9A6B0"/>
                </a:solidFill>
                <a:latin typeface="Calibri" pitchFamily="34" charset="0"/>
                <a:ea typeface="Calibri" pitchFamily="34" charset="-122"/>
                <a:cs typeface="Calibri" pitchFamily="34" charset="-120"/>
              </a:rPr>
              <a:t>Naive BT leaves the chart after 18×18 (0 % solved at 25×25). The honest nuance: full inference needs ~2× fewer nodes than forward checking, yet fc is slightly faster per board at large sizes — propagation costs time per node.</a:t>
            </a:r>
            <a:endParaRPr lang="en-US" sz="1150" dirty="0"/>
          </a:p>
        </p:txBody>
      </p:sp>
      <p:sp>
        <p:nvSpPr>
          <p:cNvPr id="10" name="Text 6"/>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Results — complete vs. local search</a:t>
            </a:r>
            <a:endParaRPr lang="en-US" sz="3000" dirty="0"/>
          </a:p>
        </p:txBody>
      </p:sp>
      <p:pic>
        <p:nvPicPr>
          <p:cNvPr id="3" name="Image 0" descr="C:\Users\Annie\Desktop\AUA\Artificial Intelligence\GroupProject\LightUp\experiments\results\fig2_paradigms.png"/>
          <p:cNvPicPr>
            <a:picLocks noChangeAspect="1"/>
          </p:cNvPicPr>
          <p:nvPr/>
        </p:nvPicPr>
        <p:blipFill>
          <a:blip r:embed="rId3"/>
          <a:srcRect/>
          <a:stretch/>
        </p:blipFill>
        <p:spPr>
          <a:xfrm>
            <a:off x="548640" y="1371600"/>
            <a:ext cx="7040880" cy="4480560"/>
          </a:xfrm>
          <a:prstGeom prst="rect">
            <a:avLst/>
          </a:prstGeom>
        </p:spPr>
      </p:pic>
      <p:sp>
        <p:nvSpPr>
          <p:cNvPr id="4" name="Text 1"/>
          <p:cNvSpPr/>
          <p:nvPr/>
        </p:nvSpPr>
        <p:spPr>
          <a:xfrm>
            <a:off x="7818120" y="1508760"/>
            <a:ext cx="3840480" cy="4572000"/>
          </a:xfrm>
          <a:prstGeom prst="rect">
            <a:avLst/>
          </a:prstGeom>
          <a:noFill/>
          <a:ln/>
        </p:spPr>
        <p:txBody>
          <a:bodyPr wrap="square" lIns="0" tIns="0" rIns="0" bIns="0" rtlCol="0" anchor="t"/>
          <a:lstStyle/>
          <a:p>
            <a:pPr marL="0" indent="0">
              <a:spcAft>
                <a:spcPts val="800"/>
              </a:spcAft>
              <a:buNone/>
            </a:pPr>
            <a:r>
              <a:rPr lang="en-US" sz="1400" b="1" dirty="0">
                <a:solidFill>
                  <a:srgbClr val="F2EFE7"/>
                </a:solidFill>
                <a:latin typeface="Arial" pitchFamily="34" charset="0"/>
                <a:ea typeface="Arial" pitchFamily="34" charset="-122"/>
                <a:cs typeface="Arial" pitchFamily="34" charset="-120"/>
              </a:rPr>
              <a:t>What the sweep shows:</a:t>
            </a:r>
            <a:endParaRPr lang="en-US" sz="1400" dirty="0"/>
          </a:p>
          <a:p>
            <a:pPr marL="342900" indent="-342900">
              <a:spcAft>
                <a:spcPts val="800"/>
              </a:spcAft>
              <a:buSzPct val="100000"/>
              <a:buChar char="•"/>
            </a:pPr>
            <a:r>
              <a:rPr lang="en-US" sz="1300" dirty="0">
                <a:solidFill>
                  <a:srgbClr val="F2EFE7"/>
                </a:solidFill>
                <a:latin typeface="Calibri" pitchFamily="34" charset="0"/>
                <a:ea typeface="Calibri" pitchFamily="34" charset="-122"/>
                <a:cs typeface="Calibri" pitchFamily="34" charset="-120"/>
              </a:rPr>
              <a:t>SA ≫ HC everywhere: 19/25 vs 11/25 hard instances solved (60 % vs 28 % over the whole sweep) — reproducing Perera et al. (2021) with our own implementation.</a:t>
            </a:r>
            <a:endParaRPr lang="en-US" sz="1400" dirty="0"/>
          </a:p>
          <a:p>
            <a:pPr marL="342900" indent="-342900">
              <a:spcAft>
                <a:spcPts val="800"/>
              </a:spcAft>
              <a:buSzPct val="100000"/>
              <a:buChar char="•"/>
            </a:pPr>
            <a:r>
              <a:rPr lang="en-US" sz="1300" dirty="0">
                <a:solidFill>
                  <a:srgbClr val="F2EFE7"/>
                </a:solidFill>
                <a:latin typeface="Calibri" pitchFamily="34" charset="0"/>
                <a:ea typeface="Calibri" pitchFamily="34" charset="-122"/>
                <a:cs typeface="Calibri" pitchFamily="34" charset="-120"/>
              </a:rPr>
              <a:t>HC's signature failure: stuck ONE violation from the goal (one 20 s run: 12,496 restarts, never closed it).</a:t>
            </a:r>
            <a:endParaRPr lang="en-US" sz="1400" dirty="0"/>
          </a:p>
          <a:p>
            <a:pPr marL="342900" indent="-342900">
              <a:spcAft>
                <a:spcPts val="800"/>
              </a:spcAft>
              <a:buSzPct val="100000"/>
              <a:buChar char="•"/>
            </a:pPr>
            <a:r>
              <a:rPr lang="en-US" sz="1300" dirty="0">
                <a:solidFill>
                  <a:srgbClr val="F2EFE7"/>
                </a:solidFill>
                <a:latin typeface="Calibri" pitchFamily="34" charset="0"/>
                <a:ea typeface="Calibri" pitchFamily="34" charset="-122"/>
                <a:cs typeface="Calibri" pitchFamily="34" charset="-120"/>
              </a:rPr>
              <a:t>Within a 5 s budget, complete search with inference dominates at every size we tested; local search's appeal here is simplicity, not speed.</a:t>
            </a:r>
            <a:endParaRPr lang="en-US" sz="1400" dirty="0"/>
          </a:p>
          <a:p>
            <a:pPr marL="342900" indent="-342900">
              <a:buSzPct val="100000"/>
              <a:buChar char="•"/>
            </a:pPr>
            <a:r>
              <a:rPr lang="en-US" sz="1300" dirty="0">
                <a:solidFill>
                  <a:srgbClr val="A9A6B0"/>
                </a:solidFill>
                <a:latin typeface="Calibri" pitchFamily="34" charset="0"/>
                <a:ea typeface="Calibri" pitchFamily="34" charset="-122"/>
                <a:cs typeface="Calibri" pitchFamily="34" charset="-120"/>
              </a:rPr>
              <a:t>Both local solvers are incomplete: they can never prove a board unsolvable.</a:t>
            </a:r>
            <a:endParaRPr lang="en-US" sz="1400" dirty="0"/>
          </a:p>
        </p:txBody>
      </p:sp>
      <p:sp>
        <p:nvSpPr>
          <p:cNvPr id="6" name="Text 2"/>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Results — what makes an instance hard?</a:t>
            </a:r>
            <a:endParaRPr lang="en-US" sz="3000" dirty="0"/>
          </a:p>
        </p:txBody>
      </p:sp>
      <p:pic>
        <p:nvPicPr>
          <p:cNvPr id="3" name="Image 0" descr="C:\Users\Annie\Desktop\AUA\Artificial Intelligence\GroupProject\LightUp\experiments\results\fig3_difficulty.png"/>
          <p:cNvPicPr>
            <a:picLocks noChangeAspect="1"/>
          </p:cNvPicPr>
          <p:nvPr/>
        </p:nvPicPr>
        <p:blipFill>
          <a:blip r:embed="rId3"/>
          <a:srcRect/>
          <a:stretch/>
        </p:blipFill>
        <p:spPr>
          <a:xfrm>
            <a:off x="548640" y="1371600"/>
            <a:ext cx="7040880" cy="4480560"/>
          </a:xfrm>
          <a:prstGeom prst="rect">
            <a:avLst/>
          </a:prstGeom>
        </p:spPr>
      </p:pic>
      <p:sp>
        <p:nvSpPr>
          <p:cNvPr id="4" name="Text 1"/>
          <p:cNvSpPr/>
          <p:nvPr/>
        </p:nvSpPr>
        <p:spPr>
          <a:xfrm>
            <a:off x="7818120" y="1508760"/>
            <a:ext cx="3840480" cy="4572000"/>
          </a:xfrm>
          <a:prstGeom prst="rect">
            <a:avLst/>
          </a:prstGeom>
          <a:noFill/>
          <a:ln/>
        </p:spPr>
        <p:txBody>
          <a:bodyPr wrap="square" lIns="0" tIns="0" rIns="0" bIns="0" rtlCol="0" anchor="t"/>
          <a:lstStyle/>
          <a:p>
            <a:pPr marL="0" indent="0">
              <a:spcAft>
                <a:spcPts val="800"/>
              </a:spcAft>
              <a:buNone/>
            </a:pPr>
            <a:r>
              <a:rPr lang="en-US" sz="1400" b="1" dirty="0">
                <a:solidFill>
                  <a:srgbClr val="F2EFE7"/>
                </a:solidFill>
                <a:latin typeface="Arial" pitchFamily="34" charset="0"/>
                <a:ea typeface="Arial" pitchFamily="34" charset="-122"/>
                <a:cs typeface="Arial" pitchFamily="34" charset="-120"/>
              </a:rPr>
              <a:t>Two surprises at 14×14:</a:t>
            </a:r>
            <a:endParaRPr lang="en-US" sz="1400" dirty="0"/>
          </a:p>
          <a:p>
            <a:pPr marL="342900" indent="-342900">
              <a:spcAft>
                <a:spcPts val="800"/>
              </a:spcAft>
              <a:buSzPct val="100000"/>
              <a:buChar char="•"/>
            </a:pPr>
            <a:r>
              <a:rPr lang="en-US" sz="1300" dirty="0">
                <a:solidFill>
                  <a:srgbClr val="F2EFE7"/>
                </a:solidFill>
                <a:latin typeface="Calibri" pitchFamily="34" charset="0"/>
                <a:ea typeface="Calibri" pitchFamily="34" charset="-122"/>
                <a:cs typeface="Calibri" pitchFamily="34" charset="-120"/>
              </a:rPr>
              <a:t>Our sparse “hard” preset is often FASTER for solvers: fewer clues → more valid solutions → any one is easier to find. Human difficulty ≠ search difficulty.</a:t>
            </a:r>
            <a:endParaRPr lang="en-US" sz="1400" dirty="0"/>
          </a:p>
          <a:p>
            <a:pPr marL="342900" indent="-342900">
              <a:spcAft>
                <a:spcPts val="800"/>
              </a:spcAft>
              <a:buSzPct val="100000"/>
              <a:buChar char="•"/>
            </a:pPr>
            <a:r>
              <a:rPr lang="en-US" sz="1300" dirty="0">
                <a:solidFill>
                  <a:srgbClr val="F2EFE7"/>
                </a:solidFill>
                <a:latin typeface="Calibri" pitchFamily="34" charset="0"/>
                <a:ea typeface="Calibri" pitchFamily="34" charset="-122"/>
                <a:cs typeface="Calibri" pitchFamily="34" charset="-120"/>
              </a:rPr>
              <a:t>Hill climbing inverts the pattern: it solved NOTHING at easy/medium density but sometimes cracked hard boards — dense clue terms roughen the landscape with local optima (missing bars = zero solved).</a:t>
            </a:r>
            <a:endParaRPr lang="en-US" sz="1400" dirty="0"/>
          </a:p>
          <a:p>
            <a:pPr marL="342900" indent="-342900">
              <a:buSzPct val="100000"/>
              <a:buChar char="•"/>
            </a:pPr>
            <a:r>
              <a:rPr lang="en-US" sz="1300" dirty="0">
                <a:solidFill>
                  <a:srgbClr val="F2EFE7"/>
                </a:solidFill>
                <a:latin typeface="Calibri" pitchFamily="34" charset="0"/>
                <a:ea typeface="Calibri" pitchFamily="34" charset="-122"/>
                <a:cs typeface="Calibri" pitchFamily="34" charset="-120"/>
              </a:rPr>
              <a:t>Full inference is the most stable across densities: 1–4 ms medians everywhere.</a:t>
            </a:r>
            <a:endParaRPr lang="en-US" sz="1400" dirty="0"/>
          </a:p>
        </p:txBody>
      </p:sp>
      <p:sp>
        <p:nvSpPr>
          <p:cNvPr id="6" name="Text 2"/>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Robustness — is the 5 s budget arbitrary?</a:t>
            </a:r>
            <a:endParaRPr lang="en-US" sz="3000" dirty="0"/>
          </a:p>
        </p:txBody>
      </p:sp>
      <p:pic>
        <p:nvPicPr>
          <p:cNvPr id="3" name="Image 0" descr="C:\Users\Annie\Desktop\AUA\Artificial Intelligence\GroupProject\LightUp\experiments\results\fig4_budget.png"/>
          <p:cNvPicPr>
            <a:picLocks noChangeAspect="1"/>
          </p:cNvPicPr>
          <p:nvPr/>
        </p:nvPicPr>
        <p:blipFill>
          <a:blip r:embed="rId3"/>
          <a:stretch>
            <a:fillRect/>
          </a:stretch>
        </p:blipFill>
        <p:spPr>
          <a:xfrm>
            <a:off x="2258568" y="1234440"/>
            <a:ext cx="7680960" cy="4270248"/>
          </a:xfrm>
          <a:prstGeom prst="rect">
            <a:avLst/>
          </a:prstGeom>
        </p:spPr>
      </p:pic>
      <p:sp>
        <p:nvSpPr>
          <p:cNvPr id="4" name="Text 1"/>
          <p:cNvSpPr/>
          <p:nvPr/>
        </p:nvSpPr>
        <p:spPr>
          <a:xfrm>
            <a:off x="1371600" y="5715000"/>
            <a:ext cx="9418320" cy="868680"/>
          </a:xfrm>
          <a:prstGeom prst="rect">
            <a:avLst/>
          </a:prstGeom>
          <a:noFill/>
          <a:ln/>
        </p:spPr>
        <p:txBody>
          <a:bodyPr wrap="square" lIns="0" tIns="0" rIns="0" bIns="0" rtlCol="0" anchor="ctr"/>
          <a:lstStyle/>
          <a:p>
            <a:pPr marL="0" indent="0" algn="ctr">
              <a:buNone/>
            </a:pPr>
            <a:r>
              <a:rPr lang="en-US" sz="1300" i="1" dirty="0">
                <a:solidFill>
                  <a:srgbClr val="A9A6B0"/>
                </a:solidFill>
                <a:latin typeface="Calibri" pitchFamily="34" charset="0"/>
                <a:ea typeface="Calibri" pitchFamily="34" charset="-122"/>
                <a:cs typeface="Calibri" pitchFamily="34" charset="-120"/>
              </a:rPr>
              <a:t>Doubling the budget on identical instances changed at most 3 results out of 75 per solver — and hill climbing gained exactly zero. More time helps solvers that are slow, not solvers that are stuck: the ranking is structural, not a timeout artifact.</a:t>
            </a:r>
            <a:endParaRPr lang="en-US" sz="1300" dirty="0"/>
          </a:p>
        </p:txBody>
      </p:sp>
      <p:sp>
        <p:nvSpPr>
          <p:cNvPr id="6" name="Text 2"/>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Conclusions</a:t>
            </a:r>
            <a:endParaRPr lang="en-US" sz="3000" dirty="0"/>
          </a:p>
        </p:txBody>
      </p:sp>
      <p:sp>
        <p:nvSpPr>
          <p:cNvPr id="3" name="Text 1"/>
          <p:cNvSpPr/>
          <p:nvPr/>
        </p:nvSpPr>
        <p:spPr>
          <a:xfrm>
            <a:off x="640080" y="1463040"/>
            <a:ext cx="10881360" cy="38404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F2EFE7"/>
                </a:solidFill>
                <a:latin typeface="Calibri" pitchFamily="34" charset="0"/>
                <a:ea typeface="Calibri" pitchFamily="34" charset="-122"/>
                <a:cs typeface="Calibri" pitchFamily="34" charset="-120"/>
              </a:rPr>
              <a:t>Inference is the story: full propagation solved all 75 generated instances — the only 100 % solver — and cracked the published 7×7 with zero search nodes.</a:t>
            </a:r>
            <a:endParaRPr lang="en-US" sz="1500" dirty="0"/>
          </a:p>
          <a:p>
            <a:pPr marL="342900" indent="-342900">
              <a:spcAft>
                <a:spcPts val="1000"/>
              </a:spcAft>
              <a:buSzPct val="100000"/>
              <a:buChar char="•"/>
            </a:pPr>
            <a:r>
              <a:rPr lang="en-US" sz="1500" dirty="0">
                <a:solidFill>
                  <a:srgbClr val="F2EFE7"/>
                </a:solidFill>
                <a:latin typeface="Calibri" pitchFamily="34" charset="0"/>
                <a:ea typeface="Calibri" pitchFamily="34" charset="-122"/>
                <a:cs typeface="Calibri" pitchFamily="34" charset="-120"/>
              </a:rPr>
              <a:t>Fewer nodes ≠ less time: full inference needs ~2× fewer nodes than forward checking, but propagation overhead makes fc slightly faster per board at 25×25.</a:t>
            </a:r>
            <a:endParaRPr lang="en-US" sz="1500" dirty="0"/>
          </a:p>
          <a:p>
            <a:pPr marL="342900" indent="-342900">
              <a:spcAft>
                <a:spcPts val="1000"/>
              </a:spcAft>
              <a:buSzPct val="100000"/>
              <a:buChar char="•"/>
            </a:pPr>
            <a:r>
              <a:rPr lang="en-US" sz="1500" dirty="0">
                <a:solidFill>
                  <a:srgbClr val="F2EFE7"/>
                </a:solidFill>
                <a:latin typeface="Calibri" pitchFamily="34" charset="0"/>
                <a:ea typeface="Calibri" pitchFamily="34" charset="-122"/>
                <a:cs typeface="Calibri" pitchFamily="34" charset="-120"/>
              </a:rPr>
              <a:t>Simulated annealing solved 60 % of all instances vs. 28 % for hill climbing (76 % vs 44 % on hard) — reproducing Perera et al.; HC's signature failure is stalling one violation from the goal.</a:t>
            </a:r>
            <a:endParaRPr lang="en-US" sz="1500" dirty="0"/>
          </a:p>
          <a:p>
            <a:pPr marL="342900" indent="-342900">
              <a:spcAft>
                <a:spcPts val="1000"/>
              </a:spcAft>
              <a:buSzPct val="100000"/>
              <a:buChar char="•"/>
            </a:pPr>
            <a:r>
              <a:rPr lang="en-US" sz="1500" dirty="0">
                <a:solidFill>
                  <a:srgbClr val="F2EFE7"/>
                </a:solidFill>
                <a:latin typeface="Calibri" pitchFamily="34" charset="0"/>
                <a:ea typeface="Calibri" pitchFamily="34" charset="-122"/>
                <a:cs typeface="Calibri" pitchFamily="34" charset="-120"/>
              </a:rPr>
              <a:t>Sparser boards were often EASIER for solvers (more solutions to find) — density presets model human difficulty, not search difficulty.</a:t>
            </a:r>
            <a:endParaRPr lang="en-US" sz="1500" dirty="0"/>
          </a:p>
          <a:p>
            <a:pPr marL="342900" indent="-342900">
              <a:buSzPct val="100000"/>
              <a:buChar char="•"/>
            </a:pPr>
            <a:r>
              <a:rPr lang="en-US" sz="1500" dirty="0">
                <a:solidFill>
                  <a:srgbClr val="F2EFE7"/>
                </a:solidFill>
                <a:latin typeface="Calibri" pitchFamily="34" charset="0"/>
                <a:ea typeface="Calibri" pitchFamily="34" charset="-122"/>
                <a:cs typeface="Calibri" pitchFamily="34" charset="-120"/>
              </a:rPr>
              <a:t>Future work: uniqueness-filtered generation, AC-3 / MAC on the binary constraints, difficulty calibration from measured search effort.</a:t>
            </a:r>
            <a:endParaRPr lang="en-US" sz="1500" dirty="0"/>
          </a:p>
        </p:txBody>
      </p:sp>
      <p:sp>
        <p:nvSpPr>
          <p:cNvPr id="4" name="Shape 2"/>
          <p:cNvSpPr/>
          <p:nvPr/>
        </p:nvSpPr>
        <p:spPr>
          <a:xfrm>
            <a:off x="640080" y="5486400"/>
            <a:ext cx="10881360" cy="822960"/>
          </a:xfrm>
          <a:prstGeom prst="roundRect">
            <a:avLst>
              <a:gd name="adj" fmla="val 8889"/>
            </a:avLst>
          </a:prstGeom>
          <a:solidFill>
            <a:srgbClr val="2B2B35"/>
          </a:solidFill>
          <a:ln/>
        </p:spPr>
      </p:sp>
      <p:sp>
        <p:nvSpPr>
          <p:cNvPr id="5" name="Text 3"/>
          <p:cNvSpPr/>
          <p:nvPr/>
        </p:nvSpPr>
        <p:spPr>
          <a:xfrm>
            <a:off x="640080" y="5486400"/>
            <a:ext cx="10881360" cy="822960"/>
          </a:xfrm>
          <a:prstGeom prst="rect">
            <a:avLst/>
          </a:prstGeom>
          <a:noFill/>
          <a:ln/>
        </p:spPr>
        <p:txBody>
          <a:bodyPr wrap="square" lIns="0" tIns="0" rIns="0" bIns="0" rtlCol="0" anchor="ctr"/>
          <a:lstStyle/>
          <a:p>
            <a:pPr marL="0" indent="0" algn="ctr">
              <a:buNone/>
            </a:pPr>
            <a:r>
              <a:rPr lang="en-US" sz="1600" b="1" dirty="0">
                <a:solidFill>
                  <a:srgbClr val="FFD23F"/>
                </a:solidFill>
                <a:latin typeface="Arial" pitchFamily="34" charset="0"/>
                <a:ea typeface="Arial" pitchFamily="34" charset="-122"/>
                <a:cs typeface="Arial" pitchFamily="34" charset="-120"/>
              </a:rPr>
              <a:t>Thank you — questions welcome.</a:t>
            </a:r>
            <a:endParaRPr lang="en-US" sz="1600" dirty="0"/>
          </a:p>
        </p:txBody>
      </p:sp>
      <p:sp>
        <p:nvSpPr>
          <p:cNvPr id="7" name="Text 4"/>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References</a:t>
            </a:r>
            <a:endParaRPr lang="en-US" sz="3000" dirty="0"/>
          </a:p>
        </p:txBody>
      </p:sp>
      <p:sp>
        <p:nvSpPr>
          <p:cNvPr id="3" name="Text 1"/>
          <p:cNvSpPr/>
          <p:nvPr/>
        </p:nvSpPr>
        <p:spPr>
          <a:xfrm>
            <a:off x="640080" y="1463040"/>
            <a:ext cx="10881360" cy="411480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B. McPhail (2005). Light Up is NP-complete.</a:t>
            </a:r>
            <a:endParaRPr lang="en-US" sz="1400" dirty="0"/>
          </a:p>
          <a:p>
            <a:pPr marL="342900" indent="-342900">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B. Pulles (2021). Analysis of Akari. Bachelor thesis, Radboud University.</a:t>
            </a:r>
            <a:endParaRPr lang="en-US" sz="1400" dirty="0"/>
          </a:p>
          <a:p>
            <a:pPr marL="342900" indent="-342900">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L. Sun, J. Browning, R. Perera (2021). Shedding Some Light on Light Up with Artificial Intelligence. arXiv:2107.10429.</a:t>
            </a:r>
            <a:endParaRPr lang="en-US" sz="1400" dirty="0"/>
          </a:p>
          <a:p>
            <a:pPr marL="342900" indent="-342900">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S. Salcedo-Sanz et al. (2009). A nested two-steps evolutionary algorithm for the light-up puzzle. ICGA Journal 32.</a:t>
            </a:r>
            <a:endParaRPr lang="en-US" sz="1400" dirty="0"/>
          </a:p>
          <a:p>
            <a:pPr marL="342900" indent="-342900">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S. Russell, P. Norvig (2021). Artificial Intelligence: A Modern Approach, 4th ed. — Chapters 3, 4, 6.</a:t>
            </a:r>
            <a:endParaRPr lang="en-US" sz="1400" dirty="0"/>
          </a:p>
          <a:p>
            <a:pPr marL="342900" indent="-342900">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puzzle-light-up.com — rules and reference instances.</a:t>
            </a:r>
            <a:endParaRPr lang="en-US" sz="1400" dirty="0"/>
          </a:p>
        </p:txBody>
      </p:sp>
      <p:sp>
        <p:nvSpPr>
          <p:cNvPr id="5" name="Text 2"/>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1911</Words>
  <Application>Microsoft Office PowerPoint</Application>
  <PresentationFormat>Widescreen</PresentationFormat>
  <Paragraphs>138</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Ani Baghumyan</cp:lastModifiedBy>
  <cp:revision>2</cp:revision>
  <dcterms:created xsi:type="dcterms:W3CDTF">2026-07-24T09:23:26Z</dcterms:created>
  <dcterms:modified xsi:type="dcterms:W3CDTF">2026-07-24T09:38:41Z</dcterms:modified>
</cp:coreProperties>
</file>