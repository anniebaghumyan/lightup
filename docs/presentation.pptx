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892" autoAdjust="0"/>
    <p:restoredTop sz="84383" autoAdjust="0"/>
  </p:normalViewPr>
  <p:slideViewPr>
    <p:cSldViewPr snapToGrid="0" snapToObjects="1">
      <p:cViewPr varScale="1">
        <p:scale>
          <a:sx n="93" d="100"/>
          <a:sy n="93" d="100"/>
        </p:scale>
        <p:origin x="47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0503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[~30 s]</a:t>
            </a:r>
          </a:p>
          <a:p>
            <a:endParaRPr dirty="0"/>
          </a:p>
          <a:p>
            <a:r>
              <a:rPr dirty="0"/>
              <a:t>Good morning. Our project is </a:t>
            </a:r>
            <a:r>
              <a:rPr dirty="0" err="1"/>
              <a:t>LightUp</a:t>
            </a:r>
            <a:r>
              <a:rPr dirty="0"/>
              <a:t> — also known as </a:t>
            </a:r>
            <a:r>
              <a:rPr dirty="0" err="1"/>
              <a:t>Akari</a:t>
            </a:r>
            <a:r>
              <a:rPr dirty="0"/>
              <a:t> — a Japanese logic puzzle. We built the game itself, and then made five different AI solvers compete on it. The board you see here is a published puzzle, solved by our own system. Let me start with the rules.</a:t>
            </a:r>
          </a:p>
          <a:p>
            <a:endParaRPr dirty="0"/>
          </a:p>
          <a:p>
            <a:r>
              <a:rPr dirty="0"/>
              <a:t>(Cue: One presenter opens; keep it moving.)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 min]</a:t>
            </a:r>
          </a:p>
          <a:p>
            <a:endParaRPr dirty="0"/>
          </a:p>
          <a:p>
            <a:r>
              <a:rPr dirty="0" err="1"/>
              <a:t>LightUp</a:t>
            </a:r>
            <a:r>
              <a:rPr dirty="0"/>
              <a:t> has three rules. You place light bulbs on white cells. Rule one: every white cell must be lit — a bulb lights its whole row and column until a wall blocks the light. Rule two: no bulb may shine on another bulb. Rule three: a numbered wall must have exactly that many bulbs next to it — exactly, not at most. In this small example the corner two forces both of its neighbors, and one more bulb finishes the board. </a:t>
            </a:r>
            <a:endParaRPr lang="en-US" dirty="0"/>
          </a:p>
          <a:p>
            <a:endParaRPr lang="en-US" dirty="0"/>
          </a:p>
          <a:p>
            <a:r>
              <a:rPr b="1" dirty="0">
                <a:solidFill>
                  <a:srgbClr val="C00000"/>
                </a:solidFill>
              </a:rPr>
              <a:t>One detail worth remembering</a:t>
            </a:r>
            <a:r>
              <a:rPr dirty="0"/>
              <a:t>: nothing in the rules says a puzzle has only one solution — uniqueness is a publishing convention</a:t>
            </a:r>
            <a:r>
              <a:rPr lang="en-US" dirty="0"/>
              <a:t>, </a:t>
            </a:r>
            <a:r>
              <a:rPr lang="en-US" b="1" dirty="0"/>
              <a:t>and that detail will come back in our results</a:t>
            </a:r>
            <a:r>
              <a:rPr dirty="0"/>
              <a:t>.</a:t>
            </a:r>
          </a:p>
          <a:p>
            <a:endParaRPr dirty="0"/>
          </a:p>
          <a:p>
            <a:r>
              <a:rPr dirty="0"/>
              <a:t>(Cue: Point at the 3x3 while explaining. Do not dwell.)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 min]</a:t>
            </a:r>
          </a:p>
          <a:p>
            <a:endParaRPr dirty="0"/>
          </a:p>
          <a:p>
            <a:r>
              <a:rPr dirty="0"/>
              <a:t>Why is this a good AI problem? Three reasons. First, it is NP-complete: it was proven in 2005 to be as hard as circuit satisfiability. Second, it is a very clean constraint-satisfaction problem: one binary variable per white cell. Third, it scales: our generator produces boards from three-by-three up to twenty-five-by-twenty-five with tunable difficulty, which gives us unlimited test data. Earlier work solved </a:t>
            </a:r>
            <a:r>
              <a:rPr dirty="0" err="1"/>
              <a:t>LightUp</a:t>
            </a:r>
            <a:r>
              <a:rPr dirty="0"/>
              <a:t> three ways: by translating it into SAT, by modelling it as a constraint problem, and with local search. Our two solver families follow the last two — and later we check whether the published local-search finding still holds on our own instances.</a:t>
            </a:r>
          </a:p>
          <a:p>
            <a:endParaRPr dirty="0"/>
          </a:p>
          <a:p>
            <a:r>
              <a:rPr dirty="0"/>
              <a:t>(Cue: Prior work stays at one sentence — the course asks for brevity here.)</a:t>
            </a:r>
          </a:p>
          <a:p>
            <a:endParaRPr dirty="0"/>
          </a:p>
          <a:p>
            <a:r>
              <a:rPr dirty="0"/>
              <a:t>(Q&amp;A trap: if NP-complete, why did you solve 25x25 in 20 </a:t>
            </a:r>
            <a:r>
              <a:rPr dirty="0" err="1"/>
              <a:t>ms</a:t>
            </a:r>
            <a:r>
              <a:rPr dirty="0"/>
              <a:t>? Because NP-completeness is a WORST-CASE statement. Puzzle-like instances carry a lot of structure, and inference exploits it; the hard instances the theory guarantees exist are not the ones a puzzle generator usually produces.)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[~45 s]</a:t>
            </a:r>
          </a:p>
          <a:p>
            <a:endParaRPr dirty="0"/>
          </a:p>
          <a:p>
            <a:r>
              <a:rPr dirty="0"/>
              <a:t>Our formulation: one binary variable per white cell — bulb or no bulb. The three rules become three families of constraints: every cell's line of sight must contain at least one bulb; every wall-free segment, at most one; every numbered wall, exactly its number. Whether a cell is lit follows entirely from where the bulbs are</a:t>
            </a:r>
            <a:r>
              <a:rPr lang="en-US" dirty="0"/>
              <a:t>.</a:t>
            </a:r>
          </a:p>
          <a:p>
            <a:endParaRPr dirty="0"/>
          </a:p>
          <a:p>
            <a:r>
              <a:rPr dirty="0"/>
              <a:t>(Cue: Do not explain what a CSP is — covered in the course.)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 min]</a:t>
            </a:r>
          </a:p>
          <a:p>
            <a:endParaRPr dirty="0"/>
          </a:p>
          <a:p>
            <a:pPr algn="l" rtl="0"/>
            <a:r>
              <a:rPr dirty="0"/>
              <a:t>We implemented five solvers in two families. </a:t>
            </a:r>
            <a:endParaRPr lang="en-US" dirty="0"/>
          </a:p>
          <a:p>
            <a:pPr algn="l" rtl="0"/>
            <a:r>
              <a:rPr lang="en-US" b="0" i="0" dirty="0">
                <a:solidFill>
                  <a:srgbClr val="A5A49A"/>
                </a:solidFill>
                <a:effectLst/>
                <a:latin typeface="Anthropic Sans"/>
              </a:rPr>
              <a:t>On the left, backtracking search - it builds a partial assignment, one cell at a time, and backtracks it when stuck. All three are complete. They differ only in how much inference they do.</a:t>
            </a:r>
          </a:p>
          <a:p>
            <a:pPr algn="l" rtl="0"/>
            <a:r>
              <a:rPr lang="en-US" b="0" i="0" dirty="0">
                <a:solidFill>
                  <a:srgbClr val="A5A49A"/>
                </a:solidFill>
                <a:effectLst/>
                <a:latin typeface="Anthropic Sans"/>
              </a:rPr>
              <a:t>Plain backtracking does none. Forward checking deletes values: place a bulb, and every cell it sees loses the option of being a bulb. Full inference keeps applying the constraints until nothing changes - a clue that already has all its bulbs empties the rest, a clue that needs every cell it has left fills them, a cell with one possible light source forces that source. These are the moves a human player makes.</a:t>
            </a:r>
          </a:p>
          <a:p>
            <a:pPr algn="l" rtl="0"/>
            <a:r>
              <a:rPr lang="en-US" b="0" i="0" dirty="0">
                <a:solidFill>
                  <a:srgbClr val="A5A49A"/>
                </a:solidFill>
                <a:effectLst/>
                <a:latin typeface="Anthropic Sans"/>
              </a:rPr>
              <a:t>On the right, local search. Both start from a random fully lit board and repair it, guided by a score that counts broken rules - zero means solved. Both are incomplete. The difference is which moves they accept. Hill climbing takes only improvements, so it stalls at a local optimum and restarts. Simulated annealing sometimes accepts a worse board, less and less over time.</a:t>
            </a:r>
          </a:p>
          <a:p>
            <a:endParaRPr dirty="0"/>
          </a:p>
          <a:p>
            <a:r>
              <a:rPr dirty="0"/>
              <a:t>(Cue: This slide is the experiment design in one picture.)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[~45 s]</a:t>
            </a:r>
          </a:p>
          <a:p>
            <a:endParaRPr dirty="0"/>
          </a:p>
          <a:p>
            <a:r>
              <a:rPr dirty="0"/>
              <a:t>Everything is observable. This is our game </a:t>
            </a:r>
            <a:r>
              <a:rPr lang="en-US" dirty="0"/>
              <a:t>-</a:t>
            </a:r>
            <a:r>
              <a:rPr dirty="0"/>
              <a:t> you can play it yourself. The window animates </a:t>
            </a:r>
            <a:r>
              <a:rPr lang="en-US" dirty="0"/>
              <a:t>all</a:t>
            </a:r>
            <a:r>
              <a:rPr dirty="0"/>
              <a:t> solver</a:t>
            </a:r>
            <a:r>
              <a:rPr lang="en-US" dirty="0"/>
              <a:t>s</a:t>
            </a:r>
            <a:r>
              <a:rPr dirty="0"/>
              <a:t>: in this screenshot the naive solver is mid-search on a ten-by-ten </a:t>
            </a:r>
            <a:r>
              <a:rPr lang="en-US" dirty="0"/>
              <a:t>-</a:t>
            </a:r>
            <a:r>
              <a:rPr dirty="0"/>
              <a:t> the red frame is a conflict it just hit, and the status bar shows it has already tried eighty-eight thousand nodes. This replay tool is how we debugged the solvers, and honestly, how we came to understand them.</a:t>
            </a:r>
          </a:p>
          <a:p>
            <a:endParaRPr dirty="0"/>
          </a:p>
          <a:p>
            <a:r>
              <a:rPr dirty="0"/>
              <a:t>(Cue: If Q&amp;A time allows, a 20-second live solve beats this slide — have the game open in a background window. Never show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[~45 s]</a:t>
            </a:r>
          </a:p>
          <a:p>
            <a:endParaRPr dirty="0"/>
          </a:p>
          <a:p>
            <a:r>
              <a:rPr dirty="0"/>
              <a:t>The experiment: five board sizes from seven to twenty-five, three difficulty presets from clue-dense to sparse, five seeded instances per combination </a:t>
            </a:r>
            <a:r>
              <a:rPr lang="en-US" dirty="0"/>
              <a:t>- </a:t>
            </a:r>
            <a:r>
              <a:rPr dirty="0"/>
              <a:t>seventy-five unique puzzles </a:t>
            </a:r>
            <a:r>
              <a:rPr lang="en-US" dirty="0"/>
              <a:t>-</a:t>
            </a:r>
            <a:r>
              <a:rPr dirty="0"/>
              <a:t> and every solver gets identical puzzles with a five-second budget: three hundred seventy-five runs. And one principle: we judge correctness by the rules themselves, never by comparing to a stored answer, because a board can have several legal solutions.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a:t>
            </a:r>
          </a:p>
          <a:p>
            <a:endParaRPr/>
          </a:p>
          <a:p>
            <a:r>
              <a:t>What does inference buy? On the published seven-by-seven, full inference places every bulb by deduction - no search at all, where the naive solver needs hundreds of guesses. Publishers design puzzles humans can reason through, and our rules are those same steps.</a:t>
            </a:r>
          </a:p>
          <a:p>
            <a:r>
              <a:t>Full inference solved everything we generated - the only solver with a perfect record.</a:t>
            </a:r>
          </a:p>
          <a:p>
            <a:r>
              <a:t>The chart shows the baseline giving up: naive leaves the picture after eighteen-by-eighteen, while both informed variants stay far lower - about ten times fewer nodes at seven-by-seven, and about fifty times fewer by eighteen.</a:t>
            </a:r>
          </a:p>
          <a:p>
            <a:r>
              <a:t>One nuance. Full inference always expands fewer nodes, but propagation is not free - it re-checks every clue at every node, even when nothing new comes out. On clue-rich boards that pays back. On the sparse boards plotted here it does not, and forward checking wins.</a:t>
            </a:r>
          </a:p>
          <a:p>
            <a:endParaRPr/>
          </a:p>
          <a:p>
            <a:r>
              <a:t>(Cue: THE core slide. Say ZERO slowly and let it land. Q&amp;A backup - the exact numbers on that puzzle are 308 naive, 12 forward checking, 0 full; the chart is a median over five GENERATED hard boards, where naive is 94.)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[~1.5 min]</a:t>
            </a:r>
          </a:p>
          <a:p>
            <a:endParaRPr dirty="0"/>
          </a:p>
          <a:p>
            <a:r>
              <a:rPr dirty="0"/>
              <a:t>Now the other paradigm. This chart shows the solve rate within five seconds on hard instances. Simulated annealing clearly beats hill climbing everywhere — nineteen out of twenty-five versus eleven — which independently reproduces the published result of Perera and colleagues. Why does hill climbing fail? It gets stuck. In one twenty-second run it restarted twelve and a half thousand times and ended every attempt exactly one violation away from the goal. That is a local optimum in its purest form — and annealing's willingness to temporarily accept worse states is precisely what escapes it. Overall, though, within this budget, complete search with inference dominated local search at every size we tested. And one structural caveat: local search can never prove a board unsolvable.</a:t>
            </a:r>
          </a:p>
          <a:p>
            <a:endParaRPr dirty="0"/>
          </a:p>
          <a:p>
            <a:r>
              <a:rPr dirty="0"/>
              <a:t>(Cue: The one-violation-away story is the local-optimum concept made concrete — deliver it as a story.)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 min]</a:t>
            </a:r>
          </a:p>
          <a:p>
            <a:endParaRPr dirty="0"/>
          </a:p>
          <a:p>
            <a:r>
              <a:rPr dirty="0"/>
              <a:t>What makes an instance hard? Here we got a genuine surprise. Our hard preset — few walls, few clues — is hard for humans, but often faster for solvers: fewer clues means more valid solutions, and finding any one of them is easier. Hill climbing shows the mirror image: at fourteen-by-fourteen it solved nothing at easy or medium density, but sometimes cracked the sparse boards — dense clues create exactly the local optima that trap it. So our difficulty presets model human difficulty, not search difficult</a:t>
            </a:r>
            <a:r>
              <a:rPr lang="en-US" dirty="0"/>
              <a:t>y</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 s]</a:t>
            </a:r>
          </a:p>
          <a:p>
            <a:endParaRPr dirty="0"/>
          </a:p>
          <a:p>
            <a:r>
              <a:rPr dirty="0"/>
              <a:t>One robustness check: we re-ran the entire sweep with double the budget — almost nothing changed, and hill climbing gained exactly zero — so the ranking you have seen is structural, not an artifact of the timeout.</a:t>
            </a:r>
          </a:p>
          <a:p>
            <a:endParaRPr dirty="0"/>
          </a:p>
          <a:p>
            <a:r>
              <a:rPr dirty="0"/>
              <a:t>(Cue: One sentence, then move on. Q&amp;A backup: predictions were made before the run; the one miss was SA (expected bigger gains) — exponential problems shrug at factors of two.)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a:t>
            </a:r>
          </a:p>
          <a:p>
            <a:endParaRPr/>
          </a:p>
          <a:p>
            <a:r>
              <a:t>To conclude. Inference was the story: full propagation solved everything we generated, and cracked the reference puzzle without any search. Fewer nodes is not the same as less time. Simulated annealing beats hill climbing, confirming prior work — and hill climbing's failures are structural, stuck one step from the goal. Sparse boards turned out easier for solvers than for humans. Future work: generating puzzles with a guaranteed unique solution, writing our own SAT solver so we can compare a clause-based formulation against our constraint-based one, and calibrating difficulty from measured search effort rather than from clue density. Thank you — we are happy to take questions.</a:t>
            </a:r>
          </a:p>
          <a:p>
            <a:endParaRPr/>
          </a:p>
          <a:p>
            <a:r>
              <a:t>(Cue: All three members should have spoken by now.)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[not spoken]</a:t>
            </a:r>
          </a:p>
          <a:p>
            <a:endParaRPr/>
          </a:p>
          <a:p>
            <a:r>
              <a:t>(Cue: Present for completeness and Q&amp;A only.)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D"/>
        </a:solidFill>
        <a:effectLst/>
      </p:bgPr>
    </p:bg>
    <p:spTree>
      <p:nvGrpSpPr>
        <p:cNvPr id="1" name=""/>
        <p:cNvGrpSpPr/>
        <p:nvPr/>
      </p:nvGrpSpPr>
      <p:grpSpPr>
        <a:xfrm>
          <a:off x="0" y="0"/>
          <a:ext cx="0" cy="0"/>
          <a:chOff x="0" y="0"/>
          <a:chExt cx="0" cy="0"/>
        </a:xfrm>
      </p:grpSpPr>
      <p:sp>
        <p:nvSpPr>
          <p:cNvPr id="2" name="Shape 0"/>
          <p:cNvSpPr/>
          <p:nvPr/>
        </p:nvSpPr>
        <p:spPr>
          <a:xfrm>
            <a:off x="8366760" y="1417320"/>
            <a:ext cx="457200" cy="457200"/>
          </a:xfrm>
          <a:prstGeom prst="rect">
            <a:avLst/>
          </a:prstGeom>
          <a:solidFill>
            <a:srgbClr val="FFE08A"/>
          </a:solidFill>
          <a:ln w="9525">
            <a:solidFill>
              <a:srgbClr val="3F3F4A"/>
            </a:solidFill>
            <a:prstDash val="solid"/>
          </a:ln>
        </p:spPr>
      </p:sp>
      <p:sp>
        <p:nvSpPr>
          <p:cNvPr id="3" name="Shape 1"/>
          <p:cNvSpPr/>
          <p:nvPr/>
        </p:nvSpPr>
        <p:spPr>
          <a:xfrm>
            <a:off x="8750808" y="1645920"/>
            <a:ext cx="64008" cy="0"/>
          </a:xfrm>
          <a:prstGeom prst="line">
            <a:avLst/>
          </a:prstGeom>
          <a:noFill/>
          <a:ln w="17780">
            <a:solidFill>
              <a:srgbClr val="8A6D00"/>
            </a:solidFill>
            <a:prstDash val="solid"/>
          </a:ln>
        </p:spPr>
      </p:sp>
      <p:sp>
        <p:nvSpPr>
          <p:cNvPr id="4" name="Shape 2"/>
          <p:cNvSpPr/>
          <p:nvPr/>
        </p:nvSpPr>
        <p:spPr>
          <a:xfrm>
            <a:off x="8375904" y="1645920"/>
            <a:ext cx="64008" cy="0"/>
          </a:xfrm>
          <a:prstGeom prst="line">
            <a:avLst/>
          </a:prstGeom>
          <a:noFill/>
          <a:ln w="17780">
            <a:solidFill>
              <a:srgbClr val="8A6D00"/>
            </a:solidFill>
            <a:prstDash val="solid"/>
          </a:ln>
        </p:spPr>
      </p:sp>
      <p:sp>
        <p:nvSpPr>
          <p:cNvPr id="5" name="Shape 3"/>
          <p:cNvSpPr/>
          <p:nvPr/>
        </p:nvSpPr>
        <p:spPr>
          <a:xfrm>
            <a:off x="8595360" y="1801368"/>
            <a:ext cx="0" cy="64008"/>
          </a:xfrm>
          <a:prstGeom prst="line">
            <a:avLst/>
          </a:prstGeom>
          <a:noFill/>
          <a:ln w="17780">
            <a:solidFill>
              <a:srgbClr val="8A6D00"/>
            </a:solidFill>
            <a:prstDash val="solid"/>
          </a:ln>
        </p:spPr>
      </p:sp>
      <p:sp>
        <p:nvSpPr>
          <p:cNvPr id="6" name="Shape 4"/>
          <p:cNvSpPr/>
          <p:nvPr/>
        </p:nvSpPr>
        <p:spPr>
          <a:xfrm>
            <a:off x="8595360" y="1426464"/>
            <a:ext cx="0" cy="64008"/>
          </a:xfrm>
          <a:prstGeom prst="line">
            <a:avLst/>
          </a:prstGeom>
          <a:noFill/>
          <a:ln w="17780">
            <a:solidFill>
              <a:srgbClr val="8A6D00"/>
            </a:solidFill>
            <a:prstDash val="solid"/>
          </a:ln>
        </p:spPr>
      </p:sp>
      <p:sp>
        <p:nvSpPr>
          <p:cNvPr id="7" name="Shape 5"/>
          <p:cNvSpPr/>
          <p:nvPr/>
        </p:nvSpPr>
        <p:spPr>
          <a:xfrm>
            <a:off x="8467344" y="1517904"/>
            <a:ext cx="256032" cy="256032"/>
          </a:xfrm>
          <a:prstGeom prst="ellipse">
            <a:avLst/>
          </a:prstGeom>
          <a:solidFill>
            <a:srgbClr val="FFD23F"/>
          </a:solidFill>
          <a:ln w="17780">
            <a:solidFill>
              <a:srgbClr val="8A6D00"/>
            </a:solidFill>
            <a:prstDash val="solid"/>
          </a:ln>
        </p:spPr>
      </p:sp>
      <p:sp>
        <p:nvSpPr>
          <p:cNvPr id="8" name="Shape 6"/>
          <p:cNvSpPr/>
          <p:nvPr/>
        </p:nvSpPr>
        <p:spPr>
          <a:xfrm>
            <a:off x="8823960" y="1417320"/>
            <a:ext cx="457200" cy="457200"/>
          </a:xfrm>
          <a:prstGeom prst="rect">
            <a:avLst/>
          </a:prstGeom>
          <a:solidFill>
            <a:srgbClr val="FFE08A"/>
          </a:solidFill>
          <a:ln w="9525">
            <a:solidFill>
              <a:srgbClr val="3F3F4A"/>
            </a:solidFill>
            <a:prstDash val="solid"/>
          </a:ln>
        </p:spPr>
      </p:sp>
      <p:sp>
        <p:nvSpPr>
          <p:cNvPr id="9" name="Shape 7"/>
          <p:cNvSpPr/>
          <p:nvPr/>
        </p:nvSpPr>
        <p:spPr>
          <a:xfrm>
            <a:off x="9281160" y="1417320"/>
            <a:ext cx="457200" cy="457200"/>
          </a:xfrm>
          <a:prstGeom prst="rect">
            <a:avLst/>
          </a:prstGeom>
          <a:solidFill>
            <a:srgbClr val="FFE08A"/>
          </a:solidFill>
          <a:ln w="9525">
            <a:solidFill>
              <a:srgbClr val="3F3F4A"/>
            </a:solidFill>
            <a:prstDash val="solid"/>
          </a:ln>
        </p:spPr>
      </p:sp>
      <p:sp>
        <p:nvSpPr>
          <p:cNvPr id="10" name="Shape 8"/>
          <p:cNvSpPr/>
          <p:nvPr/>
        </p:nvSpPr>
        <p:spPr>
          <a:xfrm>
            <a:off x="9738360" y="1417320"/>
            <a:ext cx="457200" cy="457200"/>
          </a:xfrm>
          <a:prstGeom prst="rect">
            <a:avLst/>
          </a:prstGeom>
          <a:solidFill>
            <a:srgbClr val="FFE08A"/>
          </a:solidFill>
          <a:ln w="9525">
            <a:solidFill>
              <a:srgbClr val="3F3F4A"/>
            </a:solidFill>
            <a:prstDash val="solid"/>
          </a:ln>
        </p:spPr>
      </p:sp>
      <p:sp>
        <p:nvSpPr>
          <p:cNvPr id="11" name="Shape 9"/>
          <p:cNvSpPr/>
          <p:nvPr/>
        </p:nvSpPr>
        <p:spPr>
          <a:xfrm>
            <a:off x="10195560" y="1417320"/>
            <a:ext cx="457200" cy="457200"/>
          </a:xfrm>
          <a:prstGeom prst="rect">
            <a:avLst/>
          </a:prstGeom>
          <a:solidFill>
            <a:srgbClr val="FFE08A"/>
          </a:solidFill>
          <a:ln w="9525">
            <a:solidFill>
              <a:srgbClr val="3F3F4A"/>
            </a:solidFill>
            <a:prstDash val="solid"/>
          </a:ln>
        </p:spPr>
      </p:sp>
      <p:sp>
        <p:nvSpPr>
          <p:cNvPr id="12" name="Shape 10"/>
          <p:cNvSpPr/>
          <p:nvPr/>
        </p:nvSpPr>
        <p:spPr>
          <a:xfrm>
            <a:off x="10652760" y="1417320"/>
            <a:ext cx="457200" cy="457200"/>
          </a:xfrm>
          <a:prstGeom prst="rect">
            <a:avLst/>
          </a:prstGeom>
          <a:solidFill>
            <a:srgbClr val="0E0E12"/>
          </a:solidFill>
          <a:ln w="9525">
            <a:solidFill>
              <a:srgbClr val="3F3F4A"/>
            </a:solidFill>
            <a:prstDash val="solid"/>
          </a:ln>
        </p:spPr>
      </p:sp>
      <p:sp>
        <p:nvSpPr>
          <p:cNvPr id="13" name="Text 11"/>
          <p:cNvSpPr/>
          <p:nvPr/>
        </p:nvSpPr>
        <p:spPr>
          <a:xfrm>
            <a:off x="10652760" y="1417320"/>
            <a:ext cx="457200" cy="457200"/>
          </a:xfrm>
          <a:prstGeom prst="rect">
            <a:avLst/>
          </a:prstGeom>
          <a:noFill/>
          <a:ln/>
        </p:spPr>
        <p:txBody>
          <a:bodyPr wrap="square" lIns="0" tIns="0" rIns="0" bIns="0" rtlCol="0" anchor="ctr"/>
          <a:lstStyle/>
          <a:p>
            <a:pPr marL="0" indent="0" algn="ctr">
              <a:buNone/>
            </a:pPr>
            <a:r>
              <a:rPr lang="en-US" sz="1300" b="1" dirty="0">
                <a:solidFill>
                  <a:srgbClr val="F2EFE7"/>
                </a:solidFill>
                <a:latin typeface="Arial" pitchFamily="34" charset="0"/>
                <a:ea typeface="Arial" pitchFamily="34" charset="-122"/>
                <a:cs typeface="Arial" pitchFamily="34" charset="-120"/>
              </a:rPr>
              <a:t>0</a:t>
            </a:r>
            <a:endParaRPr lang="en-US" sz="1300" dirty="0"/>
          </a:p>
        </p:txBody>
      </p:sp>
      <p:sp>
        <p:nvSpPr>
          <p:cNvPr id="14" name="Shape 12"/>
          <p:cNvSpPr/>
          <p:nvPr/>
        </p:nvSpPr>
        <p:spPr>
          <a:xfrm>
            <a:off x="11109960" y="1417320"/>
            <a:ext cx="457200" cy="457200"/>
          </a:xfrm>
          <a:prstGeom prst="rect">
            <a:avLst/>
          </a:prstGeom>
          <a:solidFill>
            <a:srgbClr val="FFE08A"/>
          </a:solidFill>
          <a:ln w="9525">
            <a:solidFill>
              <a:srgbClr val="3F3F4A"/>
            </a:solidFill>
            <a:prstDash val="solid"/>
          </a:ln>
        </p:spPr>
      </p:sp>
      <p:sp>
        <p:nvSpPr>
          <p:cNvPr id="15" name="Shape 13"/>
          <p:cNvSpPr/>
          <p:nvPr/>
        </p:nvSpPr>
        <p:spPr>
          <a:xfrm>
            <a:off x="8366760" y="1874520"/>
            <a:ext cx="457200" cy="457200"/>
          </a:xfrm>
          <a:prstGeom prst="rect">
            <a:avLst/>
          </a:prstGeom>
          <a:solidFill>
            <a:srgbClr val="0E0E12"/>
          </a:solidFill>
          <a:ln w="9525">
            <a:solidFill>
              <a:srgbClr val="3F3F4A"/>
            </a:solidFill>
            <a:prstDash val="solid"/>
          </a:ln>
        </p:spPr>
      </p:sp>
      <p:sp>
        <p:nvSpPr>
          <p:cNvPr id="16" name="Text 14"/>
          <p:cNvSpPr/>
          <p:nvPr/>
        </p:nvSpPr>
        <p:spPr>
          <a:xfrm>
            <a:off x="8366760" y="1874520"/>
            <a:ext cx="457200" cy="457200"/>
          </a:xfrm>
          <a:prstGeom prst="rect">
            <a:avLst/>
          </a:prstGeom>
          <a:noFill/>
          <a:ln/>
        </p:spPr>
        <p:txBody>
          <a:bodyPr wrap="square" lIns="0" tIns="0" rIns="0" bIns="0" rtlCol="0" anchor="ctr"/>
          <a:lstStyle/>
          <a:p>
            <a:pPr marL="0" indent="0" algn="ctr">
              <a:buNone/>
            </a:pPr>
            <a:r>
              <a:rPr lang="en-US" sz="1300" b="1" dirty="0">
                <a:solidFill>
                  <a:srgbClr val="F2EFE7"/>
                </a:solidFill>
                <a:latin typeface="Arial" pitchFamily="34" charset="0"/>
                <a:ea typeface="Arial" pitchFamily="34" charset="-122"/>
                <a:cs typeface="Arial" pitchFamily="34" charset="-120"/>
              </a:rPr>
              <a:t>1</a:t>
            </a:r>
            <a:endParaRPr lang="en-US" sz="1300" dirty="0"/>
          </a:p>
        </p:txBody>
      </p:sp>
      <p:sp>
        <p:nvSpPr>
          <p:cNvPr id="17" name="Shape 15"/>
          <p:cNvSpPr/>
          <p:nvPr/>
        </p:nvSpPr>
        <p:spPr>
          <a:xfrm>
            <a:off x="8823960" y="1874520"/>
            <a:ext cx="457200" cy="457200"/>
          </a:xfrm>
          <a:prstGeom prst="rect">
            <a:avLst/>
          </a:prstGeom>
          <a:solidFill>
            <a:srgbClr val="FFE08A"/>
          </a:solidFill>
          <a:ln w="9525">
            <a:solidFill>
              <a:srgbClr val="3F3F4A"/>
            </a:solidFill>
            <a:prstDash val="solid"/>
          </a:ln>
        </p:spPr>
      </p:sp>
      <p:sp>
        <p:nvSpPr>
          <p:cNvPr id="18" name="Shape 16"/>
          <p:cNvSpPr/>
          <p:nvPr/>
        </p:nvSpPr>
        <p:spPr>
          <a:xfrm>
            <a:off x="9281160" y="1874520"/>
            <a:ext cx="457200" cy="457200"/>
          </a:xfrm>
          <a:prstGeom prst="rect">
            <a:avLst/>
          </a:prstGeom>
          <a:solidFill>
            <a:srgbClr val="FFE08A"/>
          </a:solidFill>
          <a:ln w="9525">
            <a:solidFill>
              <a:srgbClr val="3F3F4A"/>
            </a:solidFill>
            <a:prstDash val="solid"/>
          </a:ln>
        </p:spPr>
      </p:sp>
      <p:sp>
        <p:nvSpPr>
          <p:cNvPr id="19" name="Shape 17"/>
          <p:cNvSpPr/>
          <p:nvPr/>
        </p:nvSpPr>
        <p:spPr>
          <a:xfrm>
            <a:off x="9738360" y="1874520"/>
            <a:ext cx="457200" cy="457200"/>
          </a:xfrm>
          <a:prstGeom prst="rect">
            <a:avLst/>
          </a:prstGeom>
          <a:solidFill>
            <a:srgbClr val="FFE08A"/>
          </a:solidFill>
          <a:ln w="9525">
            <a:solidFill>
              <a:srgbClr val="3F3F4A"/>
            </a:solidFill>
            <a:prstDash val="solid"/>
          </a:ln>
        </p:spPr>
      </p:sp>
      <p:sp>
        <p:nvSpPr>
          <p:cNvPr id="20" name="Shape 18"/>
          <p:cNvSpPr/>
          <p:nvPr/>
        </p:nvSpPr>
        <p:spPr>
          <a:xfrm>
            <a:off x="10122408" y="2103120"/>
            <a:ext cx="64008" cy="0"/>
          </a:xfrm>
          <a:prstGeom prst="line">
            <a:avLst/>
          </a:prstGeom>
          <a:noFill/>
          <a:ln w="17780">
            <a:solidFill>
              <a:srgbClr val="8A6D00"/>
            </a:solidFill>
            <a:prstDash val="solid"/>
          </a:ln>
        </p:spPr>
      </p:sp>
      <p:sp>
        <p:nvSpPr>
          <p:cNvPr id="21" name="Shape 19"/>
          <p:cNvSpPr/>
          <p:nvPr/>
        </p:nvSpPr>
        <p:spPr>
          <a:xfrm>
            <a:off x="9747504" y="2103120"/>
            <a:ext cx="64008" cy="0"/>
          </a:xfrm>
          <a:prstGeom prst="line">
            <a:avLst/>
          </a:prstGeom>
          <a:noFill/>
          <a:ln w="17780">
            <a:solidFill>
              <a:srgbClr val="8A6D00"/>
            </a:solidFill>
            <a:prstDash val="solid"/>
          </a:ln>
        </p:spPr>
      </p:sp>
      <p:sp>
        <p:nvSpPr>
          <p:cNvPr id="22" name="Shape 20"/>
          <p:cNvSpPr/>
          <p:nvPr/>
        </p:nvSpPr>
        <p:spPr>
          <a:xfrm>
            <a:off x="9966960" y="2258568"/>
            <a:ext cx="0" cy="64008"/>
          </a:xfrm>
          <a:prstGeom prst="line">
            <a:avLst/>
          </a:prstGeom>
          <a:noFill/>
          <a:ln w="17780">
            <a:solidFill>
              <a:srgbClr val="8A6D00"/>
            </a:solidFill>
            <a:prstDash val="solid"/>
          </a:ln>
        </p:spPr>
      </p:sp>
      <p:sp>
        <p:nvSpPr>
          <p:cNvPr id="23" name="Shape 21"/>
          <p:cNvSpPr/>
          <p:nvPr/>
        </p:nvSpPr>
        <p:spPr>
          <a:xfrm>
            <a:off x="9966960" y="1883664"/>
            <a:ext cx="0" cy="64008"/>
          </a:xfrm>
          <a:prstGeom prst="line">
            <a:avLst/>
          </a:prstGeom>
          <a:noFill/>
          <a:ln w="17780">
            <a:solidFill>
              <a:srgbClr val="8A6D00"/>
            </a:solidFill>
            <a:prstDash val="solid"/>
          </a:ln>
        </p:spPr>
      </p:sp>
      <p:sp>
        <p:nvSpPr>
          <p:cNvPr id="24" name="Shape 22"/>
          <p:cNvSpPr/>
          <p:nvPr/>
        </p:nvSpPr>
        <p:spPr>
          <a:xfrm>
            <a:off x="9838944" y="1975104"/>
            <a:ext cx="256032" cy="256032"/>
          </a:xfrm>
          <a:prstGeom prst="ellipse">
            <a:avLst/>
          </a:prstGeom>
          <a:solidFill>
            <a:srgbClr val="FFD23F"/>
          </a:solidFill>
          <a:ln w="17780">
            <a:solidFill>
              <a:srgbClr val="8A6D00"/>
            </a:solidFill>
            <a:prstDash val="solid"/>
          </a:ln>
        </p:spPr>
      </p:sp>
      <p:sp>
        <p:nvSpPr>
          <p:cNvPr id="25" name="Shape 23"/>
          <p:cNvSpPr/>
          <p:nvPr/>
        </p:nvSpPr>
        <p:spPr>
          <a:xfrm>
            <a:off x="10195560" y="1874520"/>
            <a:ext cx="457200" cy="457200"/>
          </a:xfrm>
          <a:prstGeom prst="rect">
            <a:avLst/>
          </a:prstGeom>
          <a:solidFill>
            <a:srgbClr val="0E0E12"/>
          </a:solidFill>
          <a:ln w="9525">
            <a:solidFill>
              <a:srgbClr val="3F3F4A"/>
            </a:solidFill>
            <a:prstDash val="solid"/>
          </a:ln>
        </p:spPr>
      </p:sp>
      <p:sp>
        <p:nvSpPr>
          <p:cNvPr id="26" name="Text 24"/>
          <p:cNvSpPr/>
          <p:nvPr/>
        </p:nvSpPr>
        <p:spPr>
          <a:xfrm>
            <a:off x="10195560" y="1874520"/>
            <a:ext cx="457200" cy="457200"/>
          </a:xfrm>
          <a:prstGeom prst="rect">
            <a:avLst/>
          </a:prstGeom>
          <a:noFill/>
          <a:ln/>
        </p:spPr>
        <p:txBody>
          <a:bodyPr wrap="square" lIns="0" tIns="0" rIns="0" bIns="0" rtlCol="0" anchor="ctr"/>
          <a:lstStyle/>
          <a:p>
            <a:pPr marL="0" indent="0" algn="ctr">
              <a:buNone/>
            </a:pPr>
            <a:r>
              <a:rPr lang="en-US" sz="1300" b="1" dirty="0">
                <a:solidFill>
                  <a:srgbClr val="F2EFE7"/>
                </a:solidFill>
                <a:latin typeface="Arial" pitchFamily="34" charset="0"/>
                <a:ea typeface="Arial" pitchFamily="34" charset="-122"/>
                <a:cs typeface="Arial" pitchFamily="34" charset="-120"/>
              </a:rPr>
              <a:t>2</a:t>
            </a:r>
            <a:endParaRPr lang="en-US" sz="1300" dirty="0"/>
          </a:p>
        </p:txBody>
      </p:sp>
      <p:sp>
        <p:nvSpPr>
          <p:cNvPr id="27" name="Shape 25"/>
          <p:cNvSpPr/>
          <p:nvPr/>
        </p:nvSpPr>
        <p:spPr>
          <a:xfrm>
            <a:off x="10652760" y="1874520"/>
            <a:ext cx="457200" cy="457200"/>
          </a:xfrm>
          <a:prstGeom prst="rect">
            <a:avLst/>
          </a:prstGeom>
          <a:solidFill>
            <a:srgbClr val="FFE08A"/>
          </a:solidFill>
          <a:ln w="9525">
            <a:solidFill>
              <a:srgbClr val="3F3F4A"/>
            </a:solidFill>
            <a:prstDash val="solid"/>
          </a:ln>
        </p:spPr>
      </p:sp>
      <p:sp>
        <p:nvSpPr>
          <p:cNvPr id="28" name="Shape 26"/>
          <p:cNvSpPr/>
          <p:nvPr/>
        </p:nvSpPr>
        <p:spPr>
          <a:xfrm>
            <a:off x="11109960" y="1874520"/>
            <a:ext cx="457200" cy="457200"/>
          </a:xfrm>
          <a:prstGeom prst="rect">
            <a:avLst/>
          </a:prstGeom>
          <a:solidFill>
            <a:srgbClr val="FFE08A"/>
          </a:solidFill>
          <a:ln w="9525">
            <a:solidFill>
              <a:srgbClr val="3F3F4A"/>
            </a:solidFill>
            <a:prstDash val="solid"/>
          </a:ln>
        </p:spPr>
      </p:sp>
      <p:sp>
        <p:nvSpPr>
          <p:cNvPr id="29" name="Shape 27"/>
          <p:cNvSpPr/>
          <p:nvPr/>
        </p:nvSpPr>
        <p:spPr>
          <a:xfrm>
            <a:off x="8366760" y="2331720"/>
            <a:ext cx="457200" cy="457200"/>
          </a:xfrm>
          <a:prstGeom prst="rect">
            <a:avLst/>
          </a:prstGeom>
          <a:solidFill>
            <a:srgbClr val="FFE08A"/>
          </a:solidFill>
          <a:ln w="9525">
            <a:solidFill>
              <a:srgbClr val="3F3F4A"/>
            </a:solidFill>
            <a:prstDash val="solid"/>
          </a:ln>
        </p:spPr>
      </p:sp>
      <p:sp>
        <p:nvSpPr>
          <p:cNvPr id="30" name="Shape 28"/>
          <p:cNvSpPr/>
          <p:nvPr/>
        </p:nvSpPr>
        <p:spPr>
          <a:xfrm>
            <a:off x="8823960" y="2331720"/>
            <a:ext cx="457200" cy="457200"/>
          </a:xfrm>
          <a:prstGeom prst="rect">
            <a:avLst/>
          </a:prstGeom>
          <a:solidFill>
            <a:srgbClr val="0E0E12"/>
          </a:solidFill>
          <a:ln w="9525">
            <a:solidFill>
              <a:srgbClr val="3F3F4A"/>
            </a:solidFill>
            <a:prstDash val="solid"/>
          </a:ln>
        </p:spPr>
      </p:sp>
      <p:sp>
        <p:nvSpPr>
          <p:cNvPr id="31" name="Shape 29"/>
          <p:cNvSpPr/>
          <p:nvPr/>
        </p:nvSpPr>
        <p:spPr>
          <a:xfrm>
            <a:off x="9281160" y="2331720"/>
            <a:ext cx="457200" cy="457200"/>
          </a:xfrm>
          <a:prstGeom prst="rect">
            <a:avLst/>
          </a:prstGeom>
          <a:solidFill>
            <a:srgbClr val="FFE08A"/>
          </a:solidFill>
          <a:ln w="9525">
            <a:solidFill>
              <a:srgbClr val="3F3F4A"/>
            </a:solidFill>
            <a:prstDash val="solid"/>
          </a:ln>
        </p:spPr>
      </p:sp>
      <p:sp>
        <p:nvSpPr>
          <p:cNvPr id="32" name="Shape 30"/>
          <p:cNvSpPr/>
          <p:nvPr/>
        </p:nvSpPr>
        <p:spPr>
          <a:xfrm>
            <a:off x="9738360" y="2331720"/>
            <a:ext cx="457200" cy="457200"/>
          </a:xfrm>
          <a:prstGeom prst="rect">
            <a:avLst/>
          </a:prstGeom>
          <a:solidFill>
            <a:srgbClr val="FFE08A"/>
          </a:solidFill>
          <a:ln w="9525">
            <a:solidFill>
              <a:srgbClr val="3F3F4A"/>
            </a:solidFill>
            <a:prstDash val="solid"/>
          </a:ln>
        </p:spPr>
      </p:sp>
      <p:sp>
        <p:nvSpPr>
          <p:cNvPr id="33" name="Shape 31"/>
          <p:cNvSpPr/>
          <p:nvPr/>
        </p:nvSpPr>
        <p:spPr>
          <a:xfrm>
            <a:off x="10195560" y="2331720"/>
            <a:ext cx="457200" cy="457200"/>
          </a:xfrm>
          <a:prstGeom prst="rect">
            <a:avLst/>
          </a:prstGeom>
          <a:solidFill>
            <a:srgbClr val="FFE08A"/>
          </a:solidFill>
          <a:ln w="9525">
            <a:solidFill>
              <a:srgbClr val="3F3F4A"/>
            </a:solidFill>
            <a:prstDash val="solid"/>
          </a:ln>
        </p:spPr>
      </p:sp>
      <p:sp>
        <p:nvSpPr>
          <p:cNvPr id="34" name="Shape 32"/>
          <p:cNvSpPr/>
          <p:nvPr/>
        </p:nvSpPr>
        <p:spPr>
          <a:xfrm>
            <a:off x="10579608" y="2560320"/>
            <a:ext cx="64008" cy="0"/>
          </a:xfrm>
          <a:prstGeom prst="line">
            <a:avLst/>
          </a:prstGeom>
          <a:noFill/>
          <a:ln w="17780">
            <a:solidFill>
              <a:srgbClr val="8A6D00"/>
            </a:solidFill>
            <a:prstDash val="solid"/>
          </a:ln>
        </p:spPr>
      </p:sp>
      <p:sp>
        <p:nvSpPr>
          <p:cNvPr id="35" name="Shape 33"/>
          <p:cNvSpPr/>
          <p:nvPr/>
        </p:nvSpPr>
        <p:spPr>
          <a:xfrm>
            <a:off x="10204704" y="2560320"/>
            <a:ext cx="64008" cy="0"/>
          </a:xfrm>
          <a:prstGeom prst="line">
            <a:avLst/>
          </a:prstGeom>
          <a:noFill/>
          <a:ln w="17780">
            <a:solidFill>
              <a:srgbClr val="8A6D00"/>
            </a:solidFill>
            <a:prstDash val="solid"/>
          </a:ln>
        </p:spPr>
      </p:sp>
      <p:sp>
        <p:nvSpPr>
          <p:cNvPr id="36" name="Shape 34"/>
          <p:cNvSpPr/>
          <p:nvPr/>
        </p:nvSpPr>
        <p:spPr>
          <a:xfrm>
            <a:off x="10424160" y="2715768"/>
            <a:ext cx="0" cy="64008"/>
          </a:xfrm>
          <a:prstGeom prst="line">
            <a:avLst/>
          </a:prstGeom>
          <a:noFill/>
          <a:ln w="17780">
            <a:solidFill>
              <a:srgbClr val="8A6D00"/>
            </a:solidFill>
            <a:prstDash val="solid"/>
          </a:ln>
        </p:spPr>
      </p:sp>
      <p:sp>
        <p:nvSpPr>
          <p:cNvPr id="37" name="Shape 35"/>
          <p:cNvSpPr/>
          <p:nvPr/>
        </p:nvSpPr>
        <p:spPr>
          <a:xfrm>
            <a:off x="10424160" y="2340864"/>
            <a:ext cx="0" cy="64008"/>
          </a:xfrm>
          <a:prstGeom prst="line">
            <a:avLst/>
          </a:prstGeom>
          <a:noFill/>
          <a:ln w="17780">
            <a:solidFill>
              <a:srgbClr val="8A6D00"/>
            </a:solidFill>
            <a:prstDash val="solid"/>
          </a:ln>
        </p:spPr>
      </p:sp>
      <p:sp>
        <p:nvSpPr>
          <p:cNvPr id="38" name="Shape 36"/>
          <p:cNvSpPr/>
          <p:nvPr/>
        </p:nvSpPr>
        <p:spPr>
          <a:xfrm>
            <a:off x="10296144" y="2432304"/>
            <a:ext cx="256032" cy="256032"/>
          </a:xfrm>
          <a:prstGeom prst="ellipse">
            <a:avLst/>
          </a:prstGeom>
          <a:solidFill>
            <a:srgbClr val="FFD23F"/>
          </a:solidFill>
          <a:ln w="17780">
            <a:solidFill>
              <a:srgbClr val="8A6D00"/>
            </a:solidFill>
            <a:prstDash val="solid"/>
          </a:ln>
        </p:spPr>
      </p:sp>
      <p:sp>
        <p:nvSpPr>
          <p:cNvPr id="39" name="Shape 37"/>
          <p:cNvSpPr/>
          <p:nvPr/>
        </p:nvSpPr>
        <p:spPr>
          <a:xfrm>
            <a:off x="10652760" y="2331720"/>
            <a:ext cx="457200" cy="457200"/>
          </a:xfrm>
          <a:prstGeom prst="rect">
            <a:avLst/>
          </a:prstGeom>
          <a:solidFill>
            <a:srgbClr val="FFE08A"/>
          </a:solidFill>
          <a:ln w="9525">
            <a:solidFill>
              <a:srgbClr val="3F3F4A"/>
            </a:solidFill>
            <a:prstDash val="solid"/>
          </a:ln>
        </p:spPr>
      </p:sp>
      <p:sp>
        <p:nvSpPr>
          <p:cNvPr id="40" name="Shape 38"/>
          <p:cNvSpPr/>
          <p:nvPr/>
        </p:nvSpPr>
        <p:spPr>
          <a:xfrm>
            <a:off x="11109960" y="2331720"/>
            <a:ext cx="457200" cy="457200"/>
          </a:xfrm>
          <a:prstGeom prst="rect">
            <a:avLst/>
          </a:prstGeom>
          <a:solidFill>
            <a:srgbClr val="FFE08A"/>
          </a:solidFill>
          <a:ln w="9525">
            <a:solidFill>
              <a:srgbClr val="3F3F4A"/>
            </a:solidFill>
            <a:prstDash val="solid"/>
          </a:ln>
        </p:spPr>
      </p:sp>
      <p:sp>
        <p:nvSpPr>
          <p:cNvPr id="41" name="Shape 39"/>
          <p:cNvSpPr/>
          <p:nvPr/>
        </p:nvSpPr>
        <p:spPr>
          <a:xfrm>
            <a:off x="8366760" y="2788920"/>
            <a:ext cx="457200" cy="457200"/>
          </a:xfrm>
          <a:prstGeom prst="rect">
            <a:avLst/>
          </a:prstGeom>
          <a:solidFill>
            <a:srgbClr val="FFE08A"/>
          </a:solidFill>
          <a:ln w="9525">
            <a:solidFill>
              <a:srgbClr val="3F3F4A"/>
            </a:solidFill>
            <a:prstDash val="solid"/>
          </a:ln>
        </p:spPr>
      </p:sp>
      <p:sp>
        <p:nvSpPr>
          <p:cNvPr id="42" name="Shape 40"/>
          <p:cNvSpPr/>
          <p:nvPr/>
        </p:nvSpPr>
        <p:spPr>
          <a:xfrm>
            <a:off x="8823960" y="2788920"/>
            <a:ext cx="457200" cy="457200"/>
          </a:xfrm>
          <a:prstGeom prst="rect">
            <a:avLst/>
          </a:prstGeom>
          <a:solidFill>
            <a:srgbClr val="FFE08A"/>
          </a:solidFill>
          <a:ln w="9525">
            <a:solidFill>
              <a:srgbClr val="3F3F4A"/>
            </a:solidFill>
            <a:prstDash val="solid"/>
          </a:ln>
        </p:spPr>
      </p:sp>
      <p:sp>
        <p:nvSpPr>
          <p:cNvPr id="43" name="Shape 41"/>
          <p:cNvSpPr/>
          <p:nvPr/>
        </p:nvSpPr>
        <p:spPr>
          <a:xfrm>
            <a:off x="9281160" y="2788920"/>
            <a:ext cx="457200" cy="457200"/>
          </a:xfrm>
          <a:prstGeom prst="rect">
            <a:avLst/>
          </a:prstGeom>
          <a:solidFill>
            <a:srgbClr val="FFE08A"/>
          </a:solidFill>
          <a:ln w="9525">
            <a:solidFill>
              <a:srgbClr val="3F3F4A"/>
            </a:solidFill>
            <a:prstDash val="solid"/>
          </a:ln>
        </p:spPr>
      </p:sp>
      <p:sp>
        <p:nvSpPr>
          <p:cNvPr id="44" name="Shape 42"/>
          <p:cNvSpPr/>
          <p:nvPr/>
        </p:nvSpPr>
        <p:spPr>
          <a:xfrm>
            <a:off x="9738360" y="2788920"/>
            <a:ext cx="457200" cy="457200"/>
          </a:xfrm>
          <a:prstGeom prst="rect">
            <a:avLst/>
          </a:prstGeom>
          <a:solidFill>
            <a:srgbClr val="FFE08A"/>
          </a:solidFill>
          <a:ln w="9525">
            <a:solidFill>
              <a:srgbClr val="3F3F4A"/>
            </a:solidFill>
            <a:prstDash val="solid"/>
          </a:ln>
        </p:spPr>
      </p:sp>
      <p:sp>
        <p:nvSpPr>
          <p:cNvPr id="45" name="Shape 43"/>
          <p:cNvSpPr/>
          <p:nvPr/>
        </p:nvSpPr>
        <p:spPr>
          <a:xfrm>
            <a:off x="10195560" y="2788920"/>
            <a:ext cx="457200" cy="457200"/>
          </a:xfrm>
          <a:prstGeom prst="rect">
            <a:avLst/>
          </a:prstGeom>
          <a:solidFill>
            <a:srgbClr val="FFE08A"/>
          </a:solidFill>
          <a:ln w="9525">
            <a:solidFill>
              <a:srgbClr val="3F3F4A"/>
            </a:solidFill>
            <a:prstDash val="solid"/>
          </a:ln>
        </p:spPr>
      </p:sp>
      <p:sp>
        <p:nvSpPr>
          <p:cNvPr id="46" name="Shape 44"/>
          <p:cNvSpPr/>
          <p:nvPr/>
        </p:nvSpPr>
        <p:spPr>
          <a:xfrm>
            <a:off x="10652760" y="2788920"/>
            <a:ext cx="457200" cy="457200"/>
          </a:xfrm>
          <a:prstGeom prst="rect">
            <a:avLst/>
          </a:prstGeom>
          <a:solidFill>
            <a:srgbClr val="FFE08A"/>
          </a:solidFill>
          <a:ln w="9525">
            <a:solidFill>
              <a:srgbClr val="3F3F4A"/>
            </a:solidFill>
            <a:prstDash val="solid"/>
          </a:ln>
        </p:spPr>
      </p:sp>
      <p:sp>
        <p:nvSpPr>
          <p:cNvPr id="47" name="Shape 45"/>
          <p:cNvSpPr/>
          <p:nvPr/>
        </p:nvSpPr>
        <p:spPr>
          <a:xfrm>
            <a:off x="11036808" y="3017520"/>
            <a:ext cx="64008" cy="0"/>
          </a:xfrm>
          <a:prstGeom prst="line">
            <a:avLst/>
          </a:prstGeom>
          <a:noFill/>
          <a:ln w="17780">
            <a:solidFill>
              <a:srgbClr val="8A6D00"/>
            </a:solidFill>
            <a:prstDash val="solid"/>
          </a:ln>
        </p:spPr>
      </p:sp>
      <p:sp>
        <p:nvSpPr>
          <p:cNvPr id="48" name="Shape 46"/>
          <p:cNvSpPr/>
          <p:nvPr/>
        </p:nvSpPr>
        <p:spPr>
          <a:xfrm>
            <a:off x="10661904" y="3017520"/>
            <a:ext cx="64008" cy="0"/>
          </a:xfrm>
          <a:prstGeom prst="line">
            <a:avLst/>
          </a:prstGeom>
          <a:noFill/>
          <a:ln w="17780">
            <a:solidFill>
              <a:srgbClr val="8A6D00"/>
            </a:solidFill>
            <a:prstDash val="solid"/>
          </a:ln>
        </p:spPr>
      </p:sp>
      <p:sp>
        <p:nvSpPr>
          <p:cNvPr id="49" name="Shape 47"/>
          <p:cNvSpPr/>
          <p:nvPr/>
        </p:nvSpPr>
        <p:spPr>
          <a:xfrm>
            <a:off x="10881360" y="3172968"/>
            <a:ext cx="0" cy="64008"/>
          </a:xfrm>
          <a:prstGeom prst="line">
            <a:avLst/>
          </a:prstGeom>
          <a:noFill/>
          <a:ln w="17780">
            <a:solidFill>
              <a:srgbClr val="8A6D00"/>
            </a:solidFill>
            <a:prstDash val="solid"/>
          </a:ln>
        </p:spPr>
      </p:sp>
      <p:sp>
        <p:nvSpPr>
          <p:cNvPr id="50" name="Shape 48"/>
          <p:cNvSpPr/>
          <p:nvPr/>
        </p:nvSpPr>
        <p:spPr>
          <a:xfrm>
            <a:off x="10881360" y="2798064"/>
            <a:ext cx="0" cy="64008"/>
          </a:xfrm>
          <a:prstGeom prst="line">
            <a:avLst/>
          </a:prstGeom>
          <a:noFill/>
          <a:ln w="17780">
            <a:solidFill>
              <a:srgbClr val="8A6D00"/>
            </a:solidFill>
            <a:prstDash val="solid"/>
          </a:ln>
        </p:spPr>
      </p:sp>
      <p:sp>
        <p:nvSpPr>
          <p:cNvPr id="51" name="Shape 49"/>
          <p:cNvSpPr/>
          <p:nvPr/>
        </p:nvSpPr>
        <p:spPr>
          <a:xfrm>
            <a:off x="10753344" y="2889504"/>
            <a:ext cx="256032" cy="256032"/>
          </a:xfrm>
          <a:prstGeom prst="ellipse">
            <a:avLst/>
          </a:prstGeom>
          <a:solidFill>
            <a:srgbClr val="FFD23F"/>
          </a:solidFill>
          <a:ln w="17780">
            <a:solidFill>
              <a:srgbClr val="8A6D00"/>
            </a:solidFill>
            <a:prstDash val="solid"/>
          </a:ln>
        </p:spPr>
      </p:sp>
      <p:sp>
        <p:nvSpPr>
          <p:cNvPr id="52" name="Shape 50"/>
          <p:cNvSpPr/>
          <p:nvPr/>
        </p:nvSpPr>
        <p:spPr>
          <a:xfrm>
            <a:off x="11109960" y="2788920"/>
            <a:ext cx="457200" cy="457200"/>
          </a:xfrm>
          <a:prstGeom prst="rect">
            <a:avLst/>
          </a:prstGeom>
          <a:solidFill>
            <a:srgbClr val="FFE08A"/>
          </a:solidFill>
          <a:ln w="9525">
            <a:solidFill>
              <a:srgbClr val="3F3F4A"/>
            </a:solidFill>
            <a:prstDash val="solid"/>
          </a:ln>
        </p:spPr>
      </p:sp>
      <p:sp>
        <p:nvSpPr>
          <p:cNvPr id="53" name="Shape 51"/>
          <p:cNvSpPr/>
          <p:nvPr/>
        </p:nvSpPr>
        <p:spPr>
          <a:xfrm>
            <a:off x="8366760" y="3246120"/>
            <a:ext cx="457200" cy="457200"/>
          </a:xfrm>
          <a:prstGeom prst="rect">
            <a:avLst/>
          </a:prstGeom>
          <a:solidFill>
            <a:srgbClr val="FFE08A"/>
          </a:solidFill>
          <a:ln w="9525">
            <a:solidFill>
              <a:srgbClr val="3F3F4A"/>
            </a:solidFill>
            <a:prstDash val="solid"/>
          </a:ln>
        </p:spPr>
      </p:sp>
      <p:sp>
        <p:nvSpPr>
          <p:cNvPr id="54" name="Shape 52"/>
          <p:cNvSpPr/>
          <p:nvPr/>
        </p:nvSpPr>
        <p:spPr>
          <a:xfrm>
            <a:off x="8823960" y="3246120"/>
            <a:ext cx="457200" cy="457200"/>
          </a:xfrm>
          <a:prstGeom prst="rect">
            <a:avLst/>
          </a:prstGeom>
          <a:solidFill>
            <a:srgbClr val="FFE08A"/>
          </a:solidFill>
          <a:ln w="9525">
            <a:solidFill>
              <a:srgbClr val="3F3F4A"/>
            </a:solidFill>
            <a:prstDash val="solid"/>
          </a:ln>
        </p:spPr>
      </p:sp>
      <p:sp>
        <p:nvSpPr>
          <p:cNvPr id="55" name="Shape 53"/>
          <p:cNvSpPr/>
          <p:nvPr/>
        </p:nvSpPr>
        <p:spPr>
          <a:xfrm>
            <a:off x="9281160" y="3246120"/>
            <a:ext cx="457200" cy="457200"/>
          </a:xfrm>
          <a:prstGeom prst="rect">
            <a:avLst/>
          </a:prstGeom>
          <a:solidFill>
            <a:srgbClr val="FFE08A"/>
          </a:solidFill>
          <a:ln w="9525">
            <a:solidFill>
              <a:srgbClr val="3F3F4A"/>
            </a:solidFill>
            <a:prstDash val="solid"/>
          </a:ln>
        </p:spPr>
      </p:sp>
      <p:sp>
        <p:nvSpPr>
          <p:cNvPr id="56" name="Shape 54"/>
          <p:cNvSpPr/>
          <p:nvPr/>
        </p:nvSpPr>
        <p:spPr>
          <a:xfrm>
            <a:off x="9665208" y="3474720"/>
            <a:ext cx="64008" cy="0"/>
          </a:xfrm>
          <a:prstGeom prst="line">
            <a:avLst/>
          </a:prstGeom>
          <a:noFill/>
          <a:ln w="17780">
            <a:solidFill>
              <a:srgbClr val="8A6D00"/>
            </a:solidFill>
            <a:prstDash val="solid"/>
          </a:ln>
        </p:spPr>
      </p:sp>
      <p:sp>
        <p:nvSpPr>
          <p:cNvPr id="57" name="Shape 55"/>
          <p:cNvSpPr/>
          <p:nvPr/>
        </p:nvSpPr>
        <p:spPr>
          <a:xfrm>
            <a:off x="9290304" y="3474720"/>
            <a:ext cx="64008" cy="0"/>
          </a:xfrm>
          <a:prstGeom prst="line">
            <a:avLst/>
          </a:prstGeom>
          <a:noFill/>
          <a:ln w="17780">
            <a:solidFill>
              <a:srgbClr val="8A6D00"/>
            </a:solidFill>
            <a:prstDash val="solid"/>
          </a:ln>
        </p:spPr>
      </p:sp>
      <p:sp>
        <p:nvSpPr>
          <p:cNvPr id="58" name="Shape 56"/>
          <p:cNvSpPr/>
          <p:nvPr/>
        </p:nvSpPr>
        <p:spPr>
          <a:xfrm>
            <a:off x="9509760" y="3630168"/>
            <a:ext cx="0" cy="64008"/>
          </a:xfrm>
          <a:prstGeom prst="line">
            <a:avLst/>
          </a:prstGeom>
          <a:noFill/>
          <a:ln w="17780">
            <a:solidFill>
              <a:srgbClr val="8A6D00"/>
            </a:solidFill>
            <a:prstDash val="solid"/>
          </a:ln>
        </p:spPr>
      </p:sp>
      <p:sp>
        <p:nvSpPr>
          <p:cNvPr id="59" name="Shape 57"/>
          <p:cNvSpPr/>
          <p:nvPr/>
        </p:nvSpPr>
        <p:spPr>
          <a:xfrm>
            <a:off x="9509760" y="3255264"/>
            <a:ext cx="0" cy="64008"/>
          </a:xfrm>
          <a:prstGeom prst="line">
            <a:avLst/>
          </a:prstGeom>
          <a:noFill/>
          <a:ln w="17780">
            <a:solidFill>
              <a:srgbClr val="8A6D00"/>
            </a:solidFill>
            <a:prstDash val="solid"/>
          </a:ln>
        </p:spPr>
      </p:sp>
      <p:sp>
        <p:nvSpPr>
          <p:cNvPr id="60" name="Shape 58"/>
          <p:cNvSpPr/>
          <p:nvPr/>
        </p:nvSpPr>
        <p:spPr>
          <a:xfrm>
            <a:off x="9381744" y="3346704"/>
            <a:ext cx="256032" cy="256032"/>
          </a:xfrm>
          <a:prstGeom prst="ellipse">
            <a:avLst/>
          </a:prstGeom>
          <a:solidFill>
            <a:srgbClr val="FFD23F"/>
          </a:solidFill>
          <a:ln w="17780">
            <a:solidFill>
              <a:srgbClr val="8A6D00"/>
            </a:solidFill>
            <a:prstDash val="solid"/>
          </a:ln>
        </p:spPr>
      </p:sp>
      <p:sp>
        <p:nvSpPr>
          <p:cNvPr id="61" name="Shape 59"/>
          <p:cNvSpPr/>
          <p:nvPr/>
        </p:nvSpPr>
        <p:spPr>
          <a:xfrm>
            <a:off x="9738360" y="3246120"/>
            <a:ext cx="457200" cy="457200"/>
          </a:xfrm>
          <a:prstGeom prst="rect">
            <a:avLst/>
          </a:prstGeom>
          <a:solidFill>
            <a:srgbClr val="FFE08A"/>
          </a:solidFill>
          <a:ln w="9525">
            <a:solidFill>
              <a:srgbClr val="3F3F4A"/>
            </a:solidFill>
            <a:prstDash val="solid"/>
          </a:ln>
        </p:spPr>
      </p:sp>
      <p:sp>
        <p:nvSpPr>
          <p:cNvPr id="62" name="Shape 60"/>
          <p:cNvSpPr/>
          <p:nvPr/>
        </p:nvSpPr>
        <p:spPr>
          <a:xfrm>
            <a:off x="10195560" y="3246120"/>
            <a:ext cx="457200" cy="457200"/>
          </a:xfrm>
          <a:prstGeom prst="rect">
            <a:avLst/>
          </a:prstGeom>
          <a:solidFill>
            <a:srgbClr val="FFE08A"/>
          </a:solidFill>
          <a:ln w="9525">
            <a:solidFill>
              <a:srgbClr val="3F3F4A"/>
            </a:solidFill>
            <a:prstDash val="solid"/>
          </a:ln>
        </p:spPr>
      </p:sp>
      <p:sp>
        <p:nvSpPr>
          <p:cNvPr id="63" name="Shape 61"/>
          <p:cNvSpPr/>
          <p:nvPr/>
        </p:nvSpPr>
        <p:spPr>
          <a:xfrm>
            <a:off x="10652760" y="3246120"/>
            <a:ext cx="457200" cy="457200"/>
          </a:xfrm>
          <a:prstGeom prst="rect">
            <a:avLst/>
          </a:prstGeom>
          <a:solidFill>
            <a:srgbClr val="0E0E12"/>
          </a:solidFill>
          <a:ln w="9525">
            <a:solidFill>
              <a:srgbClr val="3F3F4A"/>
            </a:solidFill>
            <a:prstDash val="solid"/>
          </a:ln>
        </p:spPr>
      </p:sp>
      <p:sp>
        <p:nvSpPr>
          <p:cNvPr id="64" name="Shape 62"/>
          <p:cNvSpPr/>
          <p:nvPr/>
        </p:nvSpPr>
        <p:spPr>
          <a:xfrm>
            <a:off x="11109960" y="3246120"/>
            <a:ext cx="457200" cy="457200"/>
          </a:xfrm>
          <a:prstGeom prst="rect">
            <a:avLst/>
          </a:prstGeom>
          <a:solidFill>
            <a:srgbClr val="FFE08A"/>
          </a:solidFill>
          <a:ln w="9525">
            <a:solidFill>
              <a:srgbClr val="3F3F4A"/>
            </a:solidFill>
            <a:prstDash val="solid"/>
          </a:ln>
        </p:spPr>
      </p:sp>
      <p:sp>
        <p:nvSpPr>
          <p:cNvPr id="65" name="Shape 63"/>
          <p:cNvSpPr/>
          <p:nvPr/>
        </p:nvSpPr>
        <p:spPr>
          <a:xfrm>
            <a:off x="11494008" y="3474720"/>
            <a:ext cx="64008" cy="0"/>
          </a:xfrm>
          <a:prstGeom prst="line">
            <a:avLst/>
          </a:prstGeom>
          <a:noFill/>
          <a:ln w="17780">
            <a:solidFill>
              <a:srgbClr val="8A6D00"/>
            </a:solidFill>
            <a:prstDash val="solid"/>
          </a:ln>
        </p:spPr>
      </p:sp>
      <p:sp>
        <p:nvSpPr>
          <p:cNvPr id="66" name="Shape 64"/>
          <p:cNvSpPr/>
          <p:nvPr/>
        </p:nvSpPr>
        <p:spPr>
          <a:xfrm>
            <a:off x="11119104" y="3474720"/>
            <a:ext cx="64008" cy="0"/>
          </a:xfrm>
          <a:prstGeom prst="line">
            <a:avLst/>
          </a:prstGeom>
          <a:noFill/>
          <a:ln w="17780">
            <a:solidFill>
              <a:srgbClr val="8A6D00"/>
            </a:solidFill>
            <a:prstDash val="solid"/>
          </a:ln>
        </p:spPr>
      </p:sp>
      <p:sp>
        <p:nvSpPr>
          <p:cNvPr id="67" name="Shape 65"/>
          <p:cNvSpPr/>
          <p:nvPr/>
        </p:nvSpPr>
        <p:spPr>
          <a:xfrm>
            <a:off x="11338560" y="3630168"/>
            <a:ext cx="0" cy="64008"/>
          </a:xfrm>
          <a:prstGeom prst="line">
            <a:avLst/>
          </a:prstGeom>
          <a:noFill/>
          <a:ln w="17780">
            <a:solidFill>
              <a:srgbClr val="8A6D00"/>
            </a:solidFill>
            <a:prstDash val="solid"/>
          </a:ln>
        </p:spPr>
      </p:sp>
      <p:sp>
        <p:nvSpPr>
          <p:cNvPr id="68" name="Shape 66"/>
          <p:cNvSpPr/>
          <p:nvPr/>
        </p:nvSpPr>
        <p:spPr>
          <a:xfrm>
            <a:off x="11338560" y="3255264"/>
            <a:ext cx="0" cy="64008"/>
          </a:xfrm>
          <a:prstGeom prst="line">
            <a:avLst/>
          </a:prstGeom>
          <a:noFill/>
          <a:ln w="17780">
            <a:solidFill>
              <a:srgbClr val="8A6D00"/>
            </a:solidFill>
            <a:prstDash val="solid"/>
          </a:ln>
        </p:spPr>
      </p:sp>
      <p:sp>
        <p:nvSpPr>
          <p:cNvPr id="69" name="Shape 67"/>
          <p:cNvSpPr/>
          <p:nvPr/>
        </p:nvSpPr>
        <p:spPr>
          <a:xfrm>
            <a:off x="11210544" y="3346704"/>
            <a:ext cx="256032" cy="256032"/>
          </a:xfrm>
          <a:prstGeom prst="ellipse">
            <a:avLst/>
          </a:prstGeom>
          <a:solidFill>
            <a:srgbClr val="FFD23F"/>
          </a:solidFill>
          <a:ln w="17780">
            <a:solidFill>
              <a:srgbClr val="8A6D00"/>
            </a:solidFill>
            <a:prstDash val="solid"/>
          </a:ln>
        </p:spPr>
      </p:sp>
      <p:sp>
        <p:nvSpPr>
          <p:cNvPr id="70" name="Shape 68"/>
          <p:cNvSpPr/>
          <p:nvPr/>
        </p:nvSpPr>
        <p:spPr>
          <a:xfrm>
            <a:off x="8366760" y="3703320"/>
            <a:ext cx="457200" cy="457200"/>
          </a:xfrm>
          <a:prstGeom prst="rect">
            <a:avLst/>
          </a:prstGeom>
          <a:solidFill>
            <a:srgbClr val="FFE08A"/>
          </a:solidFill>
          <a:ln w="9525">
            <a:solidFill>
              <a:srgbClr val="3F3F4A"/>
            </a:solidFill>
            <a:prstDash val="solid"/>
          </a:ln>
        </p:spPr>
      </p:sp>
      <p:sp>
        <p:nvSpPr>
          <p:cNvPr id="71" name="Shape 69"/>
          <p:cNvSpPr/>
          <p:nvPr/>
        </p:nvSpPr>
        <p:spPr>
          <a:xfrm>
            <a:off x="8823960" y="3703320"/>
            <a:ext cx="457200" cy="457200"/>
          </a:xfrm>
          <a:prstGeom prst="rect">
            <a:avLst/>
          </a:prstGeom>
          <a:solidFill>
            <a:srgbClr val="FFE08A"/>
          </a:solidFill>
          <a:ln w="9525">
            <a:solidFill>
              <a:srgbClr val="3F3F4A"/>
            </a:solidFill>
            <a:prstDash val="solid"/>
          </a:ln>
        </p:spPr>
      </p:sp>
      <p:sp>
        <p:nvSpPr>
          <p:cNvPr id="72" name="Shape 70"/>
          <p:cNvSpPr/>
          <p:nvPr/>
        </p:nvSpPr>
        <p:spPr>
          <a:xfrm>
            <a:off x="9208008" y="3931920"/>
            <a:ext cx="64008" cy="0"/>
          </a:xfrm>
          <a:prstGeom prst="line">
            <a:avLst/>
          </a:prstGeom>
          <a:noFill/>
          <a:ln w="17780">
            <a:solidFill>
              <a:srgbClr val="8A6D00"/>
            </a:solidFill>
            <a:prstDash val="solid"/>
          </a:ln>
        </p:spPr>
      </p:sp>
      <p:sp>
        <p:nvSpPr>
          <p:cNvPr id="73" name="Shape 71"/>
          <p:cNvSpPr/>
          <p:nvPr/>
        </p:nvSpPr>
        <p:spPr>
          <a:xfrm>
            <a:off x="8833104" y="3931920"/>
            <a:ext cx="64008" cy="0"/>
          </a:xfrm>
          <a:prstGeom prst="line">
            <a:avLst/>
          </a:prstGeom>
          <a:noFill/>
          <a:ln w="17780">
            <a:solidFill>
              <a:srgbClr val="8A6D00"/>
            </a:solidFill>
            <a:prstDash val="solid"/>
          </a:ln>
        </p:spPr>
      </p:sp>
      <p:sp>
        <p:nvSpPr>
          <p:cNvPr id="74" name="Shape 72"/>
          <p:cNvSpPr/>
          <p:nvPr/>
        </p:nvSpPr>
        <p:spPr>
          <a:xfrm>
            <a:off x="9052560" y="4087368"/>
            <a:ext cx="0" cy="64008"/>
          </a:xfrm>
          <a:prstGeom prst="line">
            <a:avLst/>
          </a:prstGeom>
          <a:noFill/>
          <a:ln w="17780">
            <a:solidFill>
              <a:srgbClr val="8A6D00"/>
            </a:solidFill>
            <a:prstDash val="solid"/>
          </a:ln>
        </p:spPr>
      </p:sp>
      <p:sp>
        <p:nvSpPr>
          <p:cNvPr id="75" name="Shape 73"/>
          <p:cNvSpPr/>
          <p:nvPr/>
        </p:nvSpPr>
        <p:spPr>
          <a:xfrm>
            <a:off x="9052560" y="3712464"/>
            <a:ext cx="0" cy="64008"/>
          </a:xfrm>
          <a:prstGeom prst="line">
            <a:avLst/>
          </a:prstGeom>
          <a:noFill/>
          <a:ln w="17780">
            <a:solidFill>
              <a:srgbClr val="8A6D00"/>
            </a:solidFill>
            <a:prstDash val="solid"/>
          </a:ln>
        </p:spPr>
      </p:sp>
      <p:sp>
        <p:nvSpPr>
          <p:cNvPr id="76" name="Shape 74"/>
          <p:cNvSpPr/>
          <p:nvPr/>
        </p:nvSpPr>
        <p:spPr>
          <a:xfrm>
            <a:off x="8924544" y="3803904"/>
            <a:ext cx="256032" cy="256032"/>
          </a:xfrm>
          <a:prstGeom prst="ellipse">
            <a:avLst/>
          </a:prstGeom>
          <a:solidFill>
            <a:srgbClr val="FFD23F"/>
          </a:solidFill>
          <a:ln w="17780">
            <a:solidFill>
              <a:srgbClr val="8A6D00"/>
            </a:solidFill>
            <a:prstDash val="solid"/>
          </a:ln>
        </p:spPr>
      </p:sp>
      <p:sp>
        <p:nvSpPr>
          <p:cNvPr id="77" name="Shape 75"/>
          <p:cNvSpPr/>
          <p:nvPr/>
        </p:nvSpPr>
        <p:spPr>
          <a:xfrm>
            <a:off x="9281160" y="3703320"/>
            <a:ext cx="457200" cy="457200"/>
          </a:xfrm>
          <a:prstGeom prst="rect">
            <a:avLst/>
          </a:prstGeom>
          <a:solidFill>
            <a:srgbClr val="0E0E12"/>
          </a:solidFill>
          <a:ln w="9525">
            <a:solidFill>
              <a:srgbClr val="3F3F4A"/>
            </a:solidFill>
            <a:prstDash val="solid"/>
          </a:ln>
        </p:spPr>
      </p:sp>
      <p:sp>
        <p:nvSpPr>
          <p:cNvPr id="78" name="Shape 76"/>
          <p:cNvSpPr/>
          <p:nvPr/>
        </p:nvSpPr>
        <p:spPr>
          <a:xfrm>
            <a:off x="9738360" y="3703320"/>
            <a:ext cx="457200" cy="457200"/>
          </a:xfrm>
          <a:prstGeom prst="rect">
            <a:avLst/>
          </a:prstGeom>
          <a:solidFill>
            <a:srgbClr val="FFE08A"/>
          </a:solidFill>
          <a:ln w="9525">
            <a:solidFill>
              <a:srgbClr val="3F3F4A"/>
            </a:solidFill>
            <a:prstDash val="solid"/>
          </a:ln>
        </p:spPr>
      </p:sp>
      <p:sp>
        <p:nvSpPr>
          <p:cNvPr id="79" name="Shape 77"/>
          <p:cNvSpPr/>
          <p:nvPr/>
        </p:nvSpPr>
        <p:spPr>
          <a:xfrm>
            <a:off x="10195560" y="3703320"/>
            <a:ext cx="457200" cy="457200"/>
          </a:xfrm>
          <a:prstGeom prst="rect">
            <a:avLst/>
          </a:prstGeom>
          <a:solidFill>
            <a:srgbClr val="FFE08A"/>
          </a:solidFill>
          <a:ln w="9525">
            <a:solidFill>
              <a:srgbClr val="3F3F4A"/>
            </a:solidFill>
            <a:prstDash val="solid"/>
          </a:ln>
        </p:spPr>
      </p:sp>
      <p:sp>
        <p:nvSpPr>
          <p:cNvPr id="80" name="Shape 78"/>
          <p:cNvSpPr/>
          <p:nvPr/>
        </p:nvSpPr>
        <p:spPr>
          <a:xfrm>
            <a:off x="10652760" y="3703320"/>
            <a:ext cx="457200" cy="457200"/>
          </a:xfrm>
          <a:prstGeom prst="rect">
            <a:avLst/>
          </a:prstGeom>
          <a:solidFill>
            <a:srgbClr val="FFE08A"/>
          </a:solidFill>
          <a:ln w="9525">
            <a:solidFill>
              <a:srgbClr val="3F3F4A"/>
            </a:solidFill>
            <a:prstDash val="solid"/>
          </a:ln>
        </p:spPr>
      </p:sp>
      <p:sp>
        <p:nvSpPr>
          <p:cNvPr id="81" name="Shape 79"/>
          <p:cNvSpPr/>
          <p:nvPr/>
        </p:nvSpPr>
        <p:spPr>
          <a:xfrm>
            <a:off x="11036808" y="3931920"/>
            <a:ext cx="64008" cy="0"/>
          </a:xfrm>
          <a:prstGeom prst="line">
            <a:avLst/>
          </a:prstGeom>
          <a:noFill/>
          <a:ln w="17780">
            <a:solidFill>
              <a:srgbClr val="8A6D00"/>
            </a:solidFill>
            <a:prstDash val="solid"/>
          </a:ln>
        </p:spPr>
      </p:sp>
      <p:sp>
        <p:nvSpPr>
          <p:cNvPr id="82" name="Shape 80"/>
          <p:cNvSpPr/>
          <p:nvPr/>
        </p:nvSpPr>
        <p:spPr>
          <a:xfrm>
            <a:off x="10661904" y="3931920"/>
            <a:ext cx="64008" cy="0"/>
          </a:xfrm>
          <a:prstGeom prst="line">
            <a:avLst/>
          </a:prstGeom>
          <a:noFill/>
          <a:ln w="17780">
            <a:solidFill>
              <a:srgbClr val="8A6D00"/>
            </a:solidFill>
            <a:prstDash val="solid"/>
          </a:ln>
        </p:spPr>
      </p:sp>
      <p:sp>
        <p:nvSpPr>
          <p:cNvPr id="83" name="Shape 81"/>
          <p:cNvSpPr/>
          <p:nvPr/>
        </p:nvSpPr>
        <p:spPr>
          <a:xfrm>
            <a:off x="10881360" y="4087368"/>
            <a:ext cx="0" cy="64008"/>
          </a:xfrm>
          <a:prstGeom prst="line">
            <a:avLst/>
          </a:prstGeom>
          <a:noFill/>
          <a:ln w="17780">
            <a:solidFill>
              <a:srgbClr val="8A6D00"/>
            </a:solidFill>
            <a:prstDash val="solid"/>
          </a:ln>
        </p:spPr>
      </p:sp>
      <p:sp>
        <p:nvSpPr>
          <p:cNvPr id="84" name="Shape 82"/>
          <p:cNvSpPr/>
          <p:nvPr/>
        </p:nvSpPr>
        <p:spPr>
          <a:xfrm>
            <a:off x="10881360" y="3712464"/>
            <a:ext cx="0" cy="64008"/>
          </a:xfrm>
          <a:prstGeom prst="line">
            <a:avLst/>
          </a:prstGeom>
          <a:noFill/>
          <a:ln w="17780">
            <a:solidFill>
              <a:srgbClr val="8A6D00"/>
            </a:solidFill>
            <a:prstDash val="solid"/>
          </a:ln>
        </p:spPr>
      </p:sp>
      <p:sp>
        <p:nvSpPr>
          <p:cNvPr id="85" name="Shape 83"/>
          <p:cNvSpPr/>
          <p:nvPr/>
        </p:nvSpPr>
        <p:spPr>
          <a:xfrm>
            <a:off x="10753344" y="3803904"/>
            <a:ext cx="256032" cy="256032"/>
          </a:xfrm>
          <a:prstGeom prst="ellipse">
            <a:avLst/>
          </a:prstGeom>
          <a:solidFill>
            <a:srgbClr val="FFD23F"/>
          </a:solidFill>
          <a:ln w="17780">
            <a:solidFill>
              <a:srgbClr val="8A6D00"/>
            </a:solidFill>
            <a:prstDash val="solid"/>
          </a:ln>
        </p:spPr>
      </p:sp>
      <p:sp>
        <p:nvSpPr>
          <p:cNvPr id="86" name="Shape 84"/>
          <p:cNvSpPr/>
          <p:nvPr/>
        </p:nvSpPr>
        <p:spPr>
          <a:xfrm>
            <a:off x="11109960" y="3703320"/>
            <a:ext cx="457200" cy="457200"/>
          </a:xfrm>
          <a:prstGeom prst="rect">
            <a:avLst/>
          </a:prstGeom>
          <a:solidFill>
            <a:srgbClr val="0E0E12"/>
          </a:solidFill>
          <a:ln w="9525">
            <a:solidFill>
              <a:srgbClr val="3F3F4A"/>
            </a:solidFill>
            <a:prstDash val="solid"/>
          </a:ln>
        </p:spPr>
      </p:sp>
      <p:sp>
        <p:nvSpPr>
          <p:cNvPr id="87" name="Text 85"/>
          <p:cNvSpPr/>
          <p:nvPr/>
        </p:nvSpPr>
        <p:spPr>
          <a:xfrm>
            <a:off x="11109960" y="3703320"/>
            <a:ext cx="457200" cy="457200"/>
          </a:xfrm>
          <a:prstGeom prst="rect">
            <a:avLst/>
          </a:prstGeom>
          <a:noFill/>
          <a:ln/>
        </p:spPr>
        <p:txBody>
          <a:bodyPr wrap="square" lIns="0" tIns="0" rIns="0" bIns="0" rtlCol="0" anchor="ctr"/>
          <a:lstStyle/>
          <a:p>
            <a:pPr marL="0" indent="0" algn="ctr">
              <a:buNone/>
            </a:pPr>
            <a:r>
              <a:rPr lang="en-US" sz="1300" b="1" dirty="0">
                <a:solidFill>
                  <a:srgbClr val="F2EFE7"/>
                </a:solidFill>
                <a:latin typeface="Arial" pitchFamily="34" charset="0"/>
                <a:ea typeface="Arial" pitchFamily="34" charset="-122"/>
                <a:cs typeface="Arial" pitchFamily="34" charset="-120"/>
              </a:rPr>
              <a:t>3</a:t>
            </a:r>
            <a:endParaRPr lang="en-US" sz="1300" dirty="0"/>
          </a:p>
        </p:txBody>
      </p:sp>
      <p:sp>
        <p:nvSpPr>
          <p:cNvPr id="88" name="Shape 86"/>
          <p:cNvSpPr/>
          <p:nvPr/>
        </p:nvSpPr>
        <p:spPr>
          <a:xfrm>
            <a:off x="8366760" y="4160520"/>
            <a:ext cx="457200" cy="457200"/>
          </a:xfrm>
          <a:prstGeom prst="rect">
            <a:avLst/>
          </a:prstGeom>
          <a:solidFill>
            <a:srgbClr val="FFE08A"/>
          </a:solidFill>
          <a:ln w="9525">
            <a:solidFill>
              <a:srgbClr val="3F3F4A"/>
            </a:solidFill>
            <a:prstDash val="solid"/>
          </a:ln>
        </p:spPr>
      </p:sp>
      <p:sp>
        <p:nvSpPr>
          <p:cNvPr id="89" name="Shape 87"/>
          <p:cNvSpPr/>
          <p:nvPr/>
        </p:nvSpPr>
        <p:spPr>
          <a:xfrm>
            <a:off x="8750808" y="4389120"/>
            <a:ext cx="64008" cy="0"/>
          </a:xfrm>
          <a:prstGeom prst="line">
            <a:avLst/>
          </a:prstGeom>
          <a:noFill/>
          <a:ln w="17780">
            <a:solidFill>
              <a:srgbClr val="8A6D00"/>
            </a:solidFill>
            <a:prstDash val="solid"/>
          </a:ln>
        </p:spPr>
      </p:sp>
      <p:sp>
        <p:nvSpPr>
          <p:cNvPr id="90" name="Shape 88"/>
          <p:cNvSpPr/>
          <p:nvPr/>
        </p:nvSpPr>
        <p:spPr>
          <a:xfrm>
            <a:off x="8375904" y="4389120"/>
            <a:ext cx="64008" cy="0"/>
          </a:xfrm>
          <a:prstGeom prst="line">
            <a:avLst/>
          </a:prstGeom>
          <a:noFill/>
          <a:ln w="17780">
            <a:solidFill>
              <a:srgbClr val="8A6D00"/>
            </a:solidFill>
            <a:prstDash val="solid"/>
          </a:ln>
        </p:spPr>
      </p:sp>
      <p:sp>
        <p:nvSpPr>
          <p:cNvPr id="91" name="Shape 89"/>
          <p:cNvSpPr/>
          <p:nvPr/>
        </p:nvSpPr>
        <p:spPr>
          <a:xfrm>
            <a:off x="8595360" y="4544568"/>
            <a:ext cx="0" cy="64008"/>
          </a:xfrm>
          <a:prstGeom prst="line">
            <a:avLst/>
          </a:prstGeom>
          <a:noFill/>
          <a:ln w="17780">
            <a:solidFill>
              <a:srgbClr val="8A6D00"/>
            </a:solidFill>
            <a:prstDash val="solid"/>
          </a:ln>
        </p:spPr>
      </p:sp>
      <p:sp>
        <p:nvSpPr>
          <p:cNvPr id="92" name="Shape 90"/>
          <p:cNvSpPr/>
          <p:nvPr/>
        </p:nvSpPr>
        <p:spPr>
          <a:xfrm>
            <a:off x="8595360" y="4169664"/>
            <a:ext cx="0" cy="64008"/>
          </a:xfrm>
          <a:prstGeom prst="line">
            <a:avLst/>
          </a:prstGeom>
          <a:noFill/>
          <a:ln w="17780">
            <a:solidFill>
              <a:srgbClr val="8A6D00"/>
            </a:solidFill>
            <a:prstDash val="solid"/>
          </a:ln>
        </p:spPr>
      </p:sp>
      <p:sp>
        <p:nvSpPr>
          <p:cNvPr id="93" name="Shape 91"/>
          <p:cNvSpPr/>
          <p:nvPr/>
        </p:nvSpPr>
        <p:spPr>
          <a:xfrm>
            <a:off x="8467344" y="4261104"/>
            <a:ext cx="256032" cy="256032"/>
          </a:xfrm>
          <a:prstGeom prst="ellipse">
            <a:avLst/>
          </a:prstGeom>
          <a:solidFill>
            <a:srgbClr val="FFD23F"/>
          </a:solidFill>
          <a:ln w="17780">
            <a:solidFill>
              <a:srgbClr val="8A6D00"/>
            </a:solidFill>
            <a:prstDash val="solid"/>
          </a:ln>
        </p:spPr>
      </p:sp>
      <p:sp>
        <p:nvSpPr>
          <p:cNvPr id="94" name="Shape 92"/>
          <p:cNvSpPr/>
          <p:nvPr/>
        </p:nvSpPr>
        <p:spPr>
          <a:xfrm>
            <a:off x="8823960" y="4160520"/>
            <a:ext cx="457200" cy="457200"/>
          </a:xfrm>
          <a:prstGeom prst="rect">
            <a:avLst/>
          </a:prstGeom>
          <a:solidFill>
            <a:srgbClr val="0E0E12"/>
          </a:solidFill>
          <a:ln w="9525">
            <a:solidFill>
              <a:srgbClr val="3F3F4A"/>
            </a:solidFill>
            <a:prstDash val="solid"/>
          </a:ln>
        </p:spPr>
      </p:sp>
      <p:sp>
        <p:nvSpPr>
          <p:cNvPr id="95" name="Text 93"/>
          <p:cNvSpPr/>
          <p:nvPr/>
        </p:nvSpPr>
        <p:spPr>
          <a:xfrm>
            <a:off x="8823960" y="4160520"/>
            <a:ext cx="457200" cy="457200"/>
          </a:xfrm>
          <a:prstGeom prst="rect">
            <a:avLst/>
          </a:prstGeom>
          <a:noFill/>
          <a:ln/>
        </p:spPr>
        <p:txBody>
          <a:bodyPr wrap="square" lIns="0" tIns="0" rIns="0" bIns="0" rtlCol="0" anchor="ctr"/>
          <a:lstStyle/>
          <a:p>
            <a:pPr marL="0" indent="0" algn="ctr">
              <a:buNone/>
            </a:pPr>
            <a:r>
              <a:rPr lang="en-US" sz="1300" b="1" dirty="0">
                <a:solidFill>
                  <a:srgbClr val="F2EFE7"/>
                </a:solidFill>
                <a:latin typeface="Arial" pitchFamily="34" charset="0"/>
                <a:ea typeface="Arial" pitchFamily="34" charset="-122"/>
                <a:cs typeface="Arial" pitchFamily="34" charset="-120"/>
              </a:rPr>
              <a:t>2</a:t>
            </a:r>
            <a:endParaRPr lang="en-US" sz="1300" dirty="0"/>
          </a:p>
        </p:txBody>
      </p:sp>
      <p:sp>
        <p:nvSpPr>
          <p:cNvPr id="96" name="Shape 94"/>
          <p:cNvSpPr/>
          <p:nvPr/>
        </p:nvSpPr>
        <p:spPr>
          <a:xfrm>
            <a:off x="9281160" y="4160520"/>
            <a:ext cx="457200" cy="457200"/>
          </a:xfrm>
          <a:prstGeom prst="rect">
            <a:avLst/>
          </a:prstGeom>
          <a:solidFill>
            <a:srgbClr val="FFE08A"/>
          </a:solidFill>
          <a:ln w="9525">
            <a:solidFill>
              <a:srgbClr val="3F3F4A"/>
            </a:solidFill>
            <a:prstDash val="solid"/>
          </a:ln>
        </p:spPr>
      </p:sp>
      <p:sp>
        <p:nvSpPr>
          <p:cNvPr id="97" name="Shape 95"/>
          <p:cNvSpPr/>
          <p:nvPr/>
        </p:nvSpPr>
        <p:spPr>
          <a:xfrm>
            <a:off x="9738360" y="4160520"/>
            <a:ext cx="457200" cy="457200"/>
          </a:xfrm>
          <a:prstGeom prst="rect">
            <a:avLst/>
          </a:prstGeom>
          <a:solidFill>
            <a:srgbClr val="FFE08A"/>
          </a:solidFill>
          <a:ln w="9525">
            <a:solidFill>
              <a:srgbClr val="3F3F4A"/>
            </a:solidFill>
            <a:prstDash val="solid"/>
          </a:ln>
        </p:spPr>
      </p:sp>
      <p:sp>
        <p:nvSpPr>
          <p:cNvPr id="98" name="Shape 96"/>
          <p:cNvSpPr/>
          <p:nvPr/>
        </p:nvSpPr>
        <p:spPr>
          <a:xfrm>
            <a:off x="10195560" y="4160520"/>
            <a:ext cx="457200" cy="457200"/>
          </a:xfrm>
          <a:prstGeom prst="rect">
            <a:avLst/>
          </a:prstGeom>
          <a:solidFill>
            <a:srgbClr val="FFE08A"/>
          </a:solidFill>
          <a:ln w="9525">
            <a:solidFill>
              <a:srgbClr val="3F3F4A"/>
            </a:solidFill>
            <a:prstDash val="solid"/>
          </a:ln>
        </p:spPr>
      </p:sp>
      <p:sp>
        <p:nvSpPr>
          <p:cNvPr id="99" name="Shape 97"/>
          <p:cNvSpPr/>
          <p:nvPr/>
        </p:nvSpPr>
        <p:spPr>
          <a:xfrm>
            <a:off x="10652760" y="4160520"/>
            <a:ext cx="457200" cy="457200"/>
          </a:xfrm>
          <a:prstGeom prst="rect">
            <a:avLst/>
          </a:prstGeom>
          <a:solidFill>
            <a:srgbClr val="FFE08A"/>
          </a:solidFill>
          <a:ln w="9525">
            <a:solidFill>
              <a:srgbClr val="3F3F4A"/>
            </a:solidFill>
            <a:prstDash val="solid"/>
          </a:ln>
        </p:spPr>
      </p:sp>
      <p:sp>
        <p:nvSpPr>
          <p:cNvPr id="100" name="Shape 98"/>
          <p:cNvSpPr/>
          <p:nvPr/>
        </p:nvSpPr>
        <p:spPr>
          <a:xfrm>
            <a:off x="11109960" y="4160520"/>
            <a:ext cx="457200" cy="457200"/>
          </a:xfrm>
          <a:prstGeom prst="rect">
            <a:avLst/>
          </a:prstGeom>
          <a:solidFill>
            <a:srgbClr val="FFE08A"/>
          </a:solidFill>
          <a:ln w="9525">
            <a:solidFill>
              <a:srgbClr val="3F3F4A"/>
            </a:solidFill>
            <a:prstDash val="solid"/>
          </a:ln>
        </p:spPr>
      </p:sp>
      <p:sp>
        <p:nvSpPr>
          <p:cNvPr id="101" name="Shape 99"/>
          <p:cNvSpPr/>
          <p:nvPr/>
        </p:nvSpPr>
        <p:spPr>
          <a:xfrm>
            <a:off x="11494008" y="4389120"/>
            <a:ext cx="64008" cy="0"/>
          </a:xfrm>
          <a:prstGeom prst="line">
            <a:avLst/>
          </a:prstGeom>
          <a:noFill/>
          <a:ln w="17780">
            <a:solidFill>
              <a:srgbClr val="8A6D00"/>
            </a:solidFill>
            <a:prstDash val="solid"/>
          </a:ln>
        </p:spPr>
      </p:sp>
      <p:sp>
        <p:nvSpPr>
          <p:cNvPr id="102" name="Shape 100"/>
          <p:cNvSpPr/>
          <p:nvPr/>
        </p:nvSpPr>
        <p:spPr>
          <a:xfrm>
            <a:off x="11119104" y="4389120"/>
            <a:ext cx="64008" cy="0"/>
          </a:xfrm>
          <a:prstGeom prst="line">
            <a:avLst/>
          </a:prstGeom>
          <a:noFill/>
          <a:ln w="17780">
            <a:solidFill>
              <a:srgbClr val="8A6D00"/>
            </a:solidFill>
            <a:prstDash val="solid"/>
          </a:ln>
        </p:spPr>
      </p:sp>
      <p:sp>
        <p:nvSpPr>
          <p:cNvPr id="103" name="Shape 101"/>
          <p:cNvSpPr/>
          <p:nvPr/>
        </p:nvSpPr>
        <p:spPr>
          <a:xfrm>
            <a:off x="11338560" y="4544568"/>
            <a:ext cx="0" cy="64008"/>
          </a:xfrm>
          <a:prstGeom prst="line">
            <a:avLst/>
          </a:prstGeom>
          <a:noFill/>
          <a:ln w="17780">
            <a:solidFill>
              <a:srgbClr val="8A6D00"/>
            </a:solidFill>
            <a:prstDash val="solid"/>
          </a:ln>
        </p:spPr>
      </p:sp>
      <p:sp>
        <p:nvSpPr>
          <p:cNvPr id="104" name="Shape 102"/>
          <p:cNvSpPr/>
          <p:nvPr/>
        </p:nvSpPr>
        <p:spPr>
          <a:xfrm>
            <a:off x="11338560" y="4169664"/>
            <a:ext cx="0" cy="64008"/>
          </a:xfrm>
          <a:prstGeom prst="line">
            <a:avLst/>
          </a:prstGeom>
          <a:noFill/>
          <a:ln w="17780">
            <a:solidFill>
              <a:srgbClr val="8A6D00"/>
            </a:solidFill>
            <a:prstDash val="solid"/>
          </a:ln>
        </p:spPr>
      </p:sp>
      <p:sp>
        <p:nvSpPr>
          <p:cNvPr id="105" name="Shape 103"/>
          <p:cNvSpPr/>
          <p:nvPr/>
        </p:nvSpPr>
        <p:spPr>
          <a:xfrm>
            <a:off x="11210544" y="4261104"/>
            <a:ext cx="256032" cy="256032"/>
          </a:xfrm>
          <a:prstGeom prst="ellipse">
            <a:avLst/>
          </a:prstGeom>
          <a:solidFill>
            <a:srgbClr val="FFD23F"/>
          </a:solidFill>
          <a:ln w="17780">
            <a:solidFill>
              <a:srgbClr val="8A6D00"/>
            </a:solidFill>
            <a:prstDash val="solid"/>
          </a:ln>
        </p:spPr>
      </p:sp>
      <p:sp>
        <p:nvSpPr>
          <p:cNvPr id="106" name="Text 104"/>
          <p:cNvSpPr/>
          <p:nvPr/>
        </p:nvSpPr>
        <p:spPr>
          <a:xfrm>
            <a:off x="640080" y="1554480"/>
            <a:ext cx="7315200" cy="1463040"/>
          </a:xfrm>
          <a:prstGeom prst="rect">
            <a:avLst/>
          </a:prstGeom>
          <a:noFill/>
          <a:ln/>
        </p:spPr>
        <p:txBody>
          <a:bodyPr wrap="square" lIns="0" tIns="0" rIns="0" bIns="0" rtlCol="0" anchor="ctr"/>
          <a:lstStyle/>
          <a:p>
            <a:pPr marL="0" indent="0">
              <a:buNone/>
            </a:pPr>
            <a:r>
              <a:rPr lang="en-US" sz="4000" b="1" dirty="0">
                <a:solidFill>
                  <a:srgbClr val="F2EFE7"/>
                </a:solidFill>
                <a:latin typeface="Arial" pitchFamily="34" charset="0"/>
                <a:ea typeface="Arial" pitchFamily="34" charset="-122"/>
                <a:cs typeface="Arial" pitchFamily="34" charset="-120"/>
              </a:rPr>
              <a:t>Light Up Akari with </a:t>
            </a:r>
          </a:p>
          <a:p>
            <a:pPr marL="0" indent="0">
              <a:buNone/>
            </a:pPr>
            <a:r>
              <a:rPr lang="en-US" sz="4000" b="1" dirty="0">
                <a:solidFill>
                  <a:srgbClr val="F2EFE7"/>
                </a:solidFill>
                <a:latin typeface="Arial" pitchFamily="34" charset="0"/>
                <a:ea typeface="Arial" pitchFamily="34" charset="-122"/>
                <a:cs typeface="Arial" pitchFamily="34" charset="-120"/>
              </a:rPr>
              <a:t>AI Search</a:t>
            </a:r>
            <a:endParaRPr lang="en-US" sz="4000" dirty="0"/>
          </a:p>
        </p:txBody>
      </p:sp>
      <p:sp>
        <p:nvSpPr>
          <p:cNvPr id="107" name="Text 105"/>
          <p:cNvSpPr/>
          <p:nvPr/>
        </p:nvSpPr>
        <p:spPr>
          <a:xfrm>
            <a:off x="640080" y="2880360"/>
            <a:ext cx="7315200" cy="914400"/>
          </a:xfrm>
          <a:prstGeom prst="rect">
            <a:avLst/>
          </a:prstGeom>
          <a:noFill/>
          <a:ln/>
        </p:spPr>
        <p:txBody>
          <a:bodyPr wrap="square" lIns="0" tIns="0" rIns="0" bIns="0" rtlCol="0" anchor="ctr"/>
          <a:lstStyle/>
          <a:p>
            <a:pPr marL="0" indent="0">
              <a:lnSpc>
                <a:spcPct val="150000"/>
              </a:lnSpc>
              <a:buNone/>
            </a:pPr>
            <a:r>
              <a:rPr lang="en-US" sz="1700" dirty="0">
                <a:solidFill>
                  <a:srgbClr val="FFD23F"/>
                </a:solidFill>
                <a:latin typeface="Calibri" pitchFamily="34" charset="0"/>
                <a:ea typeface="Calibri" pitchFamily="34" charset="-122"/>
                <a:cs typeface="Calibri" pitchFamily="34" charset="-120"/>
              </a:rPr>
              <a:t>Solving the LightUp puzzle with CSP backtracking,</a:t>
            </a:r>
            <a:endParaRPr lang="en-US" sz="1700" dirty="0"/>
          </a:p>
          <a:p>
            <a:pPr marL="0" indent="0">
              <a:lnSpc>
                <a:spcPct val="150000"/>
              </a:lnSpc>
              <a:buNone/>
            </a:pPr>
            <a:r>
              <a:rPr lang="en-US" sz="1700" dirty="0">
                <a:solidFill>
                  <a:srgbClr val="FFD23F"/>
                </a:solidFill>
                <a:latin typeface="Calibri" pitchFamily="34" charset="0"/>
                <a:ea typeface="Calibri" pitchFamily="34" charset="-122"/>
                <a:cs typeface="Calibri" pitchFamily="34" charset="-120"/>
              </a:rPr>
              <a:t>hill climbing and simulated annealing</a:t>
            </a:r>
            <a:endParaRPr lang="en-US" sz="1700" dirty="0"/>
          </a:p>
        </p:txBody>
      </p:sp>
      <p:sp>
        <p:nvSpPr>
          <p:cNvPr id="108" name="Text 106"/>
          <p:cNvSpPr/>
          <p:nvPr/>
        </p:nvSpPr>
        <p:spPr>
          <a:xfrm>
            <a:off x="640080" y="4297680"/>
            <a:ext cx="7315200" cy="365760"/>
          </a:xfrm>
          <a:prstGeom prst="rect">
            <a:avLst/>
          </a:prstGeom>
          <a:noFill/>
          <a:ln/>
        </p:spPr>
        <p:txBody>
          <a:bodyPr wrap="square" lIns="0" tIns="0" rIns="0" bIns="0" rtlCol="0" anchor="ctr"/>
          <a:lstStyle/>
          <a:p>
            <a:pPr marL="0" indent="0">
              <a:buNone/>
            </a:pPr>
            <a:r>
              <a:rPr lang="en-US" sz="1400" dirty="0">
                <a:solidFill>
                  <a:srgbClr val="F2EFE7"/>
                </a:solidFill>
                <a:latin typeface="Calibri" pitchFamily="34" charset="0"/>
                <a:ea typeface="Calibri" pitchFamily="34" charset="-122"/>
                <a:cs typeface="Calibri" pitchFamily="34" charset="-120"/>
              </a:rPr>
              <a:t>Anna Gasparyan ·  Ani Baghumyan ·  Izabella </a:t>
            </a:r>
            <a:r>
              <a:rPr lang="en-US" sz="1400" dirty="0" err="1">
                <a:solidFill>
                  <a:srgbClr val="F2EFE7"/>
                </a:solidFill>
                <a:latin typeface="Calibri" pitchFamily="34" charset="0"/>
                <a:ea typeface="Calibri" pitchFamily="34" charset="-122"/>
                <a:cs typeface="Calibri" pitchFamily="34" charset="-120"/>
              </a:rPr>
              <a:t>Atajanyan</a:t>
            </a:r>
            <a:endParaRPr lang="en-US" sz="1400" dirty="0"/>
          </a:p>
        </p:txBody>
      </p:sp>
      <p:sp>
        <p:nvSpPr>
          <p:cNvPr id="109" name="Text 107"/>
          <p:cNvSpPr/>
          <p:nvPr/>
        </p:nvSpPr>
        <p:spPr>
          <a:xfrm>
            <a:off x="640080" y="4709160"/>
            <a:ext cx="7315200" cy="365760"/>
          </a:xfrm>
          <a:prstGeom prst="rect">
            <a:avLst/>
          </a:prstGeom>
          <a:noFill/>
          <a:ln/>
        </p:spPr>
        <p:txBody>
          <a:bodyPr wrap="square" lIns="0" tIns="0" rIns="0" bIns="0" rtlCol="0" anchor="ctr"/>
          <a:lstStyle/>
          <a:p>
            <a:pPr marL="0" indent="0">
              <a:buNone/>
            </a:pPr>
            <a:r>
              <a:rPr lang="en-US" sz="1300" dirty="0">
                <a:solidFill>
                  <a:srgbClr val="A9A6B0"/>
                </a:solidFill>
                <a:latin typeface="Calibri" pitchFamily="34" charset="0"/>
                <a:ea typeface="Calibri" pitchFamily="34" charset="-122"/>
                <a:cs typeface="Calibri" pitchFamily="34" charset="-120"/>
              </a:rPr>
              <a:t>CS 246 Artificial Intelligence — AUA, Summer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The puzzle: three rules</a:t>
            </a:r>
            <a:endParaRPr lang="en-US" sz="3000" dirty="0"/>
          </a:p>
        </p:txBody>
      </p:sp>
      <p:sp>
        <p:nvSpPr>
          <p:cNvPr id="3" name="Text 1"/>
          <p:cNvSpPr/>
          <p:nvPr/>
        </p:nvSpPr>
        <p:spPr>
          <a:xfrm>
            <a:off x="640080" y="1325880"/>
            <a:ext cx="6126480" cy="1143000"/>
          </a:xfrm>
          <a:prstGeom prst="rect">
            <a:avLst/>
          </a:prstGeom>
          <a:noFill/>
          <a:ln/>
        </p:spPr>
        <p:txBody>
          <a:bodyPr wrap="square" lIns="0" tIns="0" rIns="0" bIns="0" rtlCol="0" anchor="t"/>
          <a:lstStyle/>
          <a:p>
            <a:pPr marL="0" indent="0">
              <a:buNone/>
            </a:pPr>
            <a:r>
              <a:rPr lang="en-US" sz="1800" b="1" dirty="0">
                <a:solidFill>
                  <a:srgbClr val="FFD23F"/>
                </a:solidFill>
                <a:latin typeface="Arial" pitchFamily="34" charset="0"/>
                <a:ea typeface="Arial" pitchFamily="34" charset="-122"/>
                <a:cs typeface="Arial" pitchFamily="34" charset="-120"/>
              </a:rPr>
              <a:t>R1 — Illumination</a:t>
            </a:r>
            <a:endParaRPr lang="en-US" sz="1800" dirty="0"/>
          </a:p>
          <a:p>
            <a:pPr marL="0" indent="0">
              <a:buNone/>
            </a:pPr>
            <a:r>
              <a:rPr lang="en-US" sz="1500" dirty="0">
                <a:solidFill>
                  <a:srgbClr val="F2EFE7"/>
                </a:solidFill>
                <a:latin typeface="Calibri" pitchFamily="34" charset="0"/>
                <a:ea typeface="Calibri" pitchFamily="34" charset="-122"/>
                <a:cs typeface="Calibri" pitchFamily="34" charset="-120"/>
              </a:rPr>
              <a:t>Every white cell must be lit. </a:t>
            </a:r>
          </a:p>
          <a:p>
            <a:pPr marL="0" indent="0">
              <a:buNone/>
            </a:pPr>
            <a:r>
              <a:rPr lang="en-US" sz="1500" dirty="0">
                <a:solidFill>
                  <a:srgbClr val="F2EFE7"/>
                </a:solidFill>
                <a:latin typeface="Calibri" pitchFamily="34" charset="0"/>
                <a:ea typeface="Calibri" pitchFamily="34" charset="-122"/>
                <a:cs typeface="Calibri" pitchFamily="34" charset="-120"/>
              </a:rPr>
              <a:t>A bulb lights its whole row and column until a wall blocks it.</a:t>
            </a:r>
            <a:endParaRPr lang="en-US" sz="1800" dirty="0"/>
          </a:p>
        </p:txBody>
      </p:sp>
      <p:sp>
        <p:nvSpPr>
          <p:cNvPr id="4" name="Text 2"/>
          <p:cNvSpPr/>
          <p:nvPr/>
        </p:nvSpPr>
        <p:spPr>
          <a:xfrm>
            <a:off x="640080" y="2606040"/>
            <a:ext cx="6126480" cy="1143000"/>
          </a:xfrm>
          <a:prstGeom prst="rect">
            <a:avLst/>
          </a:prstGeom>
          <a:noFill/>
          <a:ln/>
        </p:spPr>
        <p:txBody>
          <a:bodyPr wrap="square" lIns="0" tIns="0" rIns="0" bIns="0" rtlCol="0" anchor="t"/>
          <a:lstStyle/>
          <a:p>
            <a:pPr marL="0" indent="0">
              <a:buNone/>
            </a:pPr>
            <a:r>
              <a:rPr lang="en-US" sz="1800" b="1" dirty="0">
                <a:solidFill>
                  <a:srgbClr val="FFD23F"/>
                </a:solidFill>
                <a:latin typeface="Arial" pitchFamily="34" charset="0"/>
                <a:ea typeface="Arial" pitchFamily="34" charset="-122"/>
                <a:cs typeface="Arial" pitchFamily="34" charset="-120"/>
              </a:rPr>
              <a:t>R2 — No mutual light</a:t>
            </a:r>
            <a:endParaRPr lang="en-US" sz="1800" dirty="0"/>
          </a:p>
          <a:p>
            <a:pPr marL="0" indent="0">
              <a:buNone/>
            </a:pPr>
            <a:r>
              <a:rPr lang="en-US" sz="1500" dirty="0">
                <a:solidFill>
                  <a:srgbClr val="F2EFE7"/>
                </a:solidFill>
                <a:latin typeface="Calibri" pitchFamily="34" charset="0"/>
                <a:ea typeface="Calibri" pitchFamily="34" charset="-122"/>
                <a:cs typeface="Calibri" pitchFamily="34" charset="-120"/>
              </a:rPr>
              <a:t>No bulb may shine on another bulb.</a:t>
            </a:r>
            <a:endParaRPr lang="en-US" sz="1800" dirty="0"/>
          </a:p>
        </p:txBody>
      </p:sp>
      <p:sp>
        <p:nvSpPr>
          <p:cNvPr id="5" name="Text 3"/>
          <p:cNvSpPr/>
          <p:nvPr/>
        </p:nvSpPr>
        <p:spPr>
          <a:xfrm>
            <a:off x="640080" y="3886200"/>
            <a:ext cx="6126480" cy="1143000"/>
          </a:xfrm>
          <a:prstGeom prst="rect">
            <a:avLst/>
          </a:prstGeom>
          <a:noFill/>
          <a:ln/>
        </p:spPr>
        <p:txBody>
          <a:bodyPr wrap="square" lIns="0" tIns="0" rIns="0" bIns="0" rtlCol="0" anchor="t"/>
          <a:lstStyle/>
          <a:p>
            <a:pPr marL="0" indent="0">
              <a:buNone/>
            </a:pPr>
            <a:r>
              <a:rPr lang="en-US" sz="1800" b="1" dirty="0">
                <a:solidFill>
                  <a:srgbClr val="FFD23F"/>
                </a:solidFill>
                <a:latin typeface="Arial" pitchFamily="34" charset="0"/>
                <a:ea typeface="Arial" pitchFamily="34" charset="-122"/>
                <a:cs typeface="Arial" pitchFamily="34" charset="-120"/>
              </a:rPr>
              <a:t>R3 — Clue exactness</a:t>
            </a:r>
            <a:endParaRPr lang="en-US" sz="1800" dirty="0"/>
          </a:p>
          <a:p>
            <a:pPr marL="0" indent="0">
              <a:buNone/>
            </a:pPr>
            <a:r>
              <a:rPr lang="en-US" sz="1500" dirty="0">
                <a:solidFill>
                  <a:srgbClr val="F2EFE7"/>
                </a:solidFill>
                <a:latin typeface="Calibri" pitchFamily="34" charset="0"/>
                <a:ea typeface="Calibri" pitchFamily="34" charset="-122"/>
                <a:cs typeface="Calibri" pitchFamily="34" charset="-120"/>
              </a:rPr>
              <a:t>A numbered wall must touch exactly that many bulbs. </a:t>
            </a:r>
          </a:p>
          <a:p>
            <a:pPr marL="0" indent="0">
              <a:buNone/>
            </a:pPr>
            <a:r>
              <a:rPr lang="en-US" sz="1500" dirty="0">
                <a:solidFill>
                  <a:srgbClr val="F2EFE7"/>
                </a:solidFill>
                <a:latin typeface="Calibri" pitchFamily="34" charset="0"/>
                <a:ea typeface="Calibri" pitchFamily="34" charset="-122"/>
                <a:cs typeface="Calibri" pitchFamily="34" charset="-120"/>
              </a:rPr>
              <a:t>Plain walls constrain nothing.</a:t>
            </a:r>
            <a:endParaRPr lang="en-US" sz="1800" dirty="0"/>
          </a:p>
        </p:txBody>
      </p:sp>
      <p:sp>
        <p:nvSpPr>
          <p:cNvPr id="6" name="Text 4"/>
          <p:cNvSpPr/>
          <p:nvPr/>
        </p:nvSpPr>
        <p:spPr>
          <a:xfrm>
            <a:off x="640080" y="5303520"/>
            <a:ext cx="6126480" cy="822960"/>
          </a:xfrm>
          <a:prstGeom prst="rect">
            <a:avLst/>
          </a:prstGeom>
          <a:noFill/>
          <a:ln/>
        </p:spPr>
        <p:txBody>
          <a:bodyPr wrap="square" lIns="0" tIns="0" rIns="0" bIns="0" rtlCol="0" anchor="ctr"/>
          <a:lstStyle/>
          <a:p>
            <a:pPr marL="0" indent="0">
              <a:buNone/>
            </a:pPr>
            <a:r>
              <a:rPr lang="en-US" sz="1300" i="1" dirty="0">
                <a:solidFill>
                  <a:srgbClr val="A9A6B0"/>
                </a:solidFill>
                <a:latin typeface="Calibri" pitchFamily="34" charset="0"/>
                <a:ea typeface="Calibri" pitchFamily="34" charset="-122"/>
                <a:cs typeface="Calibri" pitchFamily="34" charset="-120"/>
              </a:rPr>
              <a:t>Uniqueness of the solution is a publishing convention — not a rule. </a:t>
            </a:r>
          </a:p>
          <a:p>
            <a:pPr marL="0" indent="0">
              <a:buNone/>
            </a:pPr>
            <a:r>
              <a:rPr lang="en-US" sz="1300" i="1" dirty="0">
                <a:solidFill>
                  <a:srgbClr val="A9A6B0"/>
                </a:solidFill>
                <a:latin typeface="Calibri" pitchFamily="34" charset="0"/>
                <a:ea typeface="Calibri" pitchFamily="34" charset="-122"/>
                <a:cs typeface="Calibri" pitchFamily="34" charset="-120"/>
              </a:rPr>
              <a:t>The rules define a constraint-satisfaction problem.</a:t>
            </a:r>
            <a:endParaRPr lang="en-US" sz="1300" dirty="0"/>
          </a:p>
        </p:txBody>
      </p:sp>
      <p:sp>
        <p:nvSpPr>
          <p:cNvPr id="7" name="Shape 5"/>
          <p:cNvSpPr/>
          <p:nvPr/>
        </p:nvSpPr>
        <p:spPr>
          <a:xfrm>
            <a:off x="7863840" y="1554480"/>
            <a:ext cx="1005840" cy="1005840"/>
          </a:xfrm>
          <a:prstGeom prst="rect">
            <a:avLst/>
          </a:prstGeom>
          <a:solidFill>
            <a:srgbClr val="0E0E12"/>
          </a:solidFill>
          <a:ln w="9525">
            <a:solidFill>
              <a:srgbClr val="3F3F4A"/>
            </a:solidFill>
            <a:prstDash val="solid"/>
          </a:ln>
        </p:spPr>
      </p:sp>
      <p:sp>
        <p:nvSpPr>
          <p:cNvPr id="8" name="Text 6"/>
          <p:cNvSpPr/>
          <p:nvPr/>
        </p:nvSpPr>
        <p:spPr>
          <a:xfrm>
            <a:off x="7863840" y="1554480"/>
            <a:ext cx="1005840" cy="1005840"/>
          </a:xfrm>
          <a:prstGeom prst="rect">
            <a:avLst/>
          </a:prstGeom>
          <a:noFill/>
          <a:ln/>
        </p:spPr>
        <p:txBody>
          <a:bodyPr wrap="square" lIns="0" tIns="0" rIns="0" bIns="0" rtlCol="0" anchor="ctr"/>
          <a:lstStyle/>
          <a:p>
            <a:pPr marL="0" indent="0" algn="ctr">
              <a:buNone/>
            </a:pPr>
            <a:r>
              <a:rPr lang="en-US" sz="2860" b="1" dirty="0">
                <a:solidFill>
                  <a:srgbClr val="F2EFE7"/>
                </a:solidFill>
                <a:latin typeface="Arial" pitchFamily="34" charset="0"/>
                <a:ea typeface="Arial" pitchFamily="34" charset="-122"/>
                <a:cs typeface="Arial" pitchFamily="34" charset="-120"/>
              </a:rPr>
              <a:t>2</a:t>
            </a:r>
            <a:endParaRPr lang="en-US" sz="2860" dirty="0"/>
          </a:p>
        </p:txBody>
      </p:sp>
      <p:sp>
        <p:nvSpPr>
          <p:cNvPr id="9" name="Shape 7"/>
          <p:cNvSpPr/>
          <p:nvPr/>
        </p:nvSpPr>
        <p:spPr>
          <a:xfrm>
            <a:off x="8869680" y="1554480"/>
            <a:ext cx="1005840" cy="1005840"/>
          </a:xfrm>
          <a:prstGeom prst="rect">
            <a:avLst/>
          </a:prstGeom>
          <a:solidFill>
            <a:srgbClr val="FFE08A"/>
          </a:solidFill>
          <a:ln w="9525">
            <a:solidFill>
              <a:srgbClr val="3F3F4A"/>
            </a:solidFill>
            <a:prstDash val="solid"/>
          </a:ln>
        </p:spPr>
      </p:sp>
      <p:sp>
        <p:nvSpPr>
          <p:cNvPr id="10" name="Shape 8"/>
          <p:cNvSpPr/>
          <p:nvPr/>
        </p:nvSpPr>
        <p:spPr>
          <a:xfrm>
            <a:off x="9714586" y="2057400"/>
            <a:ext cx="140818" cy="0"/>
          </a:xfrm>
          <a:prstGeom prst="line">
            <a:avLst/>
          </a:prstGeom>
          <a:noFill/>
          <a:ln w="17780">
            <a:solidFill>
              <a:srgbClr val="8A6D00"/>
            </a:solidFill>
            <a:prstDash val="solid"/>
          </a:ln>
        </p:spPr>
      </p:sp>
      <p:sp>
        <p:nvSpPr>
          <p:cNvPr id="11" name="Shape 9"/>
          <p:cNvSpPr/>
          <p:nvPr/>
        </p:nvSpPr>
        <p:spPr>
          <a:xfrm>
            <a:off x="8889797" y="2057400"/>
            <a:ext cx="140818" cy="0"/>
          </a:xfrm>
          <a:prstGeom prst="line">
            <a:avLst/>
          </a:prstGeom>
          <a:noFill/>
          <a:ln w="17780">
            <a:solidFill>
              <a:srgbClr val="8A6D00"/>
            </a:solidFill>
            <a:prstDash val="solid"/>
          </a:ln>
        </p:spPr>
      </p:sp>
      <p:sp>
        <p:nvSpPr>
          <p:cNvPr id="12" name="Shape 10"/>
          <p:cNvSpPr/>
          <p:nvPr/>
        </p:nvSpPr>
        <p:spPr>
          <a:xfrm>
            <a:off x="9372600" y="2399386"/>
            <a:ext cx="0" cy="140818"/>
          </a:xfrm>
          <a:prstGeom prst="line">
            <a:avLst/>
          </a:prstGeom>
          <a:noFill/>
          <a:ln w="17780">
            <a:solidFill>
              <a:srgbClr val="8A6D00"/>
            </a:solidFill>
            <a:prstDash val="solid"/>
          </a:ln>
        </p:spPr>
      </p:sp>
      <p:sp>
        <p:nvSpPr>
          <p:cNvPr id="13" name="Shape 11"/>
          <p:cNvSpPr/>
          <p:nvPr/>
        </p:nvSpPr>
        <p:spPr>
          <a:xfrm>
            <a:off x="9372600" y="1574597"/>
            <a:ext cx="0" cy="140818"/>
          </a:xfrm>
          <a:prstGeom prst="line">
            <a:avLst/>
          </a:prstGeom>
          <a:noFill/>
          <a:ln w="17780">
            <a:solidFill>
              <a:srgbClr val="8A6D00"/>
            </a:solidFill>
            <a:prstDash val="solid"/>
          </a:ln>
        </p:spPr>
      </p:sp>
      <p:sp>
        <p:nvSpPr>
          <p:cNvPr id="14" name="Shape 12"/>
          <p:cNvSpPr/>
          <p:nvPr/>
        </p:nvSpPr>
        <p:spPr>
          <a:xfrm>
            <a:off x="9090965" y="1775765"/>
            <a:ext cx="563270" cy="563270"/>
          </a:xfrm>
          <a:prstGeom prst="ellipse">
            <a:avLst/>
          </a:prstGeom>
          <a:solidFill>
            <a:srgbClr val="FFD23F"/>
          </a:solidFill>
          <a:ln w="17780">
            <a:solidFill>
              <a:srgbClr val="8A6D00"/>
            </a:solidFill>
            <a:prstDash val="solid"/>
          </a:ln>
        </p:spPr>
      </p:sp>
      <p:sp>
        <p:nvSpPr>
          <p:cNvPr id="15" name="Shape 13"/>
          <p:cNvSpPr/>
          <p:nvPr/>
        </p:nvSpPr>
        <p:spPr>
          <a:xfrm>
            <a:off x="9875520" y="1554480"/>
            <a:ext cx="1005840" cy="1005840"/>
          </a:xfrm>
          <a:prstGeom prst="rect">
            <a:avLst/>
          </a:prstGeom>
          <a:solidFill>
            <a:srgbClr val="FFE08A"/>
          </a:solidFill>
          <a:ln w="9525">
            <a:solidFill>
              <a:srgbClr val="3F3F4A"/>
            </a:solidFill>
            <a:prstDash val="solid"/>
          </a:ln>
        </p:spPr>
      </p:sp>
      <p:sp>
        <p:nvSpPr>
          <p:cNvPr id="16" name="Shape 14"/>
          <p:cNvSpPr/>
          <p:nvPr/>
        </p:nvSpPr>
        <p:spPr>
          <a:xfrm>
            <a:off x="7863840" y="2560320"/>
            <a:ext cx="1005840" cy="1005840"/>
          </a:xfrm>
          <a:prstGeom prst="rect">
            <a:avLst/>
          </a:prstGeom>
          <a:solidFill>
            <a:srgbClr val="FFE08A"/>
          </a:solidFill>
          <a:ln w="9525">
            <a:solidFill>
              <a:srgbClr val="3F3F4A"/>
            </a:solidFill>
            <a:prstDash val="solid"/>
          </a:ln>
        </p:spPr>
      </p:sp>
      <p:sp>
        <p:nvSpPr>
          <p:cNvPr id="17" name="Shape 15"/>
          <p:cNvSpPr/>
          <p:nvPr/>
        </p:nvSpPr>
        <p:spPr>
          <a:xfrm>
            <a:off x="8708746" y="3063240"/>
            <a:ext cx="140818" cy="0"/>
          </a:xfrm>
          <a:prstGeom prst="line">
            <a:avLst/>
          </a:prstGeom>
          <a:noFill/>
          <a:ln w="17780">
            <a:solidFill>
              <a:srgbClr val="8A6D00"/>
            </a:solidFill>
            <a:prstDash val="solid"/>
          </a:ln>
        </p:spPr>
      </p:sp>
      <p:sp>
        <p:nvSpPr>
          <p:cNvPr id="18" name="Shape 16"/>
          <p:cNvSpPr/>
          <p:nvPr/>
        </p:nvSpPr>
        <p:spPr>
          <a:xfrm>
            <a:off x="7883957" y="3063240"/>
            <a:ext cx="140818" cy="0"/>
          </a:xfrm>
          <a:prstGeom prst="line">
            <a:avLst/>
          </a:prstGeom>
          <a:noFill/>
          <a:ln w="17780">
            <a:solidFill>
              <a:srgbClr val="8A6D00"/>
            </a:solidFill>
            <a:prstDash val="solid"/>
          </a:ln>
        </p:spPr>
      </p:sp>
      <p:sp>
        <p:nvSpPr>
          <p:cNvPr id="19" name="Shape 17"/>
          <p:cNvSpPr/>
          <p:nvPr/>
        </p:nvSpPr>
        <p:spPr>
          <a:xfrm>
            <a:off x="8366760" y="3405226"/>
            <a:ext cx="0" cy="140818"/>
          </a:xfrm>
          <a:prstGeom prst="line">
            <a:avLst/>
          </a:prstGeom>
          <a:noFill/>
          <a:ln w="17780">
            <a:solidFill>
              <a:srgbClr val="8A6D00"/>
            </a:solidFill>
            <a:prstDash val="solid"/>
          </a:ln>
        </p:spPr>
      </p:sp>
      <p:sp>
        <p:nvSpPr>
          <p:cNvPr id="20" name="Shape 18"/>
          <p:cNvSpPr/>
          <p:nvPr/>
        </p:nvSpPr>
        <p:spPr>
          <a:xfrm>
            <a:off x="8366760" y="2580437"/>
            <a:ext cx="0" cy="140818"/>
          </a:xfrm>
          <a:prstGeom prst="line">
            <a:avLst/>
          </a:prstGeom>
          <a:noFill/>
          <a:ln w="17780">
            <a:solidFill>
              <a:srgbClr val="8A6D00"/>
            </a:solidFill>
            <a:prstDash val="solid"/>
          </a:ln>
        </p:spPr>
      </p:sp>
      <p:sp>
        <p:nvSpPr>
          <p:cNvPr id="21" name="Shape 19"/>
          <p:cNvSpPr/>
          <p:nvPr/>
        </p:nvSpPr>
        <p:spPr>
          <a:xfrm>
            <a:off x="8085125" y="2781605"/>
            <a:ext cx="563270" cy="563270"/>
          </a:xfrm>
          <a:prstGeom prst="ellipse">
            <a:avLst/>
          </a:prstGeom>
          <a:solidFill>
            <a:srgbClr val="FFD23F"/>
          </a:solidFill>
          <a:ln w="17780">
            <a:solidFill>
              <a:srgbClr val="8A6D00"/>
            </a:solidFill>
            <a:prstDash val="solid"/>
          </a:ln>
        </p:spPr>
      </p:sp>
      <p:sp>
        <p:nvSpPr>
          <p:cNvPr id="22" name="Shape 20"/>
          <p:cNvSpPr/>
          <p:nvPr/>
        </p:nvSpPr>
        <p:spPr>
          <a:xfrm>
            <a:off x="8869680" y="2560320"/>
            <a:ext cx="1005840" cy="1005840"/>
          </a:xfrm>
          <a:prstGeom prst="rect">
            <a:avLst/>
          </a:prstGeom>
          <a:solidFill>
            <a:srgbClr val="FFE08A"/>
          </a:solidFill>
          <a:ln w="9525">
            <a:solidFill>
              <a:srgbClr val="3F3F4A"/>
            </a:solidFill>
            <a:prstDash val="solid"/>
          </a:ln>
        </p:spPr>
      </p:sp>
      <p:sp>
        <p:nvSpPr>
          <p:cNvPr id="23" name="Shape 21"/>
          <p:cNvSpPr/>
          <p:nvPr/>
        </p:nvSpPr>
        <p:spPr>
          <a:xfrm>
            <a:off x="9875520" y="2560320"/>
            <a:ext cx="1005840" cy="1005840"/>
          </a:xfrm>
          <a:prstGeom prst="rect">
            <a:avLst/>
          </a:prstGeom>
          <a:solidFill>
            <a:srgbClr val="FFE08A"/>
          </a:solidFill>
          <a:ln w="9525">
            <a:solidFill>
              <a:srgbClr val="3F3F4A"/>
            </a:solidFill>
            <a:prstDash val="solid"/>
          </a:ln>
        </p:spPr>
      </p:sp>
      <p:sp>
        <p:nvSpPr>
          <p:cNvPr id="24" name="Shape 22"/>
          <p:cNvSpPr/>
          <p:nvPr/>
        </p:nvSpPr>
        <p:spPr>
          <a:xfrm>
            <a:off x="7863840" y="3566160"/>
            <a:ext cx="1005840" cy="1005840"/>
          </a:xfrm>
          <a:prstGeom prst="rect">
            <a:avLst/>
          </a:prstGeom>
          <a:solidFill>
            <a:srgbClr val="FFE08A"/>
          </a:solidFill>
          <a:ln w="9525">
            <a:solidFill>
              <a:srgbClr val="3F3F4A"/>
            </a:solidFill>
            <a:prstDash val="solid"/>
          </a:ln>
        </p:spPr>
      </p:sp>
      <p:sp>
        <p:nvSpPr>
          <p:cNvPr id="25" name="Shape 23"/>
          <p:cNvSpPr/>
          <p:nvPr/>
        </p:nvSpPr>
        <p:spPr>
          <a:xfrm>
            <a:off x="8869680" y="3566160"/>
            <a:ext cx="1005840" cy="1005840"/>
          </a:xfrm>
          <a:prstGeom prst="rect">
            <a:avLst/>
          </a:prstGeom>
          <a:solidFill>
            <a:srgbClr val="FFE08A"/>
          </a:solidFill>
          <a:ln w="9525">
            <a:solidFill>
              <a:srgbClr val="3F3F4A"/>
            </a:solidFill>
            <a:prstDash val="solid"/>
          </a:ln>
        </p:spPr>
      </p:sp>
      <p:sp>
        <p:nvSpPr>
          <p:cNvPr id="26" name="Shape 24"/>
          <p:cNvSpPr/>
          <p:nvPr/>
        </p:nvSpPr>
        <p:spPr>
          <a:xfrm>
            <a:off x="9875520" y="3566160"/>
            <a:ext cx="1005840" cy="1005840"/>
          </a:xfrm>
          <a:prstGeom prst="rect">
            <a:avLst/>
          </a:prstGeom>
          <a:solidFill>
            <a:srgbClr val="FFE08A"/>
          </a:solidFill>
          <a:ln w="9525">
            <a:solidFill>
              <a:srgbClr val="3F3F4A"/>
            </a:solidFill>
            <a:prstDash val="solid"/>
          </a:ln>
        </p:spPr>
      </p:sp>
      <p:sp>
        <p:nvSpPr>
          <p:cNvPr id="27" name="Shape 25"/>
          <p:cNvSpPr/>
          <p:nvPr/>
        </p:nvSpPr>
        <p:spPr>
          <a:xfrm>
            <a:off x="10720426" y="4069080"/>
            <a:ext cx="140818" cy="0"/>
          </a:xfrm>
          <a:prstGeom prst="line">
            <a:avLst/>
          </a:prstGeom>
          <a:noFill/>
          <a:ln w="17780">
            <a:solidFill>
              <a:srgbClr val="8A6D00"/>
            </a:solidFill>
            <a:prstDash val="solid"/>
          </a:ln>
        </p:spPr>
      </p:sp>
      <p:sp>
        <p:nvSpPr>
          <p:cNvPr id="28" name="Shape 26"/>
          <p:cNvSpPr/>
          <p:nvPr/>
        </p:nvSpPr>
        <p:spPr>
          <a:xfrm>
            <a:off x="9895637" y="4069080"/>
            <a:ext cx="140818" cy="0"/>
          </a:xfrm>
          <a:prstGeom prst="line">
            <a:avLst/>
          </a:prstGeom>
          <a:noFill/>
          <a:ln w="17780">
            <a:solidFill>
              <a:srgbClr val="8A6D00"/>
            </a:solidFill>
            <a:prstDash val="solid"/>
          </a:ln>
        </p:spPr>
      </p:sp>
      <p:sp>
        <p:nvSpPr>
          <p:cNvPr id="29" name="Shape 27"/>
          <p:cNvSpPr/>
          <p:nvPr/>
        </p:nvSpPr>
        <p:spPr>
          <a:xfrm>
            <a:off x="10378440" y="4411066"/>
            <a:ext cx="0" cy="140818"/>
          </a:xfrm>
          <a:prstGeom prst="line">
            <a:avLst/>
          </a:prstGeom>
          <a:noFill/>
          <a:ln w="17780">
            <a:solidFill>
              <a:srgbClr val="8A6D00"/>
            </a:solidFill>
            <a:prstDash val="solid"/>
          </a:ln>
        </p:spPr>
      </p:sp>
      <p:sp>
        <p:nvSpPr>
          <p:cNvPr id="30" name="Shape 28"/>
          <p:cNvSpPr/>
          <p:nvPr/>
        </p:nvSpPr>
        <p:spPr>
          <a:xfrm>
            <a:off x="10378440" y="3586277"/>
            <a:ext cx="0" cy="140818"/>
          </a:xfrm>
          <a:prstGeom prst="line">
            <a:avLst/>
          </a:prstGeom>
          <a:noFill/>
          <a:ln w="17780">
            <a:solidFill>
              <a:srgbClr val="8A6D00"/>
            </a:solidFill>
            <a:prstDash val="solid"/>
          </a:ln>
        </p:spPr>
      </p:sp>
      <p:sp>
        <p:nvSpPr>
          <p:cNvPr id="31" name="Shape 29"/>
          <p:cNvSpPr/>
          <p:nvPr/>
        </p:nvSpPr>
        <p:spPr>
          <a:xfrm>
            <a:off x="10096805" y="3787445"/>
            <a:ext cx="563270" cy="563270"/>
          </a:xfrm>
          <a:prstGeom prst="ellipse">
            <a:avLst/>
          </a:prstGeom>
          <a:solidFill>
            <a:srgbClr val="FFD23F"/>
          </a:solidFill>
          <a:ln w="17780">
            <a:solidFill>
              <a:srgbClr val="8A6D00"/>
            </a:solidFill>
            <a:prstDash val="solid"/>
          </a:ln>
        </p:spPr>
      </p:sp>
      <p:sp>
        <p:nvSpPr>
          <p:cNvPr id="32" name="Text 30"/>
          <p:cNvSpPr/>
          <p:nvPr/>
        </p:nvSpPr>
        <p:spPr>
          <a:xfrm>
            <a:off x="7452360" y="4800600"/>
            <a:ext cx="3931920" cy="640080"/>
          </a:xfrm>
          <a:prstGeom prst="rect">
            <a:avLst/>
          </a:prstGeom>
          <a:noFill/>
          <a:ln/>
        </p:spPr>
        <p:txBody>
          <a:bodyPr wrap="square" lIns="0" tIns="0" rIns="0" bIns="0" rtlCol="0" anchor="ctr"/>
          <a:lstStyle/>
          <a:p>
            <a:pPr marL="0" indent="0" algn="ctr">
              <a:buNone/>
            </a:pPr>
            <a:r>
              <a:rPr lang="en-US" sz="1200" dirty="0">
                <a:solidFill>
                  <a:srgbClr val="A9A6B0"/>
                </a:solidFill>
                <a:latin typeface="Calibri" pitchFamily="34" charset="0"/>
                <a:ea typeface="Calibri" pitchFamily="34" charset="-122"/>
                <a:cs typeface="Calibri" pitchFamily="34" charset="-120"/>
              </a:rPr>
              <a:t>A 3×3 instance, solved: the corner ‘2’ forces both its neighbors.</a:t>
            </a:r>
            <a:endParaRPr lang="en-US" sz="1200" dirty="0"/>
          </a:p>
        </p:txBody>
      </p:sp>
      <p:sp>
        <p:nvSpPr>
          <p:cNvPr id="34" name="Text 31"/>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Why LightUp is a good AI problem</a:t>
            </a:r>
            <a:endParaRPr lang="en-US" sz="3000" dirty="0"/>
          </a:p>
        </p:txBody>
      </p:sp>
      <p:sp>
        <p:nvSpPr>
          <p:cNvPr id="3" name="Shape 1"/>
          <p:cNvSpPr/>
          <p:nvPr/>
        </p:nvSpPr>
        <p:spPr>
          <a:xfrm>
            <a:off x="457200" y="1371600"/>
            <a:ext cx="3566160" cy="2377440"/>
          </a:xfrm>
          <a:prstGeom prst="roundRect">
            <a:avLst>
              <a:gd name="adj" fmla="val 3077"/>
            </a:avLst>
          </a:prstGeom>
          <a:solidFill>
            <a:srgbClr val="2B2B35"/>
          </a:solidFill>
          <a:ln/>
        </p:spPr>
        <p:txBody>
          <a:bodyPr/>
          <a:lstStyle/>
          <a:p>
            <a:endParaRPr/>
          </a:p>
        </p:txBody>
      </p:sp>
      <p:sp>
        <p:nvSpPr>
          <p:cNvPr id="4" name="Text 2"/>
          <p:cNvSpPr/>
          <p:nvPr/>
        </p:nvSpPr>
        <p:spPr>
          <a:xfrm>
            <a:off x="731520" y="1600200"/>
            <a:ext cx="3017520" cy="2011680"/>
          </a:xfrm>
          <a:prstGeom prst="rect">
            <a:avLst/>
          </a:prstGeom>
          <a:noFill/>
          <a:ln/>
        </p:spPr>
        <p:txBody>
          <a:bodyPr wrap="square" lIns="0" tIns="0" rIns="0" bIns="0" rtlCol="0" anchor="t"/>
          <a:lstStyle/>
          <a:p>
            <a:pPr marL="0" indent="0">
              <a:lnSpc>
                <a:spcPct val="150000"/>
              </a:lnSpc>
              <a:buNone/>
            </a:pPr>
            <a:r>
              <a:rPr lang="en-US" sz="1900" b="1" dirty="0">
                <a:solidFill>
                  <a:srgbClr val="FFD23F"/>
                </a:solidFill>
                <a:latin typeface="Arial" pitchFamily="34" charset="0"/>
                <a:ea typeface="Arial" pitchFamily="34" charset="-122"/>
                <a:cs typeface="Arial" pitchFamily="34" charset="-120"/>
              </a:rPr>
              <a:t>NP-complete</a:t>
            </a:r>
            <a:endParaRPr lang="en-US" sz="1900" dirty="0"/>
          </a:p>
          <a:p>
            <a:pPr marL="0" indent="0">
              <a:lnSpc>
                <a:spcPct val="150000"/>
              </a:lnSpc>
              <a:buNone/>
            </a:pPr>
            <a:r>
              <a:rPr lang="en-US" sz="1400" dirty="0">
                <a:solidFill>
                  <a:srgbClr val="F2EFE7"/>
                </a:solidFill>
                <a:latin typeface="Calibri" pitchFamily="34" charset="0"/>
                <a:ea typeface="Calibri" pitchFamily="34" charset="-122"/>
                <a:cs typeface="Calibri" pitchFamily="34" charset="-120"/>
              </a:rPr>
              <a:t>Proven by reduction from Circuit-SAT (McPhail 2005). </a:t>
            </a:r>
          </a:p>
          <a:p>
            <a:pPr marL="0" indent="0">
              <a:lnSpc>
                <a:spcPct val="150000"/>
              </a:lnSpc>
              <a:buNone/>
            </a:pPr>
            <a:r>
              <a:rPr lang="en-US" sz="1400" dirty="0">
                <a:solidFill>
                  <a:srgbClr val="F2EFE7"/>
                </a:solidFill>
                <a:latin typeface="Calibri" pitchFamily="34" charset="0"/>
                <a:ea typeface="Calibri" pitchFamily="34" charset="-122"/>
                <a:cs typeface="Calibri" pitchFamily="34" charset="-120"/>
              </a:rPr>
              <a:t>Solving time grows exponentially in the worst case.</a:t>
            </a:r>
            <a:endParaRPr lang="en-US" sz="1900" dirty="0"/>
          </a:p>
        </p:txBody>
      </p:sp>
      <p:sp>
        <p:nvSpPr>
          <p:cNvPr id="5" name="Shape 3"/>
          <p:cNvSpPr/>
          <p:nvPr/>
        </p:nvSpPr>
        <p:spPr>
          <a:xfrm>
            <a:off x="4297680" y="1371600"/>
            <a:ext cx="3566160" cy="2377440"/>
          </a:xfrm>
          <a:prstGeom prst="roundRect">
            <a:avLst>
              <a:gd name="adj" fmla="val 3077"/>
            </a:avLst>
          </a:prstGeom>
          <a:solidFill>
            <a:srgbClr val="2B2B35"/>
          </a:solidFill>
          <a:ln/>
        </p:spPr>
        <p:txBody>
          <a:bodyPr/>
          <a:lstStyle/>
          <a:p>
            <a:endParaRPr/>
          </a:p>
        </p:txBody>
      </p:sp>
      <p:sp>
        <p:nvSpPr>
          <p:cNvPr id="6" name="Text 4"/>
          <p:cNvSpPr/>
          <p:nvPr/>
        </p:nvSpPr>
        <p:spPr>
          <a:xfrm>
            <a:off x="4572000" y="1600200"/>
            <a:ext cx="3017520" cy="2011680"/>
          </a:xfrm>
          <a:prstGeom prst="rect">
            <a:avLst/>
          </a:prstGeom>
          <a:noFill/>
          <a:ln/>
        </p:spPr>
        <p:txBody>
          <a:bodyPr wrap="square" lIns="0" tIns="0" rIns="0" bIns="0" rtlCol="0" anchor="t"/>
          <a:lstStyle/>
          <a:p>
            <a:pPr marL="0" indent="0">
              <a:lnSpc>
                <a:spcPct val="150000"/>
              </a:lnSpc>
              <a:buNone/>
            </a:pPr>
            <a:r>
              <a:rPr lang="en-US" sz="1900" b="1" dirty="0">
                <a:solidFill>
                  <a:srgbClr val="FFD23F"/>
                </a:solidFill>
                <a:latin typeface="Arial" pitchFamily="34" charset="0"/>
                <a:ea typeface="Arial" pitchFamily="34" charset="-122"/>
                <a:cs typeface="Arial" pitchFamily="34" charset="-120"/>
              </a:rPr>
              <a:t>Clean CSP</a:t>
            </a:r>
            <a:endParaRPr lang="en-US" sz="1900" dirty="0"/>
          </a:p>
          <a:p>
            <a:pPr marL="0" indent="0">
              <a:lnSpc>
                <a:spcPct val="150000"/>
              </a:lnSpc>
              <a:buNone/>
            </a:pPr>
            <a:r>
              <a:rPr lang="en-US" sz="1400" dirty="0">
                <a:solidFill>
                  <a:srgbClr val="F2EFE7"/>
                </a:solidFill>
                <a:latin typeface="Calibri" pitchFamily="34" charset="0"/>
                <a:ea typeface="Calibri" pitchFamily="34" charset="-122"/>
                <a:cs typeface="Calibri" pitchFamily="34" charset="-120"/>
              </a:rPr>
              <a:t>One binary variable per white cell; the three rules become sum constraints. Search space up to 2ⁿ.</a:t>
            </a:r>
            <a:endParaRPr lang="en-US" sz="1900" dirty="0"/>
          </a:p>
        </p:txBody>
      </p:sp>
      <p:sp>
        <p:nvSpPr>
          <p:cNvPr id="7" name="Shape 5"/>
          <p:cNvSpPr/>
          <p:nvPr/>
        </p:nvSpPr>
        <p:spPr>
          <a:xfrm>
            <a:off x="8138160" y="1371600"/>
            <a:ext cx="3566160" cy="2377440"/>
          </a:xfrm>
          <a:prstGeom prst="roundRect">
            <a:avLst>
              <a:gd name="adj" fmla="val 3077"/>
            </a:avLst>
          </a:prstGeom>
          <a:solidFill>
            <a:srgbClr val="2B2B35"/>
          </a:solidFill>
          <a:ln/>
        </p:spPr>
        <p:txBody>
          <a:bodyPr/>
          <a:lstStyle/>
          <a:p>
            <a:endParaRPr/>
          </a:p>
        </p:txBody>
      </p:sp>
      <p:sp>
        <p:nvSpPr>
          <p:cNvPr id="8" name="Text 6"/>
          <p:cNvSpPr/>
          <p:nvPr/>
        </p:nvSpPr>
        <p:spPr>
          <a:xfrm>
            <a:off x="8412480" y="1600200"/>
            <a:ext cx="3017520" cy="2011680"/>
          </a:xfrm>
          <a:prstGeom prst="rect">
            <a:avLst/>
          </a:prstGeom>
          <a:noFill/>
          <a:ln/>
        </p:spPr>
        <p:txBody>
          <a:bodyPr wrap="square" lIns="0" tIns="0" rIns="0" bIns="0" rtlCol="0" anchor="t"/>
          <a:lstStyle/>
          <a:p>
            <a:pPr marL="0" indent="0">
              <a:lnSpc>
                <a:spcPct val="150000"/>
              </a:lnSpc>
              <a:buNone/>
            </a:pPr>
            <a:r>
              <a:rPr lang="en-US" sz="1900" b="1" dirty="0">
                <a:solidFill>
                  <a:srgbClr val="FFD23F"/>
                </a:solidFill>
                <a:latin typeface="Arial" pitchFamily="34" charset="0"/>
                <a:ea typeface="Arial" pitchFamily="34" charset="-122"/>
                <a:cs typeface="Arial" pitchFamily="34" charset="-120"/>
              </a:rPr>
              <a:t>Endlessly scalable</a:t>
            </a:r>
            <a:endParaRPr lang="en-US" sz="1900" dirty="0"/>
          </a:p>
          <a:p>
            <a:pPr marL="0" indent="0">
              <a:lnSpc>
                <a:spcPct val="150000"/>
              </a:lnSpc>
              <a:buNone/>
            </a:pPr>
            <a:r>
              <a:rPr lang="en-US" sz="1400" dirty="0">
                <a:solidFill>
                  <a:srgbClr val="F2EFE7"/>
                </a:solidFill>
                <a:latin typeface="Calibri" pitchFamily="34" charset="0"/>
                <a:ea typeface="Calibri" pitchFamily="34" charset="-122"/>
                <a:cs typeface="Calibri" pitchFamily="34" charset="-120"/>
              </a:rPr>
              <a:t>Our generator builds solvable instances from 3×3 to 25×25 with tunable wall and clue density.</a:t>
            </a:r>
            <a:endParaRPr lang="en-US" sz="1900" dirty="0"/>
          </a:p>
        </p:txBody>
      </p:sp>
      <p:sp>
        <p:nvSpPr>
          <p:cNvPr id="9" name="Text 7"/>
          <p:cNvSpPr/>
          <p:nvPr/>
        </p:nvSpPr>
        <p:spPr>
          <a:xfrm>
            <a:off x="640080" y="4206240"/>
            <a:ext cx="10972800" cy="1463040"/>
          </a:xfrm>
          <a:prstGeom prst="rect">
            <a:avLst/>
          </a:prstGeom>
          <a:noFill/>
          <a:ln/>
        </p:spPr>
        <p:txBody>
          <a:bodyPr wrap="square" lIns="0" tIns="0" rIns="0" bIns="0" rtlCol="0" anchor="ctr"/>
          <a:lstStyle/>
          <a:p>
            <a:pPr marL="0" indent="0">
              <a:buNone/>
            </a:pPr>
            <a:r>
              <a:rPr lang="en-US" sz="1400" b="1" dirty="0">
                <a:solidFill>
                  <a:srgbClr val="F2EFE7"/>
                </a:solidFill>
                <a:latin typeface="Arial" pitchFamily="34" charset="0"/>
                <a:ea typeface="Arial" pitchFamily="34" charset="-122"/>
                <a:cs typeface="Arial" pitchFamily="34" charset="-120"/>
              </a:rPr>
              <a:t>Existing approaches: </a:t>
            </a:r>
          </a:p>
          <a:p>
            <a:pPr marL="0" indent="0">
              <a:buNone/>
            </a:pPr>
            <a:endParaRPr lang="en-US" sz="1400" b="1" dirty="0">
              <a:solidFill>
                <a:srgbClr val="F2EFE7"/>
              </a:solidFill>
              <a:latin typeface="Arial" pitchFamily="34" charset="0"/>
              <a:ea typeface="Arial" pitchFamily="34" charset="-122"/>
              <a:cs typeface="Arial" pitchFamily="34" charset="-120"/>
            </a:endParaRPr>
          </a:p>
          <a:p>
            <a:pPr marL="0" indent="0">
              <a:lnSpc>
                <a:spcPct val="150000"/>
              </a:lnSpc>
              <a:buNone/>
            </a:pPr>
            <a:r>
              <a:rPr lang="en-US" sz="1400" dirty="0">
                <a:solidFill>
                  <a:srgbClr val="A9A6B0"/>
                </a:solidFill>
                <a:latin typeface="Calibri" pitchFamily="34" charset="0"/>
                <a:ea typeface="Calibri" pitchFamily="34" charset="-122"/>
                <a:cs typeface="Calibri" pitchFamily="34" charset="-120"/>
              </a:rPr>
              <a:t>· SAT encoding + backtracking (Pulles 2021) </a:t>
            </a:r>
          </a:p>
          <a:p>
            <a:pPr marL="0" indent="0">
              <a:lnSpc>
                <a:spcPct val="150000"/>
              </a:lnSpc>
              <a:buNone/>
            </a:pPr>
            <a:r>
              <a:rPr lang="en-US" sz="1400" dirty="0">
                <a:solidFill>
                  <a:srgbClr val="A9A6B0"/>
                </a:solidFill>
                <a:latin typeface="Calibri" pitchFamily="34" charset="0"/>
                <a:ea typeface="Calibri" pitchFamily="34" charset="-122"/>
                <a:cs typeface="Calibri" pitchFamily="34" charset="-120"/>
              </a:rPr>
              <a:t>· constraint programming on grid puzzles incl. Akari (Çelik et al. 2009) </a:t>
            </a:r>
          </a:p>
          <a:p>
            <a:pPr marL="0" indent="0">
              <a:lnSpc>
                <a:spcPct val="150000"/>
              </a:lnSpc>
              <a:buNone/>
            </a:pPr>
            <a:r>
              <a:rPr lang="en-US" sz="1400" dirty="0">
                <a:solidFill>
                  <a:srgbClr val="A9A6B0"/>
                </a:solidFill>
                <a:latin typeface="Calibri" pitchFamily="34" charset="0"/>
                <a:ea typeface="Calibri" pitchFamily="34" charset="-122"/>
                <a:cs typeface="Calibri" pitchFamily="34" charset="-120"/>
              </a:rPr>
              <a:t>· hill climbing, simulated annealing, neural networks (Perera et al. 2021).</a:t>
            </a:r>
            <a:endParaRPr lang="en-US" sz="1400" dirty="0"/>
          </a:p>
        </p:txBody>
      </p:sp>
      <p:sp>
        <p:nvSpPr>
          <p:cNvPr id="11" name="Text 8"/>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Problem formulation (CSP)</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2834640"/>
        </p:xfrm>
        <a:graphic>
          <a:graphicData uri="http://schemas.openxmlformats.org/drawingml/2006/table">
            <a:tbl>
              <a:tblPr/>
              <a:tblGrid>
                <a:gridCol w="237744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566928">
                <a:tc>
                  <a:txBody>
                    <a:bodyPr/>
                    <a:lstStyle/>
                    <a:p>
                      <a:pPr marL="0" indent="0">
                        <a:buNone/>
                      </a:pPr>
                      <a:r>
                        <a:rPr lang="en-US" sz="1500" b="1" dirty="0">
                          <a:solidFill>
                            <a:srgbClr val="FFD23F"/>
                          </a:solidFill>
                          <a:latin typeface="Calibri" pitchFamily="34" charset="0"/>
                          <a:ea typeface="Calibri" pitchFamily="34" charset="-122"/>
                          <a:cs typeface="Calibri" pitchFamily="34" charset="-120"/>
                        </a:rPr>
                        <a:t>Variables</a:t>
                      </a:r>
                      <a:endParaRPr lang="en-US" sz="1500" dirty="0">
                        <a:latin typeface="Calibri" charset="0"/>
                        <a:ea typeface="Calibri" charset="0"/>
                        <a:cs typeface="Calibri" charset="0"/>
                      </a:endParaRPr>
                    </a:p>
                  </a:txBody>
                  <a:tcPr marL="109728" marR="109728" marT="109728" marB="109728" anchor="ctr">
                    <a:lnL w="25400" cap="flat" cmpd="sng" algn="ctr">
                      <a:solidFill>
                        <a:srgbClr val="17171D"/>
                      </a:solidFill>
                      <a:prstDash val="solid"/>
                      <a:round/>
                      <a:headEnd type="none" w="med" len="med"/>
                      <a:tailEnd type="none" w="med" len="med"/>
                    </a:lnL>
                    <a:lnR w="25400" cap="flat" cmpd="sng" algn="ctr">
                      <a:solidFill>
                        <a:srgbClr val="17171D"/>
                      </a:solidFill>
                      <a:prstDash val="solid"/>
                      <a:round/>
                      <a:headEnd type="none" w="med" len="med"/>
                      <a:tailEnd type="none" w="med" len="med"/>
                    </a:lnR>
                    <a:lnT w="25400" cap="flat" cmpd="sng" algn="ctr">
                      <a:solidFill>
                        <a:srgbClr val="17171D"/>
                      </a:solidFill>
                      <a:prstDash val="solid"/>
                      <a:round/>
                      <a:headEnd type="none" w="med" len="med"/>
                      <a:tailEnd type="none" w="med" len="med"/>
                    </a:lnT>
                    <a:lnB w="25400" cap="flat" cmpd="sng" algn="ctr">
                      <a:solidFill>
                        <a:srgbClr val="17171D"/>
                      </a:solidFill>
                      <a:prstDash val="solid"/>
                      <a:round/>
                      <a:headEnd type="none" w="med" len="med"/>
                      <a:tailEnd type="none" w="med" len="med"/>
                    </a:lnB>
                    <a:solidFill>
                      <a:srgbClr val="23232B"/>
                    </a:solidFill>
                  </a:tcPr>
                </a:tc>
                <a:tc>
                  <a:txBody>
                    <a:bodyPr/>
                    <a:lstStyle/>
                    <a:p>
                      <a:pPr marL="0" indent="0">
                        <a:buNone/>
                      </a:pPr>
                      <a:r>
                        <a:rPr lang="en-US" sz="1500" dirty="0">
                          <a:solidFill>
                            <a:srgbClr val="F2EFE7"/>
                          </a:solidFill>
                          <a:latin typeface="Calibri" pitchFamily="34" charset="0"/>
                          <a:ea typeface="Calibri" pitchFamily="34" charset="-122"/>
                          <a:cs typeface="Calibri" pitchFamily="34" charset="-120"/>
                        </a:rPr>
                        <a:t>one Xᵥ ∈ {bulb, no-bulb} per white cell</a:t>
                      </a:r>
                      <a:endParaRPr lang="en-US" sz="1500" dirty="0">
                        <a:latin typeface="Calibri" charset="0"/>
                        <a:ea typeface="Calibri" charset="0"/>
                        <a:cs typeface="Calibri" charset="0"/>
                      </a:endParaRPr>
                    </a:p>
                  </a:txBody>
                  <a:tcPr marL="109728" marR="109728" marT="109728" marB="109728" anchor="ctr">
                    <a:lnL w="25400" cap="flat" cmpd="sng" algn="ctr">
                      <a:solidFill>
                        <a:srgbClr val="17171D"/>
                      </a:solidFill>
                      <a:prstDash val="solid"/>
                      <a:round/>
                      <a:headEnd type="none" w="med" len="med"/>
                      <a:tailEnd type="none" w="med" len="med"/>
                    </a:lnL>
                    <a:lnR w="25400" cap="flat" cmpd="sng" algn="ctr">
                      <a:solidFill>
                        <a:srgbClr val="17171D"/>
                      </a:solidFill>
                      <a:prstDash val="solid"/>
                      <a:round/>
                      <a:headEnd type="none" w="med" len="med"/>
                      <a:tailEnd type="none" w="med" len="med"/>
                    </a:lnR>
                    <a:lnT w="25400" cap="flat" cmpd="sng" algn="ctr">
                      <a:solidFill>
                        <a:srgbClr val="17171D"/>
                      </a:solidFill>
                      <a:prstDash val="solid"/>
                      <a:round/>
                      <a:headEnd type="none" w="med" len="med"/>
                      <a:tailEnd type="none" w="med" len="med"/>
                    </a:lnT>
                    <a:lnB w="25400" cap="flat" cmpd="sng" algn="ctr">
                      <a:solidFill>
                        <a:srgbClr val="17171D"/>
                      </a:solidFill>
                      <a:prstDash val="solid"/>
                      <a:round/>
                      <a:headEnd type="none" w="med" len="med"/>
                      <a:tailEnd type="none" w="med" len="med"/>
                    </a:lnB>
                    <a:solidFill>
                      <a:srgbClr val="23232B"/>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FFD23F"/>
                          </a:solidFill>
                          <a:latin typeface="Calibri" pitchFamily="34" charset="0"/>
                          <a:ea typeface="Calibri" pitchFamily="34" charset="-122"/>
                          <a:cs typeface="Calibri" pitchFamily="34" charset="-120"/>
                        </a:rPr>
                        <a:t>R1  all lit</a:t>
                      </a:r>
                      <a:endParaRPr lang="en-US" sz="1500" dirty="0">
                        <a:latin typeface="Calibri" charset="0"/>
                        <a:ea typeface="Calibri" charset="0"/>
                        <a:cs typeface="Calibri" charset="0"/>
                      </a:endParaRPr>
                    </a:p>
                  </a:txBody>
                  <a:tcPr marL="109728" marR="109728" marT="109728" marB="109728" anchor="ctr">
                    <a:lnL w="25400" cap="flat" cmpd="sng" algn="ctr">
                      <a:solidFill>
                        <a:srgbClr val="17171D"/>
                      </a:solidFill>
                      <a:prstDash val="solid"/>
                      <a:round/>
                      <a:headEnd type="none" w="med" len="med"/>
                      <a:tailEnd type="none" w="med" len="med"/>
                    </a:lnL>
                    <a:lnR w="25400" cap="flat" cmpd="sng" algn="ctr">
                      <a:solidFill>
                        <a:srgbClr val="17171D"/>
                      </a:solidFill>
                      <a:prstDash val="solid"/>
                      <a:round/>
                      <a:headEnd type="none" w="med" len="med"/>
                      <a:tailEnd type="none" w="med" len="med"/>
                    </a:lnR>
                    <a:lnT w="25400" cap="flat" cmpd="sng" algn="ctr">
                      <a:solidFill>
                        <a:srgbClr val="17171D"/>
                      </a:solidFill>
                      <a:prstDash val="solid"/>
                      <a:round/>
                      <a:headEnd type="none" w="med" len="med"/>
                      <a:tailEnd type="none" w="med" len="med"/>
                    </a:lnT>
                    <a:lnB w="25400" cap="flat" cmpd="sng" algn="ctr">
                      <a:solidFill>
                        <a:srgbClr val="17171D"/>
                      </a:solidFill>
                      <a:prstDash val="solid"/>
                      <a:round/>
                      <a:headEnd type="none" w="med" len="med"/>
                      <a:tailEnd type="none" w="med" len="med"/>
                    </a:lnB>
                    <a:solidFill>
                      <a:srgbClr val="23232B"/>
                    </a:solidFill>
                  </a:tcPr>
                </a:tc>
                <a:tc>
                  <a:txBody>
                    <a:bodyPr/>
                    <a:lstStyle/>
                    <a:p>
                      <a:pPr marL="0" indent="0">
                        <a:buNone/>
                      </a:pPr>
                      <a:r>
                        <a:rPr lang="en-US" sz="1500" dirty="0">
                          <a:solidFill>
                            <a:srgbClr val="F2EFE7"/>
                          </a:solidFill>
                          <a:latin typeface="Calibri" pitchFamily="34" charset="0"/>
                          <a:ea typeface="Calibri" pitchFamily="34" charset="-122"/>
                          <a:cs typeface="Calibri" pitchFamily="34" charset="-120"/>
                        </a:rPr>
                        <a:t>Σ Xᵥ over {w} ∪ sight(w)  ≥ 1   for every white cell w</a:t>
                      </a:r>
                      <a:endParaRPr lang="en-US" sz="1500" dirty="0">
                        <a:latin typeface="Calibri" charset="0"/>
                        <a:ea typeface="Calibri" charset="0"/>
                        <a:cs typeface="Calibri" charset="0"/>
                      </a:endParaRPr>
                    </a:p>
                  </a:txBody>
                  <a:tcPr marL="109728" marR="109728" marT="109728" marB="109728" anchor="ctr">
                    <a:lnL w="25400" cap="flat" cmpd="sng" algn="ctr">
                      <a:solidFill>
                        <a:srgbClr val="17171D"/>
                      </a:solidFill>
                      <a:prstDash val="solid"/>
                      <a:round/>
                      <a:headEnd type="none" w="med" len="med"/>
                      <a:tailEnd type="none" w="med" len="med"/>
                    </a:lnL>
                    <a:lnR w="25400" cap="flat" cmpd="sng" algn="ctr">
                      <a:solidFill>
                        <a:srgbClr val="17171D"/>
                      </a:solidFill>
                      <a:prstDash val="solid"/>
                      <a:round/>
                      <a:headEnd type="none" w="med" len="med"/>
                      <a:tailEnd type="none" w="med" len="med"/>
                    </a:lnR>
                    <a:lnT w="25400" cap="flat" cmpd="sng" algn="ctr">
                      <a:solidFill>
                        <a:srgbClr val="17171D"/>
                      </a:solidFill>
                      <a:prstDash val="solid"/>
                      <a:round/>
                      <a:headEnd type="none" w="med" len="med"/>
                      <a:tailEnd type="none" w="med" len="med"/>
                    </a:lnT>
                    <a:lnB w="25400" cap="flat" cmpd="sng" algn="ctr">
                      <a:solidFill>
                        <a:srgbClr val="17171D"/>
                      </a:solidFill>
                      <a:prstDash val="solid"/>
                      <a:round/>
                      <a:headEnd type="none" w="med" len="med"/>
                      <a:tailEnd type="none" w="med" len="med"/>
                    </a:lnB>
                    <a:solidFill>
                      <a:srgbClr val="23232B"/>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FFD23F"/>
                          </a:solidFill>
                          <a:latin typeface="Calibri" pitchFamily="34" charset="0"/>
                          <a:ea typeface="Calibri" pitchFamily="34" charset="-122"/>
                          <a:cs typeface="Calibri" pitchFamily="34" charset="-120"/>
                        </a:rPr>
                        <a:t>R2  no clashes</a:t>
                      </a:r>
                      <a:endParaRPr lang="en-US" sz="1500" dirty="0">
                        <a:latin typeface="Calibri" charset="0"/>
                        <a:ea typeface="Calibri" charset="0"/>
                        <a:cs typeface="Calibri" charset="0"/>
                      </a:endParaRPr>
                    </a:p>
                  </a:txBody>
                  <a:tcPr marL="109728" marR="109728" marT="109728" marB="109728" anchor="ctr">
                    <a:lnL w="25400" cap="flat" cmpd="sng" algn="ctr">
                      <a:solidFill>
                        <a:srgbClr val="17171D"/>
                      </a:solidFill>
                      <a:prstDash val="solid"/>
                      <a:round/>
                      <a:headEnd type="none" w="med" len="med"/>
                      <a:tailEnd type="none" w="med" len="med"/>
                    </a:lnL>
                    <a:lnR w="25400" cap="flat" cmpd="sng" algn="ctr">
                      <a:solidFill>
                        <a:srgbClr val="17171D"/>
                      </a:solidFill>
                      <a:prstDash val="solid"/>
                      <a:round/>
                      <a:headEnd type="none" w="med" len="med"/>
                      <a:tailEnd type="none" w="med" len="med"/>
                    </a:lnR>
                    <a:lnT w="25400" cap="flat" cmpd="sng" algn="ctr">
                      <a:solidFill>
                        <a:srgbClr val="17171D"/>
                      </a:solidFill>
                      <a:prstDash val="solid"/>
                      <a:round/>
                      <a:headEnd type="none" w="med" len="med"/>
                      <a:tailEnd type="none" w="med" len="med"/>
                    </a:lnT>
                    <a:lnB w="25400" cap="flat" cmpd="sng" algn="ctr">
                      <a:solidFill>
                        <a:srgbClr val="17171D"/>
                      </a:solidFill>
                      <a:prstDash val="solid"/>
                      <a:round/>
                      <a:headEnd type="none" w="med" len="med"/>
                      <a:tailEnd type="none" w="med" len="med"/>
                    </a:lnB>
                    <a:solidFill>
                      <a:srgbClr val="23232B"/>
                    </a:solidFill>
                  </a:tcPr>
                </a:tc>
                <a:tc>
                  <a:txBody>
                    <a:bodyPr/>
                    <a:lstStyle/>
                    <a:p>
                      <a:pPr marL="0" indent="0">
                        <a:buNone/>
                      </a:pPr>
                      <a:r>
                        <a:rPr lang="en-US" sz="1500" dirty="0">
                          <a:solidFill>
                            <a:srgbClr val="F2EFE7"/>
                          </a:solidFill>
                          <a:latin typeface="Calibri" pitchFamily="34" charset="0"/>
                          <a:ea typeface="Calibri" pitchFamily="34" charset="-122"/>
                          <a:cs typeface="Calibri" pitchFamily="34" charset="-120"/>
                        </a:rPr>
                        <a:t>Σ Xᵥ over a wall-free segment  ≤ 1   (binary constraints)</a:t>
                      </a:r>
                      <a:endParaRPr lang="en-US" sz="1500" dirty="0">
                        <a:latin typeface="Calibri" charset="0"/>
                        <a:ea typeface="Calibri" charset="0"/>
                        <a:cs typeface="Calibri" charset="0"/>
                      </a:endParaRPr>
                    </a:p>
                  </a:txBody>
                  <a:tcPr marL="109728" marR="109728" marT="109728" marB="109728" anchor="ctr">
                    <a:lnL w="25400" cap="flat" cmpd="sng" algn="ctr">
                      <a:solidFill>
                        <a:srgbClr val="17171D"/>
                      </a:solidFill>
                      <a:prstDash val="solid"/>
                      <a:round/>
                      <a:headEnd type="none" w="med" len="med"/>
                      <a:tailEnd type="none" w="med" len="med"/>
                    </a:lnL>
                    <a:lnR w="25400" cap="flat" cmpd="sng" algn="ctr">
                      <a:solidFill>
                        <a:srgbClr val="17171D"/>
                      </a:solidFill>
                      <a:prstDash val="solid"/>
                      <a:round/>
                      <a:headEnd type="none" w="med" len="med"/>
                      <a:tailEnd type="none" w="med" len="med"/>
                    </a:lnR>
                    <a:lnT w="25400" cap="flat" cmpd="sng" algn="ctr">
                      <a:solidFill>
                        <a:srgbClr val="17171D"/>
                      </a:solidFill>
                      <a:prstDash val="solid"/>
                      <a:round/>
                      <a:headEnd type="none" w="med" len="med"/>
                      <a:tailEnd type="none" w="med" len="med"/>
                    </a:lnT>
                    <a:lnB w="25400" cap="flat" cmpd="sng" algn="ctr">
                      <a:solidFill>
                        <a:srgbClr val="17171D"/>
                      </a:solidFill>
                      <a:prstDash val="solid"/>
                      <a:round/>
                      <a:headEnd type="none" w="med" len="med"/>
                      <a:tailEnd type="none" w="med" len="med"/>
                    </a:lnB>
                    <a:solidFill>
                      <a:srgbClr val="23232B"/>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FFD23F"/>
                          </a:solidFill>
                          <a:latin typeface="Calibri" pitchFamily="34" charset="0"/>
                          <a:ea typeface="Calibri" pitchFamily="34" charset="-122"/>
                          <a:cs typeface="Calibri" pitchFamily="34" charset="-120"/>
                        </a:rPr>
                        <a:t>R3  clues exact</a:t>
                      </a:r>
                      <a:endParaRPr lang="en-US" sz="1500" dirty="0">
                        <a:latin typeface="Calibri" charset="0"/>
                        <a:ea typeface="Calibri" charset="0"/>
                        <a:cs typeface="Calibri" charset="0"/>
                      </a:endParaRPr>
                    </a:p>
                  </a:txBody>
                  <a:tcPr marL="109728" marR="109728" marT="109728" marB="109728" anchor="ctr">
                    <a:lnL w="25400" cap="flat" cmpd="sng" algn="ctr">
                      <a:solidFill>
                        <a:srgbClr val="17171D"/>
                      </a:solidFill>
                      <a:prstDash val="solid"/>
                      <a:round/>
                      <a:headEnd type="none" w="med" len="med"/>
                      <a:tailEnd type="none" w="med" len="med"/>
                    </a:lnL>
                    <a:lnR w="25400" cap="flat" cmpd="sng" algn="ctr">
                      <a:solidFill>
                        <a:srgbClr val="17171D"/>
                      </a:solidFill>
                      <a:prstDash val="solid"/>
                      <a:round/>
                      <a:headEnd type="none" w="med" len="med"/>
                      <a:tailEnd type="none" w="med" len="med"/>
                    </a:lnR>
                    <a:lnT w="25400" cap="flat" cmpd="sng" algn="ctr">
                      <a:solidFill>
                        <a:srgbClr val="17171D"/>
                      </a:solidFill>
                      <a:prstDash val="solid"/>
                      <a:round/>
                      <a:headEnd type="none" w="med" len="med"/>
                      <a:tailEnd type="none" w="med" len="med"/>
                    </a:lnT>
                    <a:lnB w="25400" cap="flat" cmpd="sng" algn="ctr">
                      <a:solidFill>
                        <a:srgbClr val="17171D"/>
                      </a:solidFill>
                      <a:prstDash val="solid"/>
                      <a:round/>
                      <a:headEnd type="none" w="med" len="med"/>
                      <a:tailEnd type="none" w="med" len="med"/>
                    </a:lnB>
                    <a:solidFill>
                      <a:srgbClr val="23232B"/>
                    </a:solidFill>
                  </a:tcPr>
                </a:tc>
                <a:tc>
                  <a:txBody>
                    <a:bodyPr/>
                    <a:lstStyle/>
                    <a:p>
                      <a:pPr marL="0" indent="0">
                        <a:buNone/>
                      </a:pPr>
                      <a:r>
                        <a:rPr lang="en-US" sz="1500" dirty="0">
                          <a:solidFill>
                            <a:srgbClr val="F2EFE7"/>
                          </a:solidFill>
                          <a:latin typeface="Calibri" pitchFamily="34" charset="0"/>
                          <a:ea typeface="Calibri" pitchFamily="34" charset="-122"/>
                          <a:cs typeface="Calibri" pitchFamily="34" charset="-120"/>
                        </a:rPr>
                        <a:t>Σ Xᵥ over a clue's neighbors  =  nₖ   (global, exactly-k)</a:t>
                      </a:r>
                      <a:endParaRPr lang="en-US" sz="1500" dirty="0">
                        <a:latin typeface="Calibri" charset="0"/>
                        <a:ea typeface="Calibri" charset="0"/>
                        <a:cs typeface="Calibri" charset="0"/>
                      </a:endParaRPr>
                    </a:p>
                  </a:txBody>
                  <a:tcPr marL="109728" marR="109728" marT="109728" marB="109728" anchor="ctr">
                    <a:lnL w="25400" cap="flat" cmpd="sng" algn="ctr">
                      <a:solidFill>
                        <a:srgbClr val="17171D"/>
                      </a:solidFill>
                      <a:prstDash val="solid"/>
                      <a:round/>
                      <a:headEnd type="none" w="med" len="med"/>
                      <a:tailEnd type="none" w="med" len="med"/>
                    </a:lnL>
                    <a:lnR w="25400" cap="flat" cmpd="sng" algn="ctr">
                      <a:solidFill>
                        <a:srgbClr val="17171D"/>
                      </a:solidFill>
                      <a:prstDash val="solid"/>
                      <a:round/>
                      <a:headEnd type="none" w="med" len="med"/>
                      <a:tailEnd type="none" w="med" len="med"/>
                    </a:lnR>
                    <a:lnT w="25400" cap="flat" cmpd="sng" algn="ctr">
                      <a:solidFill>
                        <a:srgbClr val="17171D"/>
                      </a:solidFill>
                      <a:prstDash val="solid"/>
                      <a:round/>
                      <a:headEnd type="none" w="med" len="med"/>
                      <a:tailEnd type="none" w="med" len="med"/>
                    </a:lnT>
                    <a:lnB w="25400" cap="flat" cmpd="sng" algn="ctr">
                      <a:solidFill>
                        <a:srgbClr val="17171D"/>
                      </a:solidFill>
                      <a:prstDash val="solid"/>
                      <a:round/>
                      <a:headEnd type="none" w="med" len="med"/>
                      <a:tailEnd type="none" w="med" len="med"/>
                    </a:lnB>
                    <a:solidFill>
                      <a:srgbClr val="23232B"/>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FFD23F"/>
                          </a:solidFill>
                          <a:latin typeface="Calibri" pitchFamily="34" charset="0"/>
                          <a:ea typeface="Calibri" pitchFamily="34" charset="-122"/>
                          <a:cs typeface="Calibri" pitchFamily="34" charset="-120"/>
                        </a:rPr>
                        <a:t>Goal test</a:t>
                      </a:r>
                      <a:endParaRPr lang="en-US" sz="1500" dirty="0">
                        <a:latin typeface="Calibri" charset="0"/>
                        <a:ea typeface="Calibri" charset="0"/>
                        <a:cs typeface="Calibri" charset="0"/>
                      </a:endParaRPr>
                    </a:p>
                  </a:txBody>
                  <a:tcPr marL="109728" marR="109728" marT="109728" marB="109728" anchor="ctr">
                    <a:lnL w="25400" cap="flat" cmpd="sng" algn="ctr">
                      <a:solidFill>
                        <a:srgbClr val="17171D"/>
                      </a:solidFill>
                      <a:prstDash val="solid"/>
                      <a:round/>
                      <a:headEnd type="none" w="med" len="med"/>
                      <a:tailEnd type="none" w="med" len="med"/>
                    </a:lnL>
                    <a:lnR w="25400" cap="flat" cmpd="sng" algn="ctr">
                      <a:solidFill>
                        <a:srgbClr val="17171D"/>
                      </a:solidFill>
                      <a:prstDash val="solid"/>
                      <a:round/>
                      <a:headEnd type="none" w="med" len="med"/>
                      <a:tailEnd type="none" w="med" len="med"/>
                    </a:lnR>
                    <a:lnT w="25400" cap="flat" cmpd="sng" algn="ctr">
                      <a:solidFill>
                        <a:srgbClr val="17171D"/>
                      </a:solidFill>
                      <a:prstDash val="solid"/>
                      <a:round/>
                      <a:headEnd type="none" w="med" len="med"/>
                      <a:tailEnd type="none" w="med" len="med"/>
                    </a:lnT>
                    <a:lnB w="25400" cap="flat" cmpd="sng" algn="ctr">
                      <a:solidFill>
                        <a:srgbClr val="17171D"/>
                      </a:solidFill>
                      <a:prstDash val="solid"/>
                      <a:round/>
                      <a:headEnd type="none" w="med" len="med"/>
                      <a:tailEnd type="none" w="med" len="med"/>
                    </a:lnB>
                    <a:solidFill>
                      <a:srgbClr val="23232B"/>
                    </a:solidFill>
                  </a:tcPr>
                </a:tc>
                <a:tc>
                  <a:txBody>
                    <a:bodyPr/>
                    <a:lstStyle/>
                    <a:p>
                      <a:pPr marL="0" indent="0">
                        <a:buNone/>
                      </a:pPr>
                      <a:r>
                        <a:rPr lang="en-US" sz="1500" dirty="0">
                          <a:solidFill>
                            <a:srgbClr val="F2EFE7"/>
                          </a:solidFill>
                          <a:latin typeface="Calibri" pitchFamily="34" charset="0"/>
                          <a:ea typeface="Calibri" pitchFamily="34" charset="-122"/>
                          <a:cs typeface="Calibri" pitchFamily="34" charset="-120"/>
                        </a:rPr>
                        <a:t>all constraints satisfied — checked by one shared validator</a:t>
                      </a:r>
                      <a:endParaRPr lang="en-US" sz="1500" dirty="0">
                        <a:latin typeface="Calibri" charset="0"/>
                        <a:ea typeface="Calibri" charset="0"/>
                        <a:cs typeface="Calibri" charset="0"/>
                      </a:endParaRPr>
                    </a:p>
                  </a:txBody>
                  <a:tcPr marL="109728" marR="109728" marT="109728" marB="109728" anchor="ctr">
                    <a:lnL w="25400" cap="flat" cmpd="sng" algn="ctr">
                      <a:solidFill>
                        <a:srgbClr val="17171D"/>
                      </a:solidFill>
                      <a:prstDash val="solid"/>
                      <a:round/>
                      <a:headEnd type="none" w="med" len="med"/>
                      <a:tailEnd type="none" w="med" len="med"/>
                    </a:lnL>
                    <a:lnR w="25400" cap="flat" cmpd="sng" algn="ctr">
                      <a:solidFill>
                        <a:srgbClr val="17171D"/>
                      </a:solidFill>
                      <a:prstDash val="solid"/>
                      <a:round/>
                      <a:headEnd type="none" w="med" len="med"/>
                      <a:tailEnd type="none" w="med" len="med"/>
                    </a:lnR>
                    <a:lnT w="25400" cap="flat" cmpd="sng" algn="ctr">
                      <a:solidFill>
                        <a:srgbClr val="17171D"/>
                      </a:solidFill>
                      <a:prstDash val="solid"/>
                      <a:round/>
                      <a:headEnd type="none" w="med" len="med"/>
                      <a:tailEnd type="none" w="med" len="med"/>
                    </a:lnT>
                    <a:lnB w="25400" cap="flat" cmpd="sng" algn="ctr">
                      <a:solidFill>
                        <a:srgbClr val="17171D"/>
                      </a:solidFill>
                      <a:prstDash val="solid"/>
                      <a:round/>
                      <a:headEnd type="none" w="med" len="med"/>
                      <a:tailEnd type="none" w="med" len="med"/>
                    </a:lnB>
                    <a:solidFill>
                      <a:srgbClr val="23232B"/>
                    </a:solidFill>
                  </a:tcPr>
                </a:tc>
                <a:extLst>
                  <a:ext uri="{0D108BD9-81ED-4DB2-BD59-A6C34878D82A}">
                    <a16:rowId xmlns:a16="http://schemas.microsoft.com/office/drawing/2014/main" val="10004"/>
                  </a:ext>
                </a:extLst>
              </a:tr>
            </a:tbl>
          </a:graphicData>
        </a:graphic>
      </p:graphicFrame>
      <p:sp>
        <p:nvSpPr>
          <p:cNvPr id="6" name="Text 2"/>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One problem, five solvers</a:t>
            </a:r>
            <a:endParaRPr lang="en-US" sz="3000" dirty="0"/>
          </a:p>
        </p:txBody>
      </p:sp>
      <p:sp>
        <p:nvSpPr>
          <p:cNvPr id="3" name="Shape 1"/>
          <p:cNvSpPr/>
          <p:nvPr/>
        </p:nvSpPr>
        <p:spPr>
          <a:xfrm>
            <a:off x="640080" y="1417320"/>
            <a:ext cx="5017769" cy="960120"/>
          </a:xfrm>
          <a:prstGeom prst="roundRect">
            <a:avLst>
              <a:gd name="adj" fmla="val 7619"/>
            </a:avLst>
          </a:prstGeom>
          <a:solidFill>
            <a:srgbClr val="2B2B35"/>
          </a:solidFill>
          <a:ln/>
        </p:spPr>
      </p:sp>
      <p:sp>
        <p:nvSpPr>
          <p:cNvPr id="4" name="Text 2"/>
          <p:cNvSpPr/>
          <p:nvPr/>
        </p:nvSpPr>
        <p:spPr>
          <a:xfrm>
            <a:off x="914400" y="1508760"/>
            <a:ext cx="5120640" cy="777240"/>
          </a:xfrm>
          <a:prstGeom prst="rect">
            <a:avLst/>
          </a:prstGeom>
          <a:noFill/>
          <a:ln/>
        </p:spPr>
        <p:txBody>
          <a:bodyPr wrap="square" lIns="0" tIns="0" rIns="0" bIns="0" rtlCol="0" anchor="ctr"/>
          <a:lstStyle/>
          <a:p>
            <a:pPr marL="0" indent="0">
              <a:buNone/>
            </a:pPr>
            <a:r>
              <a:rPr lang="en-US" sz="1500" b="1" dirty="0">
                <a:solidFill>
                  <a:srgbClr val="FFD23F"/>
                </a:solidFill>
                <a:latin typeface="Arial" pitchFamily="34" charset="0"/>
                <a:ea typeface="Arial" pitchFamily="34" charset="-122"/>
                <a:cs typeface="Arial" pitchFamily="34" charset="-120"/>
              </a:rPr>
              <a:t>Backtracking — naive  </a:t>
            </a:r>
            <a:r>
              <a:rPr lang="en-US" sz="1250" dirty="0">
                <a:solidFill>
                  <a:srgbClr val="F2EFE7"/>
                </a:solidFill>
                <a:latin typeface="Calibri" pitchFamily="34" charset="0"/>
                <a:ea typeface="Calibri" pitchFamily="34" charset="-122"/>
                <a:cs typeface="Calibri" pitchFamily="34" charset="-120"/>
              </a:rPr>
              <a:t>fixed order, full re-check per node </a:t>
            </a:r>
          </a:p>
          <a:p>
            <a:pPr marL="0" indent="0">
              <a:buNone/>
            </a:pPr>
            <a:r>
              <a:rPr lang="en-US" sz="1250" dirty="0">
                <a:solidFill>
                  <a:srgbClr val="F2EFE7"/>
                </a:solidFill>
                <a:latin typeface="Calibri" pitchFamily="34" charset="0"/>
                <a:ea typeface="Calibri" pitchFamily="34" charset="-122"/>
                <a:cs typeface="Calibri" pitchFamily="34" charset="-120"/>
              </a:rPr>
              <a:t>(baseline to beat)</a:t>
            </a:r>
            <a:endParaRPr lang="en-US" sz="1500" dirty="0"/>
          </a:p>
        </p:txBody>
      </p:sp>
      <p:sp>
        <p:nvSpPr>
          <p:cNvPr id="5" name="Shape 3"/>
          <p:cNvSpPr/>
          <p:nvPr/>
        </p:nvSpPr>
        <p:spPr>
          <a:xfrm>
            <a:off x="3383280" y="2377440"/>
            <a:ext cx="0" cy="320040"/>
          </a:xfrm>
          <a:prstGeom prst="line">
            <a:avLst/>
          </a:prstGeom>
          <a:noFill/>
          <a:ln w="25400">
            <a:solidFill>
              <a:srgbClr val="FFD23F"/>
            </a:solidFill>
            <a:prstDash val="solid"/>
            <a:tailEnd type="triangle"/>
          </a:ln>
        </p:spPr>
      </p:sp>
      <p:sp>
        <p:nvSpPr>
          <p:cNvPr id="6" name="Shape 4"/>
          <p:cNvSpPr/>
          <p:nvPr/>
        </p:nvSpPr>
        <p:spPr>
          <a:xfrm>
            <a:off x="601979" y="2697480"/>
            <a:ext cx="5017768" cy="960120"/>
          </a:xfrm>
          <a:prstGeom prst="roundRect">
            <a:avLst>
              <a:gd name="adj" fmla="val 7619"/>
            </a:avLst>
          </a:prstGeom>
          <a:solidFill>
            <a:srgbClr val="2B2B35"/>
          </a:solidFill>
          <a:ln/>
        </p:spPr>
      </p:sp>
      <p:sp>
        <p:nvSpPr>
          <p:cNvPr id="7" name="Text 5"/>
          <p:cNvSpPr/>
          <p:nvPr/>
        </p:nvSpPr>
        <p:spPr>
          <a:xfrm>
            <a:off x="914400" y="2788920"/>
            <a:ext cx="5120640" cy="777240"/>
          </a:xfrm>
          <a:prstGeom prst="rect">
            <a:avLst/>
          </a:prstGeom>
          <a:noFill/>
          <a:ln/>
        </p:spPr>
        <p:txBody>
          <a:bodyPr wrap="square" lIns="0" tIns="0" rIns="0" bIns="0" rtlCol="0" anchor="ctr"/>
          <a:lstStyle/>
          <a:p>
            <a:pPr marL="0" indent="0">
              <a:buNone/>
            </a:pPr>
            <a:r>
              <a:rPr lang="en-US" sz="1500" b="1" dirty="0">
                <a:solidFill>
                  <a:srgbClr val="FFD23F"/>
                </a:solidFill>
                <a:latin typeface="Arial" pitchFamily="34" charset="0"/>
                <a:ea typeface="Arial" pitchFamily="34" charset="-122"/>
                <a:cs typeface="Arial" pitchFamily="34" charset="-120"/>
              </a:rPr>
              <a:t>+ forward checking  </a:t>
            </a:r>
            <a:r>
              <a:rPr lang="en-US" sz="1250" dirty="0">
                <a:solidFill>
                  <a:srgbClr val="F2EFE7"/>
                </a:solidFill>
                <a:latin typeface="Calibri" pitchFamily="34" charset="0"/>
                <a:ea typeface="Calibri" pitchFamily="34" charset="-122"/>
                <a:cs typeface="Calibri" pitchFamily="34" charset="-120"/>
              </a:rPr>
              <a:t>a bulb rules out every cell it sees; </a:t>
            </a:r>
          </a:p>
          <a:p>
            <a:pPr marL="0" indent="0">
              <a:buNone/>
            </a:pPr>
            <a:r>
              <a:rPr lang="en-US" sz="1250" dirty="0">
                <a:solidFill>
                  <a:srgbClr val="F2EFE7"/>
                </a:solidFill>
                <a:latin typeface="Calibri" pitchFamily="34" charset="0"/>
                <a:ea typeface="Calibri" pitchFamily="34" charset="-122"/>
                <a:cs typeface="Calibri" pitchFamily="34" charset="-120"/>
              </a:rPr>
              <a:t>tightest-clue variable order</a:t>
            </a:r>
            <a:endParaRPr lang="en-US" sz="1500" dirty="0"/>
          </a:p>
        </p:txBody>
      </p:sp>
      <p:sp>
        <p:nvSpPr>
          <p:cNvPr id="8" name="Shape 6"/>
          <p:cNvSpPr/>
          <p:nvPr/>
        </p:nvSpPr>
        <p:spPr>
          <a:xfrm>
            <a:off x="3383280" y="3657600"/>
            <a:ext cx="0" cy="320040"/>
          </a:xfrm>
          <a:prstGeom prst="line">
            <a:avLst/>
          </a:prstGeom>
          <a:noFill/>
          <a:ln w="25400">
            <a:solidFill>
              <a:srgbClr val="FFD23F"/>
            </a:solidFill>
            <a:prstDash val="solid"/>
            <a:tailEnd type="triangle"/>
          </a:ln>
        </p:spPr>
      </p:sp>
      <p:sp>
        <p:nvSpPr>
          <p:cNvPr id="9" name="Shape 7"/>
          <p:cNvSpPr/>
          <p:nvPr/>
        </p:nvSpPr>
        <p:spPr>
          <a:xfrm>
            <a:off x="640080" y="3977640"/>
            <a:ext cx="4979666" cy="960120"/>
          </a:xfrm>
          <a:prstGeom prst="roundRect">
            <a:avLst>
              <a:gd name="adj" fmla="val 7619"/>
            </a:avLst>
          </a:prstGeom>
          <a:solidFill>
            <a:srgbClr val="2B2B35"/>
          </a:solidFill>
          <a:ln/>
        </p:spPr>
      </p:sp>
      <p:sp>
        <p:nvSpPr>
          <p:cNvPr id="10" name="Text 8"/>
          <p:cNvSpPr/>
          <p:nvPr/>
        </p:nvSpPr>
        <p:spPr>
          <a:xfrm>
            <a:off x="914400" y="4069080"/>
            <a:ext cx="5120640" cy="777240"/>
          </a:xfrm>
          <a:prstGeom prst="rect">
            <a:avLst/>
          </a:prstGeom>
          <a:noFill/>
          <a:ln/>
        </p:spPr>
        <p:txBody>
          <a:bodyPr wrap="square" lIns="0" tIns="0" rIns="0" bIns="0" rtlCol="0" anchor="ctr"/>
          <a:lstStyle/>
          <a:p>
            <a:pPr marL="0" indent="0">
              <a:buNone/>
            </a:pPr>
            <a:r>
              <a:rPr lang="en-US" sz="1500" b="1" dirty="0">
                <a:solidFill>
                  <a:srgbClr val="FFD23F"/>
                </a:solidFill>
                <a:latin typeface="Arial" pitchFamily="34" charset="0"/>
                <a:ea typeface="Arial" pitchFamily="34" charset="-122"/>
                <a:cs typeface="Arial" pitchFamily="34" charset="-120"/>
              </a:rPr>
              <a:t>+ full inference  </a:t>
            </a:r>
            <a:r>
              <a:rPr lang="en-US" sz="1250" dirty="0">
                <a:solidFill>
                  <a:srgbClr val="F2EFE7"/>
                </a:solidFill>
                <a:latin typeface="Calibri" pitchFamily="34" charset="0"/>
                <a:ea typeface="Calibri" pitchFamily="34" charset="-122"/>
                <a:cs typeface="Calibri" pitchFamily="34" charset="-120"/>
              </a:rPr>
              <a:t>propagate to a fixpoint: saturated, </a:t>
            </a:r>
            <a:br>
              <a:rPr lang="en-US" sz="1250" dirty="0">
                <a:solidFill>
                  <a:srgbClr val="F2EFE7"/>
                </a:solidFill>
                <a:latin typeface="Calibri" pitchFamily="34" charset="0"/>
                <a:ea typeface="Calibri" pitchFamily="34" charset="-122"/>
                <a:cs typeface="Calibri" pitchFamily="34" charset="-120"/>
              </a:rPr>
            </a:br>
            <a:r>
              <a:rPr lang="en-US" sz="1250" dirty="0">
                <a:solidFill>
                  <a:srgbClr val="F2EFE7"/>
                </a:solidFill>
                <a:latin typeface="Calibri" pitchFamily="34" charset="0"/>
                <a:ea typeface="Calibri" pitchFamily="34" charset="-122"/>
                <a:cs typeface="Calibri" pitchFamily="34" charset="-120"/>
              </a:rPr>
              <a:t>exhausted, forced lighter</a:t>
            </a:r>
            <a:endParaRPr lang="en-US" sz="1500" dirty="0"/>
          </a:p>
        </p:txBody>
      </p:sp>
      <p:sp>
        <p:nvSpPr>
          <p:cNvPr id="11" name="Shape 9"/>
          <p:cNvSpPr/>
          <p:nvPr/>
        </p:nvSpPr>
        <p:spPr>
          <a:xfrm>
            <a:off x="6675120" y="1417320"/>
            <a:ext cx="4754880" cy="960120"/>
          </a:xfrm>
          <a:prstGeom prst="roundRect">
            <a:avLst>
              <a:gd name="adj" fmla="val 7619"/>
            </a:avLst>
          </a:prstGeom>
          <a:solidFill>
            <a:srgbClr val="2B2B35"/>
          </a:solidFill>
          <a:ln/>
        </p:spPr>
      </p:sp>
      <p:sp>
        <p:nvSpPr>
          <p:cNvPr id="12" name="Text 10"/>
          <p:cNvSpPr/>
          <p:nvPr/>
        </p:nvSpPr>
        <p:spPr>
          <a:xfrm>
            <a:off x="6949440" y="1508760"/>
            <a:ext cx="4480560" cy="777240"/>
          </a:xfrm>
          <a:prstGeom prst="rect">
            <a:avLst/>
          </a:prstGeom>
          <a:noFill/>
          <a:ln/>
        </p:spPr>
        <p:txBody>
          <a:bodyPr wrap="square" lIns="0" tIns="0" rIns="0" bIns="0" rtlCol="0" anchor="ctr"/>
          <a:lstStyle/>
          <a:p>
            <a:pPr marL="0" indent="0">
              <a:buNone/>
            </a:pPr>
            <a:r>
              <a:rPr lang="en-US" sz="1500" b="1" dirty="0">
                <a:solidFill>
                  <a:srgbClr val="8FD694"/>
                </a:solidFill>
                <a:latin typeface="Arial" pitchFamily="34" charset="0"/>
                <a:ea typeface="Arial" pitchFamily="34" charset="-122"/>
                <a:cs typeface="Arial" pitchFamily="34" charset="-120"/>
              </a:rPr>
              <a:t>Hill climbing  </a:t>
            </a:r>
            <a:r>
              <a:rPr lang="en-US" sz="1250" dirty="0">
                <a:solidFill>
                  <a:srgbClr val="F2EFE7"/>
                </a:solidFill>
                <a:latin typeface="Calibri" pitchFamily="34" charset="0"/>
                <a:ea typeface="Calibri" pitchFamily="34" charset="-122"/>
                <a:cs typeface="Calibri" pitchFamily="34" charset="-120"/>
              </a:rPr>
              <a:t>local search over complete assignments; </a:t>
            </a:r>
            <a:br>
              <a:rPr lang="en-US" sz="1250" dirty="0">
                <a:solidFill>
                  <a:srgbClr val="F2EFE7"/>
                </a:solidFill>
                <a:latin typeface="Calibri" pitchFamily="34" charset="0"/>
                <a:ea typeface="Calibri" pitchFamily="34" charset="-122"/>
                <a:cs typeface="Calibri" pitchFamily="34" charset="-120"/>
              </a:rPr>
            </a:br>
            <a:r>
              <a:rPr lang="en-US" sz="1250" dirty="0">
                <a:solidFill>
                  <a:srgbClr val="F2EFE7"/>
                </a:solidFill>
                <a:latin typeface="Calibri" pitchFamily="34" charset="0"/>
                <a:ea typeface="Calibri" pitchFamily="34" charset="-122"/>
                <a:cs typeface="Calibri" pitchFamily="34" charset="-120"/>
              </a:rPr>
              <a:t>objective = violation count</a:t>
            </a:r>
            <a:endParaRPr lang="en-US" sz="1500" dirty="0"/>
          </a:p>
        </p:txBody>
      </p:sp>
      <p:sp>
        <p:nvSpPr>
          <p:cNvPr id="13" name="Shape 11"/>
          <p:cNvSpPr/>
          <p:nvPr/>
        </p:nvSpPr>
        <p:spPr>
          <a:xfrm>
            <a:off x="6675120" y="2697480"/>
            <a:ext cx="4754880" cy="960120"/>
          </a:xfrm>
          <a:prstGeom prst="roundRect">
            <a:avLst>
              <a:gd name="adj" fmla="val 7619"/>
            </a:avLst>
          </a:prstGeom>
          <a:solidFill>
            <a:srgbClr val="2B2B35"/>
          </a:solidFill>
          <a:ln/>
        </p:spPr>
      </p:sp>
      <p:sp>
        <p:nvSpPr>
          <p:cNvPr id="14" name="Text 12"/>
          <p:cNvSpPr/>
          <p:nvPr/>
        </p:nvSpPr>
        <p:spPr>
          <a:xfrm>
            <a:off x="6949440" y="2788920"/>
            <a:ext cx="4480560" cy="777240"/>
          </a:xfrm>
          <a:prstGeom prst="rect">
            <a:avLst/>
          </a:prstGeom>
          <a:noFill/>
          <a:ln/>
        </p:spPr>
        <p:txBody>
          <a:bodyPr wrap="square" lIns="0" tIns="0" rIns="0" bIns="0" rtlCol="0" anchor="ctr"/>
          <a:lstStyle/>
          <a:p>
            <a:pPr marL="0" indent="0">
              <a:buNone/>
            </a:pPr>
            <a:r>
              <a:rPr lang="en-US" sz="1500" b="1" dirty="0">
                <a:solidFill>
                  <a:srgbClr val="8FD694"/>
                </a:solidFill>
                <a:latin typeface="Arial" pitchFamily="34" charset="0"/>
                <a:ea typeface="Arial" pitchFamily="34" charset="-122"/>
                <a:cs typeface="Arial" pitchFamily="34" charset="-120"/>
              </a:rPr>
              <a:t>Simulated annealing  </a:t>
            </a:r>
            <a:r>
              <a:rPr lang="en-US" sz="1250" dirty="0">
                <a:solidFill>
                  <a:srgbClr val="F2EFE7"/>
                </a:solidFill>
                <a:latin typeface="Calibri" pitchFamily="34" charset="0"/>
                <a:ea typeface="Calibri" pitchFamily="34" charset="-122"/>
                <a:cs typeface="Calibri" pitchFamily="34" charset="-120"/>
              </a:rPr>
              <a:t>same moves, </a:t>
            </a:r>
            <a:br>
              <a:rPr lang="en-US" sz="1250" dirty="0">
                <a:solidFill>
                  <a:srgbClr val="F2EFE7"/>
                </a:solidFill>
                <a:latin typeface="Calibri" pitchFamily="34" charset="0"/>
                <a:ea typeface="Calibri" pitchFamily="34" charset="-122"/>
                <a:cs typeface="Calibri" pitchFamily="34" charset="-120"/>
              </a:rPr>
            </a:br>
            <a:r>
              <a:rPr lang="en-US" sz="1250" dirty="0">
                <a:solidFill>
                  <a:srgbClr val="F2EFE7"/>
                </a:solidFill>
                <a:latin typeface="Calibri" pitchFamily="34" charset="0"/>
                <a:ea typeface="Calibri" pitchFamily="34" charset="-122"/>
                <a:cs typeface="Calibri" pitchFamily="34" charset="-120"/>
              </a:rPr>
              <a:t>temperature schedule escapes local optima</a:t>
            </a:r>
            <a:endParaRPr lang="en-US" sz="1500" dirty="0"/>
          </a:p>
        </p:txBody>
      </p:sp>
      <p:sp>
        <p:nvSpPr>
          <p:cNvPr id="15" name="Text 13"/>
          <p:cNvSpPr/>
          <p:nvPr/>
        </p:nvSpPr>
        <p:spPr>
          <a:xfrm>
            <a:off x="640080" y="5543550"/>
            <a:ext cx="8263890" cy="731520"/>
          </a:xfrm>
          <a:prstGeom prst="rect">
            <a:avLst/>
          </a:prstGeom>
          <a:noFill/>
          <a:ln/>
        </p:spPr>
        <p:txBody>
          <a:bodyPr wrap="square" lIns="0" tIns="0" rIns="0" bIns="0" rtlCol="0" anchor="ctr"/>
          <a:lstStyle/>
          <a:p>
            <a:pPr marL="0" indent="0">
              <a:buNone/>
            </a:pPr>
            <a:r>
              <a:rPr lang="en-US" sz="1400" dirty="0">
                <a:solidFill>
                  <a:srgbClr val="A9A6B0"/>
                </a:solidFill>
                <a:latin typeface="Calibri" pitchFamily="34" charset="0"/>
                <a:ea typeface="Calibri" pitchFamily="34" charset="-122"/>
                <a:cs typeface="Calibri" pitchFamily="34" charset="-120"/>
              </a:rPr>
              <a:t>Complete search (left) vs. local search (right) - same rules, same validator as referee, same statistics collected: nodes / moves, conflicts, backtracks, time.</a:t>
            </a:r>
            <a:endParaRPr lang="en-US" sz="1400" dirty="0"/>
          </a:p>
        </p:txBody>
      </p:sp>
      <p:sp>
        <p:nvSpPr>
          <p:cNvPr id="17" name="Text 14"/>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The system: game, generator, observable solvers</a:t>
            </a:r>
            <a:endParaRPr lang="en-US" sz="3000" dirty="0"/>
          </a:p>
        </p:txBody>
      </p:sp>
      <p:sp>
        <p:nvSpPr>
          <p:cNvPr id="3" name="Text 1"/>
          <p:cNvSpPr/>
          <p:nvPr/>
        </p:nvSpPr>
        <p:spPr>
          <a:xfrm>
            <a:off x="640080" y="1371600"/>
            <a:ext cx="5394960" cy="1371600"/>
          </a:xfrm>
          <a:prstGeom prst="rect">
            <a:avLst/>
          </a:prstGeom>
          <a:noFill/>
          <a:ln/>
        </p:spPr>
        <p:txBody>
          <a:bodyPr wrap="square" lIns="0" tIns="0" rIns="0" bIns="0" rtlCol="0" anchor="t"/>
          <a:lstStyle/>
          <a:p>
            <a:pPr marL="0" indent="0">
              <a:lnSpc>
                <a:spcPct val="150000"/>
              </a:lnSpc>
              <a:buNone/>
            </a:pPr>
            <a:r>
              <a:rPr lang="en-US" sz="1600" b="1" dirty="0">
                <a:solidFill>
                  <a:srgbClr val="FFD23F"/>
                </a:solidFill>
                <a:latin typeface="Arial" pitchFamily="34" charset="0"/>
                <a:ea typeface="Arial" pitchFamily="34" charset="-122"/>
                <a:cs typeface="Arial" pitchFamily="34" charset="-120"/>
              </a:rPr>
              <a:t>Playable game</a:t>
            </a:r>
            <a:endParaRPr lang="en-US" sz="1600" dirty="0"/>
          </a:p>
          <a:p>
            <a:pPr marL="0" indent="0">
              <a:lnSpc>
                <a:spcPct val="150000"/>
              </a:lnSpc>
              <a:buNone/>
            </a:pPr>
            <a:r>
              <a:rPr lang="en-US" sz="1350" dirty="0">
                <a:solidFill>
                  <a:srgbClr val="F2EFE7"/>
                </a:solidFill>
                <a:latin typeface="Calibri" pitchFamily="34" charset="0"/>
                <a:ea typeface="Calibri" pitchFamily="34" charset="-122"/>
                <a:cs typeface="Calibri" pitchFamily="34" charset="-120"/>
              </a:rPr>
              <a:t>Tkinter GUI: click to place bulbs, X marks, live rule feedback, any board 3×3–25×25, three difficulty presets.</a:t>
            </a:r>
            <a:endParaRPr lang="en-US" sz="1600" dirty="0"/>
          </a:p>
        </p:txBody>
      </p:sp>
      <p:sp>
        <p:nvSpPr>
          <p:cNvPr id="4" name="Text 2"/>
          <p:cNvSpPr/>
          <p:nvPr/>
        </p:nvSpPr>
        <p:spPr>
          <a:xfrm>
            <a:off x="640080" y="2852928"/>
            <a:ext cx="5394960" cy="1371600"/>
          </a:xfrm>
          <a:prstGeom prst="rect">
            <a:avLst/>
          </a:prstGeom>
          <a:noFill/>
          <a:ln/>
        </p:spPr>
        <p:txBody>
          <a:bodyPr wrap="square" lIns="0" tIns="0" rIns="0" bIns="0" rtlCol="0" anchor="t"/>
          <a:lstStyle/>
          <a:p>
            <a:pPr marL="0" indent="0">
              <a:lnSpc>
                <a:spcPct val="150000"/>
              </a:lnSpc>
              <a:buNone/>
            </a:pPr>
            <a:r>
              <a:rPr lang="en-US" sz="1600" b="1" dirty="0">
                <a:solidFill>
                  <a:srgbClr val="FFD23F"/>
                </a:solidFill>
                <a:latin typeface="Arial" pitchFamily="34" charset="0"/>
                <a:ea typeface="Arial" pitchFamily="34" charset="-122"/>
                <a:cs typeface="Arial" pitchFamily="34" charset="-120"/>
              </a:rPr>
              <a:t>Instance generator</a:t>
            </a:r>
            <a:endParaRPr lang="en-US" sz="1600" dirty="0"/>
          </a:p>
          <a:p>
            <a:pPr marL="0" indent="0">
              <a:lnSpc>
                <a:spcPct val="150000"/>
              </a:lnSpc>
              <a:buNone/>
            </a:pPr>
            <a:r>
              <a:rPr lang="en-US" sz="1350" dirty="0">
                <a:solidFill>
                  <a:srgbClr val="F2EFE7"/>
                </a:solidFill>
                <a:latin typeface="Calibri" pitchFamily="34" charset="0"/>
                <a:ea typeface="Calibri" pitchFamily="34" charset="-122"/>
                <a:cs typeface="Calibri" pitchFamily="34" charset="-120"/>
              </a:rPr>
              <a:t>Solution-first construction: build a valid lighting, derive clues from it, remove bulbs → solvable by construction.</a:t>
            </a:r>
            <a:endParaRPr lang="en-US" sz="1600" dirty="0"/>
          </a:p>
        </p:txBody>
      </p:sp>
      <p:sp>
        <p:nvSpPr>
          <p:cNvPr id="5" name="Text 3"/>
          <p:cNvSpPr/>
          <p:nvPr/>
        </p:nvSpPr>
        <p:spPr>
          <a:xfrm>
            <a:off x="640080" y="4334256"/>
            <a:ext cx="5394960" cy="1371600"/>
          </a:xfrm>
          <a:prstGeom prst="rect">
            <a:avLst/>
          </a:prstGeom>
          <a:noFill/>
          <a:ln/>
        </p:spPr>
        <p:txBody>
          <a:bodyPr wrap="square" lIns="0" tIns="0" rIns="0" bIns="0" rtlCol="0" anchor="t"/>
          <a:lstStyle/>
          <a:p>
            <a:pPr marL="0" indent="0">
              <a:lnSpc>
                <a:spcPct val="150000"/>
              </a:lnSpc>
              <a:buNone/>
            </a:pPr>
            <a:r>
              <a:rPr lang="en-US" sz="1600" b="1" dirty="0">
                <a:solidFill>
                  <a:srgbClr val="FFD23F"/>
                </a:solidFill>
                <a:latin typeface="Arial" pitchFamily="34" charset="0"/>
                <a:ea typeface="Arial" pitchFamily="34" charset="-122"/>
                <a:cs typeface="Arial" pitchFamily="34" charset="-120"/>
              </a:rPr>
              <a:t>Watchable search</a:t>
            </a:r>
            <a:endParaRPr lang="en-US" sz="1600" dirty="0"/>
          </a:p>
          <a:p>
            <a:pPr marL="0" indent="0">
              <a:lnSpc>
                <a:spcPct val="150000"/>
              </a:lnSpc>
              <a:buNone/>
            </a:pPr>
            <a:r>
              <a:rPr lang="en-US" sz="1350" dirty="0">
                <a:solidFill>
                  <a:srgbClr val="F2EFE7"/>
                </a:solidFill>
                <a:latin typeface="Calibri" pitchFamily="34" charset="0"/>
                <a:ea typeface="Calibri" pitchFamily="34" charset="-122"/>
                <a:cs typeface="Calibri" pitchFamily="34" charset="-120"/>
              </a:rPr>
              <a:t>Every solver streams place / conflict / backtrack events — animated replay with play, pause, step, finish.</a:t>
            </a:r>
            <a:endParaRPr lang="en-US" sz="1600" dirty="0"/>
          </a:p>
        </p:txBody>
      </p:sp>
      <p:pic>
        <p:nvPicPr>
          <p:cNvPr id="6" name="Image 0" descr="C:\Users\Annie\AppData\Local\Temp\claude\C--Users-Annie-Desktop-AUA-Artificial-Intelligence-GroupProject\3713b754-8c0d-4788-ba37-4fc6479a5014\scratchpad\gui_screenshot.png"/>
          <p:cNvPicPr>
            <a:picLocks noChangeAspect="1"/>
          </p:cNvPicPr>
          <p:nvPr/>
        </p:nvPicPr>
        <p:blipFill>
          <a:blip r:embed="rId3"/>
          <a:srcRect/>
          <a:stretch/>
        </p:blipFill>
        <p:spPr>
          <a:xfrm>
            <a:off x="6400800" y="1280160"/>
            <a:ext cx="5212080" cy="4572000"/>
          </a:xfrm>
          <a:prstGeom prst="rect">
            <a:avLst/>
          </a:prstGeom>
        </p:spPr>
      </p:pic>
      <p:sp>
        <p:nvSpPr>
          <p:cNvPr id="8" name="Text 4"/>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Experimental setup</a:t>
            </a:r>
            <a:endParaRPr lang="en-US" sz="3000" dirty="0"/>
          </a:p>
        </p:txBody>
      </p:sp>
      <p:sp>
        <p:nvSpPr>
          <p:cNvPr id="3" name="Text 1"/>
          <p:cNvSpPr/>
          <p:nvPr/>
        </p:nvSpPr>
        <p:spPr>
          <a:xfrm>
            <a:off x="640080" y="1371600"/>
            <a:ext cx="5394960" cy="3108960"/>
          </a:xfrm>
          <a:prstGeom prst="rect">
            <a:avLst/>
          </a:prstGeom>
          <a:noFill/>
          <a:ln/>
        </p:spPr>
        <p:txBody>
          <a:bodyPr wrap="square" lIns="0" tIns="0" rIns="0" bIns="0" rtlCol="0" anchor="t"/>
          <a:lstStyle/>
          <a:p>
            <a:pPr marL="0" indent="0">
              <a:buNone/>
            </a:pPr>
            <a:r>
              <a:rPr lang="en-US" sz="1700" b="1" dirty="0">
                <a:solidFill>
                  <a:srgbClr val="FFD23F"/>
                </a:solidFill>
                <a:latin typeface="Arial" pitchFamily="34" charset="0"/>
                <a:ea typeface="Arial" pitchFamily="34" charset="-122"/>
                <a:cs typeface="Arial" pitchFamily="34" charset="-120"/>
              </a:rPr>
              <a:t>Instances</a:t>
            </a:r>
          </a:p>
          <a:p>
            <a:pPr marL="0" indent="0">
              <a:buNone/>
            </a:pPr>
            <a:endParaRPr lang="en-US" sz="1700" dirty="0"/>
          </a:p>
          <a:p>
            <a:pPr marL="342900" indent="-342900">
              <a:lnSpc>
                <a:spcPct val="150000"/>
              </a:lnSpc>
              <a:spcAft>
                <a:spcPts val="600"/>
              </a:spcAft>
              <a:buSzPct val="100000"/>
              <a:buChar char="•"/>
            </a:pPr>
            <a:r>
              <a:rPr lang="en-US" sz="1400" dirty="0">
                <a:solidFill>
                  <a:srgbClr val="F2EFE7"/>
                </a:solidFill>
                <a:latin typeface="Calibri" pitchFamily="34" charset="0"/>
                <a:ea typeface="Calibri" pitchFamily="34" charset="-122"/>
                <a:cs typeface="Calibri" pitchFamily="34" charset="-120"/>
              </a:rPr>
              <a:t>Generated boards: sizes 7, 10, 14, 18, 25; easy / medium / hard density presets; 5 seeded instances per bucket</a:t>
            </a:r>
            <a:endParaRPr lang="en-US" sz="1700" dirty="0"/>
          </a:p>
          <a:p>
            <a:pPr marL="342900" indent="-342900">
              <a:lnSpc>
                <a:spcPct val="150000"/>
              </a:lnSpc>
              <a:spcAft>
                <a:spcPts val="600"/>
              </a:spcAft>
              <a:buSzPct val="100000"/>
              <a:buChar char="•"/>
            </a:pPr>
            <a:r>
              <a:rPr lang="en-US" sz="1400" dirty="0">
                <a:solidFill>
                  <a:srgbClr val="F2EFE7"/>
                </a:solidFill>
                <a:latin typeface="Calibri" pitchFamily="34" charset="0"/>
                <a:ea typeface="Calibri" pitchFamily="34" charset="-122"/>
                <a:cs typeface="Calibri" pitchFamily="34" charset="-120"/>
              </a:rPr>
              <a:t>Every solver runs on IDENTICAL instances; 375 runs total (~11 min)</a:t>
            </a:r>
            <a:endParaRPr lang="en-US" sz="1700" dirty="0"/>
          </a:p>
          <a:p>
            <a:pPr marL="342900" indent="-342900">
              <a:lnSpc>
                <a:spcPct val="150000"/>
              </a:lnSpc>
              <a:buSzPct val="100000"/>
              <a:buChar char="•"/>
            </a:pPr>
            <a:r>
              <a:rPr lang="en-US" sz="1400" dirty="0">
                <a:solidFill>
                  <a:srgbClr val="F2EFE7"/>
                </a:solidFill>
                <a:latin typeface="Calibri" pitchFamily="34" charset="0"/>
                <a:ea typeface="Calibri" pitchFamily="34" charset="-122"/>
                <a:cs typeface="Calibri" pitchFamily="34" charset="-120"/>
              </a:rPr>
              <a:t>Reproducible: fixed seeds everywhere, 5 s budget per run</a:t>
            </a:r>
            <a:endParaRPr lang="en-US" sz="1700" dirty="0"/>
          </a:p>
        </p:txBody>
      </p:sp>
      <p:sp>
        <p:nvSpPr>
          <p:cNvPr id="4" name="Text 2"/>
          <p:cNvSpPr/>
          <p:nvPr/>
        </p:nvSpPr>
        <p:spPr>
          <a:xfrm>
            <a:off x="6400800" y="1371600"/>
            <a:ext cx="5120640" cy="3108960"/>
          </a:xfrm>
          <a:prstGeom prst="rect">
            <a:avLst/>
          </a:prstGeom>
          <a:noFill/>
          <a:ln/>
        </p:spPr>
        <p:txBody>
          <a:bodyPr wrap="square" lIns="0" tIns="0" rIns="0" bIns="0" rtlCol="0" anchor="t"/>
          <a:lstStyle/>
          <a:p>
            <a:pPr marL="0" indent="0">
              <a:buNone/>
            </a:pPr>
            <a:r>
              <a:rPr lang="en-US" sz="1700" b="1" dirty="0">
                <a:solidFill>
                  <a:srgbClr val="FFD23F"/>
                </a:solidFill>
                <a:latin typeface="Arial" pitchFamily="34" charset="0"/>
                <a:ea typeface="Arial" pitchFamily="34" charset="-122"/>
                <a:cs typeface="Arial" pitchFamily="34" charset="-120"/>
              </a:rPr>
              <a:t>Metrics</a:t>
            </a:r>
          </a:p>
          <a:p>
            <a:pPr marL="0" indent="0">
              <a:buNone/>
            </a:pPr>
            <a:endParaRPr lang="en-US" sz="1700" dirty="0"/>
          </a:p>
          <a:p>
            <a:pPr marL="342900" indent="-342900">
              <a:lnSpc>
                <a:spcPct val="150000"/>
              </a:lnSpc>
              <a:spcAft>
                <a:spcPts val="600"/>
              </a:spcAft>
              <a:buSzPct val="100000"/>
              <a:buChar char="•"/>
            </a:pPr>
            <a:r>
              <a:rPr lang="en-US" sz="1400" dirty="0">
                <a:solidFill>
                  <a:srgbClr val="F2EFE7"/>
                </a:solidFill>
                <a:latin typeface="Calibri" pitchFamily="34" charset="0"/>
                <a:ea typeface="Calibri" pitchFamily="34" charset="-122"/>
                <a:cs typeface="Calibri" pitchFamily="34" charset="-120"/>
              </a:rPr>
              <a:t>Search effort: nodes / moves, conflicts, backtracks</a:t>
            </a:r>
            <a:endParaRPr lang="en-US" sz="1700" dirty="0"/>
          </a:p>
          <a:p>
            <a:pPr marL="342900" indent="-342900">
              <a:lnSpc>
                <a:spcPct val="150000"/>
              </a:lnSpc>
              <a:spcAft>
                <a:spcPts val="600"/>
              </a:spcAft>
              <a:buSzPct val="100000"/>
              <a:buChar char="•"/>
            </a:pPr>
            <a:r>
              <a:rPr lang="en-US" sz="1400" dirty="0">
                <a:solidFill>
                  <a:srgbClr val="F2EFE7"/>
                </a:solidFill>
                <a:latin typeface="Calibri" pitchFamily="34" charset="0"/>
                <a:ea typeface="Calibri" pitchFamily="34" charset="-122"/>
                <a:cs typeface="Calibri" pitchFamily="34" charset="-120"/>
              </a:rPr>
              <a:t>Wall-clock time (median over seeds)</a:t>
            </a:r>
            <a:endParaRPr lang="en-US" sz="1700" dirty="0"/>
          </a:p>
          <a:p>
            <a:pPr marL="342900" indent="-342900">
              <a:lnSpc>
                <a:spcPct val="150000"/>
              </a:lnSpc>
              <a:buSzPct val="100000"/>
              <a:buChar char="•"/>
            </a:pPr>
            <a:r>
              <a:rPr lang="en-US" sz="1400" dirty="0">
                <a:solidFill>
                  <a:srgbClr val="F2EFE7"/>
                </a:solidFill>
                <a:latin typeface="Calibri" pitchFamily="34" charset="0"/>
                <a:ea typeface="Calibri" pitchFamily="34" charset="-122"/>
                <a:cs typeface="Calibri" pitchFamily="34" charset="-120"/>
              </a:rPr>
              <a:t>Solve rate within the timeout (local search: also solution quality)</a:t>
            </a:r>
            <a:endParaRPr lang="en-US" sz="1700" dirty="0"/>
          </a:p>
        </p:txBody>
      </p:sp>
      <p:sp>
        <p:nvSpPr>
          <p:cNvPr id="5" name="Shape 3"/>
          <p:cNvSpPr/>
          <p:nvPr/>
        </p:nvSpPr>
        <p:spPr>
          <a:xfrm>
            <a:off x="640080" y="4754880"/>
            <a:ext cx="10881360" cy="1188720"/>
          </a:xfrm>
          <a:prstGeom prst="roundRect">
            <a:avLst>
              <a:gd name="adj" fmla="val 6154"/>
            </a:avLst>
          </a:prstGeom>
          <a:solidFill>
            <a:srgbClr val="2B2B35"/>
          </a:solidFill>
          <a:ln/>
        </p:spPr>
      </p:sp>
      <p:sp>
        <p:nvSpPr>
          <p:cNvPr id="6" name="Text 4"/>
          <p:cNvSpPr/>
          <p:nvPr/>
        </p:nvSpPr>
        <p:spPr>
          <a:xfrm>
            <a:off x="914400" y="4892040"/>
            <a:ext cx="10332720" cy="914400"/>
          </a:xfrm>
          <a:prstGeom prst="rect">
            <a:avLst/>
          </a:prstGeom>
          <a:noFill/>
          <a:ln/>
        </p:spPr>
        <p:txBody>
          <a:bodyPr wrap="square" lIns="0" tIns="0" rIns="0" bIns="0" rtlCol="0" anchor="ctr"/>
          <a:lstStyle/>
          <a:p>
            <a:pPr marL="0" indent="0" algn="ctr">
              <a:buNone/>
            </a:pPr>
            <a:r>
              <a:rPr lang="en-US" sz="1400" i="1" dirty="0">
                <a:solidFill>
                  <a:srgbClr val="F2EFE7"/>
                </a:solidFill>
                <a:latin typeface="Calibri" pitchFamily="34" charset="0"/>
                <a:ea typeface="Calibri" pitchFamily="34" charset="-122"/>
                <a:cs typeface="Calibri" pitchFamily="34" charset="-120"/>
              </a:rPr>
              <a:t>Correctness is always judged by the rules validator — </a:t>
            </a:r>
          </a:p>
          <a:p>
            <a:pPr marL="0" indent="0" algn="ctr">
              <a:buNone/>
            </a:pPr>
            <a:r>
              <a:rPr lang="en-US" sz="1400" i="1" dirty="0">
                <a:solidFill>
                  <a:srgbClr val="F2EFE7"/>
                </a:solidFill>
                <a:latin typeface="Calibri" pitchFamily="34" charset="0"/>
                <a:ea typeface="Calibri" pitchFamily="34" charset="-122"/>
                <a:cs typeface="Calibri" pitchFamily="34" charset="-120"/>
              </a:rPr>
              <a:t>never by comparing to one known answer, </a:t>
            </a:r>
          </a:p>
          <a:p>
            <a:pPr marL="0" indent="0" algn="ctr">
              <a:buNone/>
            </a:pPr>
            <a:r>
              <a:rPr lang="en-US" sz="1400" i="1" dirty="0">
                <a:solidFill>
                  <a:srgbClr val="F2EFE7"/>
                </a:solidFill>
                <a:latin typeface="Calibri" pitchFamily="34" charset="0"/>
                <a:ea typeface="Calibri" pitchFamily="34" charset="-122"/>
                <a:cs typeface="Calibri" pitchFamily="34" charset="-120"/>
              </a:rPr>
              <a:t>because instances may have several legitimate solutions.</a:t>
            </a:r>
            <a:endParaRPr lang="en-US" sz="1400" dirty="0"/>
          </a:p>
        </p:txBody>
      </p:sp>
      <p:sp>
        <p:nvSpPr>
          <p:cNvPr id="8" name="Text 5"/>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Results — what does inference buy?</a:t>
            </a:r>
            <a:endParaRPr lang="en-US" sz="3000" dirty="0"/>
          </a:p>
        </p:txBody>
      </p:sp>
      <p:sp>
        <p:nvSpPr>
          <p:cNvPr id="3" name="Text 1"/>
          <p:cNvSpPr/>
          <p:nvPr/>
        </p:nvSpPr>
        <p:spPr>
          <a:xfrm>
            <a:off x="640080" y="1051560"/>
            <a:ext cx="1005840" cy="777240"/>
          </a:xfrm>
          <a:prstGeom prst="rect">
            <a:avLst/>
          </a:prstGeom>
          <a:noFill/>
          <a:ln/>
        </p:spPr>
        <p:txBody>
          <a:bodyPr wrap="square" lIns="0" tIns="0" rIns="0" bIns="0" rtlCol="0" anchor="ctr"/>
          <a:lstStyle/>
          <a:p>
            <a:pPr marL="0" indent="0">
              <a:buNone/>
            </a:pPr>
            <a:r>
              <a:rPr lang="en-US" sz="4400" b="1" dirty="0">
                <a:solidFill>
                  <a:srgbClr val="FFD23F"/>
                </a:solidFill>
                <a:latin typeface="Arial" pitchFamily="34" charset="0"/>
                <a:ea typeface="Arial" pitchFamily="34" charset="-122"/>
                <a:cs typeface="Arial" pitchFamily="34" charset="-120"/>
              </a:rPr>
              <a:t>0</a:t>
            </a:r>
            <a:endParaRPr lang="en-US" sz="4400" dirty="0"/>
          </a:p>
        </p:txBody>
      </p:sp>
      <p:sp>
        <p:nvSpPr>
          <p:cNvPr id="4" name="Text 2"/>
          <p:cNvSpPr/>
          <p:nvPr/>
        </p:nvSpPr>
        <p:spPr>
          <a:xfrm>
            <a:off x="1691640" y="1170432"/>
            <a:ext cx="4023360" cy="640080"/>
          </a:xfrm>
          <a:prstGeom prst="rect">
            <a:avLst/>
          </a:prstGeom>
          <a:noFill/>
          <a:ln/>
        </p:spPr>
        <p:txBody>
          <a:bodyPr wrap="square" lIns="0" tIns="0" rIns="0" bIns="0" rtlCol="0" anchor="ctr"/>
          <a:lstStyle/>
          <a:p>
            <a:pPr marL="0" indent="0">
              <a:buNone/>
            </a:pPr>
            <a:r>
              <a:rPr lang="en-US" sz="1200" dirty="0">
                <a:solidFill>
                  <a:srgbClr val="F2EFE7"/>
                </a:solidFill>
                <a:latin typeface="Calibri" pitchFamily="34" charset="0"/>
                <a:ea typeface="Calibri" pitchFamily="34" charset="-122"/>
                <a:cs typeface="Calibri" pitchFamily="34" charset="-120"/>
              </a:rPr>
              <a:t>search nodes to solve the published 7×7 —</a:t>
            </a:r>
            <a:endParaRPr lang="en-US" sz="1200" dirty="0"/>
          </a:p>
          <a:p>
            <a:pPr marL="0" indent="0">
              <a:buNone/>
            </a:pPr>
            <a:r>
              <a:rPr lang="en-US" sz="1200" dirty="0">
                <a:solidFill>
                  <a:srgbClr val="F2EFE7"/>
                </a:solidFill>
                <a:latin typeface="Calibri" pitchFamily="34" charset="0"/>
                <a:ea typeface="Calibri" pitchFamily="34" charset="-122"/>
                <a:cs typeface="Calibri" pitchFamily="34" charset="-120"/>
              </a:rPr>
              <a:t>full inference derives it by propagation alone</a:t>
            </a:r>
            <a:endParaRPr lang="en-US" sz="1200" dirty="0"/>
          </a:p>
        </p:txBody>
      </p:sp>
      <p:sp>
        <p:nvSpPr>
          <p:cNvPr id="5" name="Text 3"/>
          <p:cNvSpPr/>
          <p:nvPr/>
        </p:nvSpPr>
        <p:spPr>
          <a:xfrm>
            <a:off x="6126480" y="1051560"/>
            <a:ext cx="1828800" cy="777240"/>
          </a:xfrm>
          <a:prstGeom prst="rect">
            <a:avLst/>
          </a:prstGeom>
          <a:noFill/>
          <a:ln/>
        </p:spPr>
        <p:txBody>
          <a:bodyPr wrap="square" lIns="0" tIns="0" rIns="0" bIns="0" rtlCol="0" anchor="ctr"/>
          <a:lstStyle/>
          <a:p>
            <a:pPr marL="0" indent="0">
              <a:buNone/>
            </a:pPr>
            <a:r>
              <a:rPr lang="en-US" sz="4400" b="1" dirty="0">
                <a:solidFill>
                  <a:srgbClr val="8FD694"/>
                </a:solidFill>
                <a:latin typeface="Arial" pitchFamily="34" charset="0"/>
                <a:ea typeface="Arial" pitchFamily="34" charset="-122"/>
                <a:cs typeface="Arial" pitchFamily="34" charset="-120"/>
              </a:rPr>
              <a:t>75/75</a:t>
            </a:r>
            <a:endParaRPr lang="en-US" sz="4400" dirty="0"/>
          </a:p>
        </p:txBody>
      </p:sp>
      <p:sp>
        <p:nvSpPr>
          <p:cNvPr id="6" name="Text 4"/>
          <p:cNvSpPr/>
          <p:nvPr/>
        </p:nvSpPr>
        <p:spPr>
          <a:xfrm>
            <a:off x="8001000" y="1170432"/>
            <a:ext cx="3657600" cy="640080"/>
          </a:xfrm>
          <a:prstGeom prst="rect">
            <a:avLst/>
          </a:prstGeom>
          <a:noFill/>
          <a:ln/>
        </p:spPr>
        <p:txBody>
          <a:bodyPr wrap="square" lIns="0" tIns="0" rIns="0" bIns="0" rtlCol="0" anchor="ctr"/>
          <a:lstStyle/>
          <a:p>
            <a:pPr marL="0" indent="0">
              <a:buNone/>
            </a:pPr>
            <a:r>
              <a:rPr lang="en-US" sz="1200" dirty="0">
                <a:solidFill>
                  <a:srgbClr val="F2EFE7"/>
                </a:solidFill>
                <a:latin typeface="Calibri" pitchFamily="34" charset="0"/>
                <a:ea typeface="Calibri" pitchFamily="34" charset="-122"/>
                <a:cs typeface="Calibri" pitchFamily="34" charset="-120"/>
              </a:rPr>
              <a:t>generated instances solved by full inference,</a:t>
            </a:r>
            <a:endParaRPr lang="en-US" sz="1200" dirty="0"/>
          </a:p>
          <a:p>
            <a:pPr marL="0" indent="0">
              <a:buNone/>
            </a:pPr>
            <a:r>
              <a:rPr lang="en-US" sz="1200" dirty="0">
                <a:solidFill>
                  <a:srgbClr val="F2EFE7"/>
                </a:solidFill>
                <a:latin typeface="Calibri" pitchFamily="34" charset="0"/>
                <a:ea typeface="Calibri" pitchFamily="34" charset="-122"/>
                <a:cs typeface="Calibri" pitchFamily="34" charset="-120"/>
              </a:rPr>
              <a:t>all sizes &amp; difficulties — the only 100 % solver</a:t>
            </a:r>
            <a:endParaRPr lang="en-US" sz="1200" dirty="0"/>
          </a:p>
        </p:txBody>
      </p:sp>
      <p:pic>
        <p:nvPicPr>
          <p:cNvPr id="7" name="Image 0" descr="C:\Users\Annie\Desktop\AUA\Artificial Intelligence\GroupProject\LightUp\experiments\results\fig1_bt_scaling.png"/>
          <p:cNvPicPr>
            <a:picLocks noChangeAspect="1"/>
          </p:cNvPicPr>
          <p:nvPr/>
        </p:nvPicPr>
        <p:blipFill>
          <a:blip r:embed="rId3"/>
          <a:stretch>
            <a:fillRect/>
          </a:stretch>
        </p:blipFill>
        <p:spPr>
          <a:xfrm>
            <a:off x="777240" y="2057400"/>
            <a:ext cx="10607040" cy="4242816"/>
          </a:xfrm>
          <a:prstGeom prst="rect">
            <a:avLst/>
          </a:prstGeom>
        </p:spPr>
      </p:pic>
      <p:sp>
        <p:nvSpPr>
          <p:cNvPr id="8" name="Text 5"/>
          <p:cNvSpPr/>
          <p:nvPr/>
        </p:nvSpPr>
        <p:spPr>
          <a:xfrm>
            <a:off x="777240" y="6327648"/>
            <a:ext cx="10607040" cy="502920"/>
          </a:xfrm>
          <a:prstGeom prst="rect">
            <a:avLst/>
          </a:prstGeom>
          <a:noFill/>
          <a:ln/>
        </p:spPr>
        <p:txBody>
          <a:bodyPr wrap="square" lIns="0" tIns="0" rIns="0" bIns="0" rtlCol="0" anchor="ctr"/>
          <a:lstStyle/>
          <a:p>
            <a:pPr marL="0" indent="0">
              <a:buNone/>
            </a:pPr>
            <a:r>
              <a:rPr lang="en-US" sz="1150" i="1" dirty="0">
                <a:solidFill>
                  <a:srgbClr val="A9A6B0"/>
                </a:solidFill>
                <a:latin typeface="Calibri" pitchFamily="34" charset="0"/>
                <a:ea typeface="Calibri" pitchFamily="34" charset="-122"/>
                <a:cs typeface="Calibri" pitchFamily="34" charset="-120"/>
              </a:rPr>
              <a:t>Naive BT leaves the chart after 18×18 (0 % solved at 25×25). Full inference always expands ~2× fewer nodes — but that saves time only where there is something to deduce: </a:t>
            </a:r>
          </a:p>
          <a:p>
            <a:pPr marL="0" indent="0">
              <a:buNone/>
            </a:pPr>
            <a:r>
              <a:rPr lang="en-US" sz="1150" i="1" dirty="0">
                <a:solidFill>
                  <a:srgbClr val="A9A6B0"/>
                </a:solidFill>
                <a:latin typeface="Calibri" pitchFamily="34" charset="0"/>
                <a:ea typeface="Calibri" pitchFamily="34" charset="-122"/>
                <a:cs typeface="Calibri" pitchFamily="34" charset="-120"/>
              </a:rPr>
              <a:t>35× faster on easy boards, slower on the sparse hard boards plotted here.</a:t>
            </a:r>
            <a:endParaRPr lang="en-US" sz="1150" dirty="0"/>
          </a:p>
        </p:txBody>
      </p:sp>
      <p:sp>
        <p:nvSpPr>
          <p:cNvPr id="10" name="Text 6"/>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Results — complete vs. local search</a:t>
            </a:r>
            <a:endParaRPr lang="en-US" sz="3000" dirty="0"/>
          </a:p>
        </p:txBody>
      </p:sp>
      <p:pic>
        <p:nvPicPr>
          <p:cNvPr id="3" name="Image 0" descr="C:\Users\Annie\Desktop\AUA\Artificial Intelligence\GroupProject\LightUp\experiments\results\fig2_paradigms.png"/>
          <p:cNvPicPr>
            <a:picLocks noChangeAspect="1"/>
          </p:cNvPicPr>
          <p:nvPr/>
        </p:nvPicPr>
        <p:blipFill>
          <a:blip r:embed="rId3"/>
          <a:srcRect/>
          <a:stretch/>
        </p:blipFill>
        <p:spPr>
          <a:xfrm>
            <a:off x="548640" y="1371600"/>
            <a:ext cx="7040880" cy="4480560"/>
          </a:xfrm>
          <a:prstGeom prst="rect">
            <a:avLst/>
          </a:prstGeom>
        </p:spPr>
      </p:pic>
      <p:sp>
        <p:nvSpPr>
          <p:cNvPr id="4" name="Text 1"/>
          <p:cNvSpPr/>
          <p:nvPr/>
        </p:nvSpPr>
        <p:spPr>
          <a:xfrm>
            <a:off x="7818120" y="1508760"/>
            <a:ext cx="3840480" cy="4572000"/>
          </a:xfrm>
          <a:prstGeom prst="rect">
            <a:avLst/>
          </a:prstGeom>
          <a:noFill/>
          <a:ln/>
        </p:spPr>
        <p:txBody>
          <a:bodyPr wrap="square" lIns="0" tIns="0" rIns="0" bIns="0" rtlCol="0" anchor="t"/>
          <a:lstStyle/>
          <a:p>
            <a:pPr marL="0" indent="0">
              <a:lnSpc>
                <a:spcPct val="150000"/>
              </a:lnSpc>
              <a:spcAft>
                <a:spcPts val="800"/>
              </a:spcAft>
              <a:buNone/>
            </a:pPr>
            <a:r>
              <a:rPr lang="en-US" sz="1400" b="1" dirty="0">
                <a:solidFill>
                  <a:srgbClr val="F2EFE7"/>
                </a:solidFill>
                <a:latin typeface="Arial" pitchFamily="34" charset="0"/>
                <a:ea typeface="Arial" pitchFamily="34" charset="-122"/>
                <a:cs typeface="Arial" pitchFamily="34" charset="-120"/>
              </a:rPr>
              <a:t>What the sweep shows:</a:t>
            </a:r>
            <a:endParaRPr lang="en-US" sz="1400" dirty="0"/>
          </a:p>
          <a:p>
            <a:pPr marL="342900" indent="-342900">
              <a:lnSpc>
                <a:spcPct val="150000"/>
              </a:lnSpc>
              <a:spcAft>
                <a:spcPts val="800"/>
              </a:spcAft>
              <a:buSzPct val="100000"/>
              <a:buChar char="•"/>
            </a:pPr>
            <a:r>
              <a:rPr lang="en-US" sz="1300" dirty="0">
                <a:solidFill>
                  <a:srgbClr val="F2EFE7"/>
                </a:solidFill>
                <a:latin typeface="Calibri" pitchFamily="34" charset="0"/>
                <a:ea typeface="Calibri" pitchFamily="34" charset="-122"/>
                <a:cs typeface="Calibri" pitchFamily="34" charset="-120"/>
              </a:rPr>
              <a:t>SA ≫ HC everywhere: 19/25 vs 11/25 hard instances solved (60 % vs 28 % over the whole sweep) — reproducing Perera et al. (2021) with our own implementation.</a:t>
            </a:r>
            <a:endParaRPr lang="en-US" sz="1400" dirty="0"/>
          </a:p>
          <a:p>
            <a:pPr marL="342900" indent="-342900">
              <a:lnSpc>
                <a:spcPct val="150000"/>
              </a:lnSpc>
              <a:spcAft>
                <a:spcPts val="800"/>
              </a:spcAft>
              <a:buSzPct val="100000"/>
              <a:buChar char="•"/>
            </a:pPr>
            <a:r>
              <a:rPr lang="en-US" sz="1300" dirty="0">
                <a:solidFill>
                  <a:srgbClr val="F2EFE7"/>
                </a:solidFill>
                <a:latin typeface="Calibri" pitchFamily="34" charset="0"/>
                <a:ea typeface="Calibri" pitchFamily="34" charset="-122"/>
                <a:cs typeface="Calibri" pitchFamily="34" charset="-120"/>
              </a:rPr>
              <a:t>HC's signature failure: stuck ONE violation from the goal (one 20 s run: 12,496 restarts, never closed it).</a:t>
            </a:r>
            <a:endParaRPr lang="en-US" sz="1400" dirty="0"/>
          </a:p>
          <a:p>
            <a:pPr marL="342900" indent="-342900">
              <a:lnSpc>
                <a:spcPct val="150000"/>
              </a:lnSpc>
              <a:spcAft>
                <a:spcPts val="800"/>
              </a:spcAft>
              <a:buSzPct val="100000"/>
              <a:buChar char="•"/>
            </a:pPr>
            <a:r>
              <a:rPr lang="en-US" sz="1300" dirty="0">
                <a:solidFill>
                  <a:srgbClr val="F2EFE7"/>
                </a:solidFill>
                <a:latin typeface="Calibri" pitchFamily="34" charset="0"/>
                <a:ea typeface="Calibri" pitchFamily="34" charset="-122"/>
                <a:cs typeface="Calibri" pitchFamily="34" charset="-120"/>
              </a:rPr>
              <a:t>Within a 5 s budget, complete search with inference dominates at every size we tested; local search's appeal here is simplicity, not speed.</a:t>
            </a:r>
            <a:endParaRPr lang="en-US" sz="1400" dirty="0"/>
          </a:p>
          <a:p>
            <a:pPr marL="342900" indent="-342900">
              <a:lnSpc>
                <a:spcPct val="150000"/>
              </a:lnSpc>
              <a:buSzPct val="100000"/>
              <a:buChar char="•"/>
            </a:pPr>
            <a:r>
              <a:rPr lang="en-US" sz="1300" dirty="0">
                <a:solidFill>
                  <a:srgbClr val="A9A6B0"/>
                </a:solidFill>
                <a:latin typeface="Calibri" pitchFamily="34" charset="0"/>
                <a:ea typeface="Calibri" pitchFamily="34" charset="-122"/>
                <a:cs typeface="Calibri" pitchFamily="34" charset="-120"/>
              </a:rPr>
              <a:t>Both local solvers are incomplete: they can never prove a board unsolvable.</a:t>
            </a:r>
            <a:endParaRPr lang="en-US" sz="1400" dirty="0"/>
          </a:p>
        </p:txBody>
      </p:sp>
      <p:sp>
        <p:nvSpPr>
          <p:cNvPr id="6" name="Text 2"/>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Results — what makes an instance hard?</a:t>
            </a:r>
            <a:endParaRPr lang="en-US" sz="3000" dirty="0"/>
          </a:p>
        </p:txBody>
      </p:sp>
      <p:pic>
        <p:nvPicPr>
          <p:cNvPr id="3" name="Image 0" descr="C:\Users\Annie\Desktop\AUA\Artificial Intelligence\GroupProject\LightUp\experiments\results\fig3_difficulty.png"/>
          <p:cNvPicPr>
            <a:picLocks noChangeAspect="1"/>
          </p:cNvPicPr>
          <p:nvPr/>
        </p:nvPicPr>
        <p:blipFill>
          <a:blip r:embed="rId3"/>
          <a:srcRect/>
          <a:stretch/>
        </p:blipFill>
        <p:spPr>
          <a:xfrm>
            <a:off x="548640" y="1371600"/>
            <a:ext cx="7040880" cy="4480560"/>
          </a:xfrm>
          <a:prstGeom prst="rect">
            <a:avLst/>
          </a:prstGeom>
        </p:spPr>
      </p:pic>
      <p:sp>
        <p:nvSpPr>
          <p:cNvPr id="4" name="Text 1"/>
          <p:cNvSpPr/>
          <p:nvPr/>
        </p:nvSpPr>
        <p:spPr>
          <a:xfrm>
            <a:off x="7818120" y="1508760"/>
            <a:ext cx="3840480" cy="4572000"/>
          </a:xfrm>
          <a:prstGeom prst="rect">
            <a:avLst/>
          </a:prstGeom>
          <a:noFill/>
          <a:ln/>
        </p:spPr>
        <p:txBody>
          <a:bodyPr wrap="square" lIns="0" tIns="0" rIns="0" bIns="0" rtlCol="0" anchor="t"/>
          <a:lstStyle/>
          <a:p>
            <a:pPr marL="0" indent="0">
              <a:lnSpc>
                <a:spcPct val="150000"/>
              </a:lnSpc>
              <a:spcAft>
                <a:spcPts val="800"/>
              </a:spcAft>
              <a:buNone/>
            </a:pPr>
            <a:r>
              <a:rPr lang="en-US" sz="1400" b="1" dirty="0">
                <a:solidFill>
                  <a:srgbClr val="F2EFE7"/>
                </a:solidFill>
                <a:latin typeface="Arial" pitchFamily="34" charset="0"/>
                <a:ea typeface="Arial" pitchFamily="34" charset="-122"/>
                <a:cs typeface="Arial" pitchFamily="34" charset="-120"/>
              </a:rPr>
              <a:t>Two surprises at 14×14:</a:t>
            </a:r>
            <a:endParaRPr lang="en-US" sz="1400" dirty="0"/>
          </a:p>
          <a:p>
            <a:pPr marL="342900" indent="-342900">
              <a:lnSpc>
                <a:spcPct val="150000"/>
              </a:lnSpc>
              <a:spcAft>
                <a:spcPts val="800"/>
              </a:spcAft>
              <a:buSzPct val="100000"/>
              <a:buChar char="•"/>
            </a:pPr>
            <a:r>
              <a:rPr lang="en-US" sz="1300" dirty="0">
                <a:solidFill>
                  <a:srgbClr val="F2EFE7"/>
                </a:solidFill>
                <a:latin typeface="Calibri" pitchFamily="34" charset="0"/>
                <a:ea typeface="Calibri" pitchFamily="34" charset="-122"/>
                <a:cs typeface="Calibri" pitchFamily="34" charset="-120"/>
              </a:rPr>
              <a:t>Our sparse “hard” preset is often FASTER for solvers: fewer clues → more valid solutions → any one is easier to find. Human difficulty ≠ search difficulty.</a:t>
            </a:r>
            <a:endParaRPr lang="en-US" sz="1400" dirty="0"/>
          </a:p>
          <a:p>
            <a:pPr marL="342900" indent="-342900">
              <a:lnSpc>
                <a:spcPct val="150000"/>
              </a:lnSpc>
              <a:spcAft>
                <a:spcPts val="800"/>
              </a:spcAft>
              <a:buSzPct val="100000"/>
              <a:buChar char="•"/>
            </a:pPr>
            <a:r>
              <a:rPr lang="en-US" sz="1300" dirty="0">
                <a:solidFill>
                  <a:srgbClr val="F2EFE7"/>
                </a:solidFill>
                <a:latin typeface="Calibri" pitchFamily="34" charset="0"/>
                <a:ea typeface="Calibri" pitchFamily="34" charset="-122"/>
                <a:cs typeface="Calibri" pitchFamily="34" charset="-120"/>
              </a:rPr>
              <a:t>Hill climbing inverts the pattern: it solved NOTHING at easy/medium density but sometimes cracked hard boards — dense clue terms roughen the landscape with local optima (missing bars = zero solved).</a:t>
            </a:r>
            <a:endParaRPr lang="en-US" sz="1400" dirty="0"/>
          </a:p>
          <a:p>
            <a:pPr marL="342900" indent="-342900">
              <a:lnSpc>
                <a:spcPct val="150000"/>
              </a:lnSpc>
              <a:buSzPct val="100000"/>
              <a:buChar char="•"/>
            </a:pPr>
            <a:r>
              <a:rPr lang="en-US" sz="1300" dirty="0">
                <a:solidFill>
                  <a:srgbClr val="F2EFE7"/>
                </a:solidFill>
                <a:latin typeface="Calibri" pitchFamily="34" charset="0"/>
                <a:ea typeface="Calibri" pitchFamily="34" charset="-122"/>
                <a:cs typeface="Calibri" pitchFamily="34" charset="-120"/>
              </a:rPr>
              <a:t>Full inference is the most stable across densities: 1–4 ms medians everywhere.</a:t>
            </a:r>
            <a:endParaRPr lang="en-US" sz="1400" dirty="0"/>
          </a:p>
        </p:txBody>
      </p:sp>
      <p:sp>
        <p:nvSpPr>
          <p:cNvPr id="6" name="Text 2"/>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Robustness — is the 5 s budget arbitrary?</a:t>
            </a:r>
            <a:endParaRPr lang="en-US" sz="3000" dirty="0"/>
          </a:p>
        </p:txBody>
      </p:sp>
      <p:pic>
        <p:nvPicPr>
          <p:cNvPr id="3" name="Image 0" descr="C:\Users\Annie\Desktop\AUA\Artificial Intelligence\GroupProject\LightUp\experiments\results\fig4_budget.png"/>
          <p:cNvPicPr>
            <a:picLocks noChangeAspect="1"/>
          </p:cNvPicPr>
          <p:nvPr/>
        </p:nvPicPr>
        <p:blipFill>
          <a:blip r:embed="rId3"/>
          <a:stretch>
            <a:fillRect/>
          </a:stretch>
        </p:blipFill>
        <p:spPr>
          <a:xfrm>
            <a:off x="2258568" y="1234440"/>
            <a:ext cx="7680960" cy="4270248"/>
          </a:xfrm>
          <a:prstGeom prst="rect">
            <a:avLst/>
          </a:prstGeom>
        </p:spPr>
      </p:pic>
      <p:sp>
        <p:nvSpPr>
          <p:cNvPr id="4" name="Text 1"/>
          <p:cNvSpPr/>
          <p:nvPr/>
        </p:nvSpPr>
        <p:spPr>
          <a:xfrm>
            <a:off x="1371600" y="5715000"/>
            <a:ext cx="9418320" cy="868680"/>
          </a:xfrm>
          <a:prstGeom prst="rect">
            <a:avLst/>
          </a:prstGeom>
          <a:noFill/>
          <a:ln/>
        </p:spPr>
        <p:txBody>
          <a:bodyPr wrap="square" lIns="0" tIns="0" rIns="0" bIns="0" rtlCol="0" anchor="ctr"/>
          <a:lstStyle/>
          <a:p>
            <a:pPr marL="0" indent="0" algn="ctr">
              <a:buNone/>
            </a:pPr>
            <a:r>
              <a:rPr lang="en-US" sz="1300" i="1" dirty="0">
                <a:solidFill>
                  <a:srgbClr val="A9A6B0"/>
                </a:solidFill>
                <a:latin typeface="Calibri" pitchFamily="34" charset="0"/>
                <a:ea typeface="Calibri" pitchFamily="34" charset="-122"/>
                <a:cs typeface="Calibri" pitchFamily="34" charset="-120"/>
              </a:rPr>
              <a:t>Doubling the budget on identical instances changed at most 3 results out of 75 per solver — and hill climbing gained exactly zero. More time helps solvers that are slow, not solvers that are stuck: the ranking is structural, not a timeout artifact.</a:t>
            </a:r>
            <a:endParaRPr lang="en-US" sz="1300" dirty="0"/>
          </a:p>
        </p:txBody>
      </p:sp>
      <p:sp>
        <p:nvSpPr>
          <p:cNvPr id="6" name="Text 2"/>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Conclusions</a:t>
            </a:r>
            <a:endParaRPr lang="en-US" sz="3000" dirty="0"/>
          </a:p>
        </p:txBody>
      </p:sp>
      <p:sp>
        <p:nvSpPr>
          <p:cNvPr id="3" name="Text 1"/>
          <p:cNvSpPr/>
          <p:nvPr/>
        </p:nvSpPr>
        <p:spPr>
          <a:xfrm>
            <a:off x="655320" y="1312164"/>
            <a:ext cx="10881360" cy="3840480"/>
          </a:xfrm>
          <a:prstGeom prst="rect">
            <a:avLst/>
          </a:prstGeom>
          <a:noFill/>
          <a:ln/>
        </p:spPr>
        <p:txBody>
          <a:bodyPr wrap="square" lIns="0" tIns="0" rIns="0" bIns="0" rtlCol="0" anchor="t"/>
          <a:lstStyle/>
          <a:p>
            <a:pPr marL="342900" indent="-342900">
              <a:lnSpc>
                <a:spcPct val="150000"/>
              </a:lnSpc>
              <a:spcAft>
                <a:spcPts val="1000"/>
              </a:spcAft>
              <a:buSzPct val="100000"/>
              <a:buChar char="•"/>
            </a:pPr>
            <a:r>
              <a:rPr lang="en-US" sz="1500" dirty="0">
                <a:solidFill>
                  <a:srgbClr val="F2EFE7"/>
                </a:solidFill>
                <a:latin typeface="Calibri" pitchFamily="34" charset="0"/>
                <a:ea typeface="Calibri" pitchFamily="34" charset="-122"/>
                <a:cs typeface="Calibri" pitchFamily="34" charset="-120"/>
              </a:rPr>
              <a:t>Inference is the story: full propagation solved all 75 generated instances — the only 100 % solver — and cracked the published 7×7 with zero search nodes.</a:t>
            </a:r>
            <a:endParaRPr lang="en-US" sz="1500" dirty="0"/>
          </a:p>
          <a:p>
            <a:pPr marL="342900" indent="-342900">
              <a:lnSpc>
                <a:spcPct val="150000"/>
              </a:lnSpc>
              <a:spcAft>
                <a:spcPts val="1000"/>
              </a:spcAft>
              <a:buSzPct val="100000"/>
              <a:buChar char="•"/>
            </a:pPr>
            <a:r>
              <a:rPr lang="en-US" sz="1500" dirty="0">
                <a:solidFill>
                  <a:srgbClr val="F2EFE7"/>
                </a:solidFill>
                <a:latin typeface="Calibri" pitchFamily="34" charset="0"/>
                <a:ea typeface="Calibri" pitchFamily="34" charset="-122"/>
                <a:cs typeface="Calibri" pitchFamily="34" charset="-120"/>
              </a:rPr>
              <a:t>Fewer nodes ≠ less time: full inference needs ~2× fewer nodes than forward checking, but propagation overhead makes fc slightly faster per board at 25×25.</a:t>
            </a:r>
            <a:endParaRPr lang="en-US" sz="1500" dirty="0"/>
          </a:p>
          <a:p>
            <a:pPr marL="342900" indent="-342900">
              <a:lnSpc>
                <a:spcPct val="150000"/>
              </a:lnSpc>
              <a:spcAft>
                <a:spcPts val="1000"/>
              </a:spcAft>
              <a:buSzPct val="100000"/>
              <a:buChar char="•"/>
            </a:pPr>
            <a:r>
              <a:rPr lang="en-US" sz="1500" dirty="0">
                <a:solidFill>
                  <a:srgbClr val="F2EFE7"/>
                </a:solidFill>
                <a:latin typeface="Calibri" pitchFamily="34" charset="0"/>
                <a:ea typeface="Calibri" pitchFamily="34" charset="-122"/>
                <a:cs typeface="Calibri" pitchFamily="34" charset="-120"/>
              </a:rPr>
              <a:t>Simulated annealing solved 60 % of all instances vs. 28 % for hill climbing (76 % vs 44 % on hard) — reproducing Perera et al.; HC's signature failure is stalling one violation from the goal.</a:t>
            </a:r>
            <a:endParaRPr lang="en-US" sz="1500" dirty="0"/>
          </a:p>
          <a:p>
            <a:pPr marL="342900" indent="-342900">
              <a:lnSpc>
                <a:spcPct val="150000"/>
              </a:lnSpc>
              <a:spcAft>
                <a:spcPts val="1000"/>
              </a:spcAft>
              <a:buSzPct val="100000"/>
              <a:buChar char="•"/>
            </a:pPr>
            <a:r>
              <a:rPr lang="en-US" sz="1500" dirty="0">
                <a:solidFill>
                  <a:srgbClr val="F2EFE7"/>
                </a:solidFill>
                <a:latin typeface="Calibri" pitchFamily="34" charset="0"/>
                <a:ea typeface="Calibri" pitchFamily="34" charset="-122"/>
                <a:cs typeface="Calibri" pitchFamily="34" charset="-120"/>
              </a:rPr>
              <a:t>Sparser boards were often EASIER for solvers (more solutions to find) — density presets model human difficulty, not search difficulty.</a:t>
            </a:r>
            <a:endParaRPr lang="en-US" sz="1500" dirty="0"/>
          </a:p>
          <a:p>
            <a:pPr marL="342900" indent="-342900">
              <a:lnSpc>
                <a:spcPct val="150000"/>
              </a:lnSpc>
              <a:buSzPct val="100000"/>
              <a:buChar char="•"/>
            </a:pPr>
            <a:r>
              <a:rPr lang="en-US" sz="1500" dirty="0">
                <a:solidFill>
                  <a:srgbClr val="F2EFE7"/>
                </a:solidFill>
                <a:latin typeface="Calibri" pitchFamily="34" charset="0"/>
                <a:ea typeface="Calibri" pitchFamily="34" charset="-122"/>
                <a:cs typeface="Calibri" pitchFamily="34" charset="-120"/>
              </a:rPr>
              <a:t>Future work: uniqueness-filtered generation; our own SAT route — a CNF encoding plus a DPLL solver we write ourselves — to compare a clause-based formulation against our constraint-based one; and difficulty calibration from measured search effort.</a:t>
            </a:r>
            <a:endParaRPr lang="en-US" sz="1500" dirty="0"/>
          </a:p>
        </p:txBody>
      </p:sp>
      <p:sp>
        <p:nvSpPr>
          <p:cNvPr id="4" name="Shape 2"/>
          <p:cNvSpPr/>
          <p:nvPr/>
        </p:nvSpPr>
        <p:spPr>
          <a:xfrm>
            <a:off x="640080" y="5486400"/>
            <a:ext cx="10881360" cy="822960"/>
          </a:xfrm>
          <a:prstGeom prst="roundRect">
            <a:avLst>
              <a:gd name="adj" fmla="val 8889"/>
            </a:avLst>
          </a:prstGeom>
          <a:solidFill>
            <a:srgbClr val="2B2B35"/>
          </a:solidFill>
          <a:ln/>
        </p:spPr>
        <p:txBody>
          <a:bodyPr/>
          <a:lstStyle/>
          <a:p>
            <a:endParaRPr/>
          </a:p>
        </p:txBody>
      </p:sp>
      <p:sp>
        <p:nvSpPr>
          <p:cNvPr id="5" name="Text 3"/>
          <p:cNvSpPr/>
          <p:nvPr/>
        </p:nvSpPr>
        <p:spPr>
          <a:xfrm>
            <a:off x="640080" y="5486400"/>
            <a:ext cx="10881360" cy="822960"/>
          </a:xfrm>
          <a:prstGeom prst="rect">
            <a:avLst/>
          </a:prstGeom>
          <a:noFill/>
          <a:ln/>
        </p:spPr>
        <p:txBody>
          <a:bodyPr wrap="square" lIns="0" tIns="0" rIns="0" bIns="0" rtlCol="0" anchor="ctr"/>
          <a:lstStyle/>
          <a:p>
            <a:pPr marL="0" indent="0" algn="ctr">
              <a:buNone/>
            </a:pPr>
            <a:r>
              <a:rPr lang="en-US" sz="1600" b="1" dirty="0">
                <a:solidFill>
                  <a:srgbClr val="FFD23F"/>
                </a:solidFill>
                <a:latin typeface="Arial" pitchFamily="34" charset="0"/>
                <a:ea typeface="Arial" pitchFamily="34" charset="-122"/>
                <a:cs typeface="Arial" pitchFamily="34" charset="-120"/>
              </a:rPr>
              <a:t>Thank you — questions welcome.</a:t>
            </a:r>
            <a:endParaRPr lang="en-US" sz="1600" dirty="0"/>
          </a:p>
        </p:txBody>
      </p:sp>
      <p:sp>
        <p:nvSpPr>
          <p:cNvPr id="7" name="Text 4"/>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71D"/>
        </a:solidFill>
        <a:effectLst/>
      </p:bgPr>
    </p:bg>
    <p:spTree>
      <p:nvGrpSpPr>
        <p:cNvPr id="1" name=""/>
        <p:cNvGrpSpPr/>
        <p:nvPr/>
      </p:nvGrpSpPr>
      <p:grpSpPr>
        <a:xfrm>
          <a:off x="0" y="0"/>
          <a:ext cx="0" cy="0"/>
          <a:chOff x="0" y="0"/>
          <a:chExt cx="0" cy="0"/>
        </a:xfrm>
      </p:grpSpPr>
      <p:sp>
        <p:nvSpPr>
          <p:cNvPr id="2" name="Text 0"/>
          <p:cNvSpPr/>
          <p:nvPr/>
        </p:nvSpPr>
        <p:spPr>
          <a:xfrm>
            <a:off x="502920" y="292608"/>
            <a:ext cx="11155680" cy="685800"/>
          </a:xfrm>
          <a:prstGeom prst="rect">
            <a:avLst/>
          </a:prstGeom>
          <a:noFill/>
          <a:ln/>
        </p:spPr>
        <p:txBody>
          <a:bodyPr wrap="square" lIns="0" tIns="0" rIns="0" bIns="0" rtlCol="0" anchor="ctr"/>
          <a:lstStyle/>
          <a:p>
            <a:pPr marL="0" indent="0">
              <a:buNone/>
            </a:pPr>
            <a:r>
              <a:rPr lang="en-US" sz="3000" b="1" dirty="0">
                <a:solidFill>
                  <a:srgbClr val="F2EFE7"/>
                </a:solidFill>
                <a:latin typeface="Arial" pitchFamily="34" charset="0"/>
                <a:ea typeface="Arial" pitchFamily="34" charset="-122"/>
                <a:cs typeface="Arial" pitchFamily="34" charset="-120"/>
              </a:rPr>
              <a:t>References</a:t>
            </a:r>
            <a:endParaRPr lang="en-US" sz="3000" dirty="0"/>
          </a:p>
        </p:txBody>
      </p:sp>
      <p:sp>
        <p:nvSpPr>
          <p:cNvPr id="3" name="Text 1"/>
          <p:cNvSpPr/>
          <p:nvPr/>
        </p:nvSpPr>
        <p:spPr>
          <a:xfrm>
            <a:off x="640080" y="1463040"/>
            <a:ext cx="10881360" cy="4114800"/>
          </a:xfrm>
          <a:prstGeom prst="rect">
            <a:avLst/>
          </a:prstGeom>
          <a:noFill/>
          <a:ln/>
        </p:spPr>
        <p:txBody>
          <a:bodyPr wrap="square" lIns="0" tIns="0" rIns="0" bIns="0" rtlCol="0" anchor="t"/>
          <a:lstStyle/>
          <a:p>
            <a:pPr marL="342900" indent="-342900">
              <a:lnSpc>
                <a:spcPct val="150000"/>
              </a:lnSpc>
              <a:spcAft>
                <a:spcPts val="1000"/>
              </a:spcAft>
              <a:buSzPct val="100000"/>
              <a:buChar char="•"/>
            </a:pPr>
            <a:r>
              <a:rPr lang="en-US" sz="1400" dirty="0">
                <a:solidFill>
                  <a:srgbClr val="F2EFE7"/>
                </a:solidFill>
                <a:latin typeface="Calibri" pitchFamily="34" charset="0"/>
                <a:ea typeface="Calibri" pitchFamily="34" charset="-122"/>
                <a:cs typeface="Calibri" pitchFamily="34" charset="-120"/>
              </a:rPr>
              <a:t>B. McPhail (2005). Light Up is NP-complete.</a:t>
            </a:r>
            <a:endParaRPr lang="en-US" sz="1400" dirty="0"/>
          </a:p>
          <a:p>
            <a:pPr marL="342900" indent="-342900">
              <a:lnSpc>
                <a:spcPct val="150000"/>
              </a:lnSpc>
              <a:spcAft>
                <a:spcPts val="1000"/>
              </a:spcAft>
              <a:buSzPct val="100000"/>
              <a:buChar char="•"/>
            </a:pPr>
            <a:r>
              <a:rPr lang="en-US" sz="1400" dirty="0">
                <a:solidFill>
                  <a:srgbClr val="F2EFE7"/>
                </a:solidFill>
                <a:latin typeface="Calibri" pitchFamily="34" charset="0"/>
                <a:ea typeface="Calibri" pitchFamily="34" charset="-122"/>
                <a:cs typeface="Calibri" pitchFamily="34" charset="-120"/>
              </a:rPr>
              <a:t>B. Pulles (2021). Analysis of Akari. Bachelor thesis, Radboud University.</a:t>
            </a:r>
            <a:endParaRPr lang="en-US" sz="1400" dirty="0"/>
          </a:p>
          <a:p>
            <a:pPr marL="342900" indent="-342900">
              <a:lnSpc>
                <a:spcPct val="150000"/>
              </a:lnSpc>
              <a:spcAft>
                <a:spcPts val="1000"/>
              </a:spcAft>
              <a:buSzPct val="100000"/>
              <a:buChar char="•"/>
            </a:pPr>
            <a:r>
              <a:rPr lang="en-US" sz="1400" dirty="0">
                <a:solidFill>
                  <a:srgbClr val="F2EFE7"/>
                </a:solidFill>
                <a:latin typeface="Calibri" pitchFamily="34" charset="0"/>
                <a:ea typeface="Calibri" pitchFamily="34" charset="-122"/>
                <a:cs typeface="Calibri" pitchFamily="34" charset="-120"/>
              </a:rPr>
              <a:t>L. Sun, J. Browning, R. Perera (2021). Shedding Some Light on Light Up with Artificial Intelligence. arXiv:2107.10429.</a:t>
            </a:r>
            <a:endParaRPr lang="en-US" sz="1400" dirty="0"/>
          </a:p>
          <a:p>
            <a:pPr marL="342900" indent="-342900">
              <a:lnSpc>
                <a:spcPct val="150000"/>
              </a:lnSpc>
              <a:spcAft>
                <a:spcPts val="1000"/>
              </a:spcAft>
              <a:buSzPct val="100000"/>
              <a:buChar char="•"/>
            </a:pPr>
            <a:r>
              <a:rPr lang="en-US" sz="1400" dirty="0">
                <a:solidFill>
                  <a:srgbClr val="F2EFE7"/>
                </a:solidFill>
                <a:latin typeface="Calibri" pitchFamily="34" charset="0"/>
                <a:ea typeface="Calibri" pitchFamily="34" charset="-122"/>
                <a:cs typeface="Calibri" pitchFamily="34" charset="-120"/>
              </a:rPr>
              <a:t>S. Salcedo-Sanz et al. (2009). A nested two-steps evolutionary algorithm for the light-up puzzle. ICGA Journal 32.</a:t>
            </a:r>
            <a:endParaRPr lang="en-US" sz="1400" dirty="0"/>
          </a:p>
          <a:p>
            <a:pPr marL="342900" indent="-342900">
              <a:lnSpc>
                <a:spcPct val="150000"/>
              </a:lnSpc>
              <a:spcAft>
                <a:spcPts val="1000"/>
              </a:spcAft>
              <a:buSzPct val="100000"/>
              <a:buChar char="•"/>
            </a:pPr>
            <a:r>
              <a:rPr lang="en-US" sz="1400" dirty="0">
                <a:solidFill>
                  <a:srgbClr val="F2EFE7"/>
                </a:solidFill>
                <a:latin typeface="Calibri" pitchFamily="34" charset="0"/>
                <a:ea typeface="Calibri" pitchFamily="34" charset="-122"/>
                <a:cs typeface="Calibri" pitchFamily="34" charset="-120"/>
              </a:rPr>
              <a:t>S. Russell, P. Norvig (2021). Artificial Intelligence: A Modern Approach, 4th ed. — Chapters 3, 4, 6.</a:t>
            </a:r>
            <a:endParaRPr lang="en-US" sz="1400" dirty="0"/>
          </a:p>
          <a:p>
            <a:pPr marL="342900" indent="-342900">
              <a:lnSpc>
                <a:spcPct val="150000"/>
              </a:lnSpc>
              <a:spcAft>
                <a:spcPts val="1000"/>
              </a:spcAft>
              <a:buSzPct val="100000"/>
              <a:buChar char="•"/>
            </a:pPr>
            <a:r>
              <a:rPr lang="en-US" sz="1400" dirty="0">
                <a:solidFill>
                  <a:srgbClr val="F2EFE7"/>
                </a:solidFill>
                <a:latin typeface="Calibri" pitchFamily="34" charset="0"/>
                <a:ea typeface="Calibri" pitchFamily="34" charset="-122"/>
                <a:cs typeface="Calibri" pitchFamily="34" charset="-120"/>
              </a:rPr>
              <a:t>puzzle-light-up.com — rules and reference instances.</a:t>
            </a:r>
            <a:endParaRPr lang="en-US" sz="1400" dirty="0"/>
          </a:p>
        </p:txBody>
      </p:sp>
      <p:sp>
        <p:nvSpPr>
          <p:cNvPr id="5" name="Text 2"/>
          <p:cNvSpPr/>
          <p:nvPr/>
        </p:nvSpPr>
        <p:spPr>
          <a:xfrm>
            <a:off x="11567160" y="6473952"/>
            <a:ext cx="457200" cy="292608"/>
          </a:xfrm>
          <a:prstGeom prst="rect">
            <a:avLst/>
          </a:prstGeom>
          <a:noFill/>
          <a:ln/>
        </p:spPr>
        <p:txBody>
          <a:bodyPr wrap="square" lIns="0" tIns="0" rIns="0" bIns="0" rtlCol="0" anchor="ctr"/>
          <a:lstStyle/>
          <a:p>
            <a:pPr marL="0" indent="0" algn="r">
              <a:buNone/>
            </a:pPr>
            <a:r>
              <a:rPr lang="en-US" sz="1000" dirty="0">
                <a:solidFill>
                  <a:srgbClr val="A9A6B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384</TotalTime>
  <Words>2921</Words>
  <Application>Microsoft Office PowerPoint</Application>
  <PresentationFormat>Widescreen</PresentationFormat>
  <Paragraphs>208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Anthropic Sans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Ani Baghumyan</cp:lastModifiedBy>
  <cp:revision>20</cp:revision>
  <dcterms:created xsi:type="dcterms:W3CDTF">2026-07-24T09:23:26Z</dcterms:created>
  <dcterms:modified xsi:type="dcterms:W3CDTF">2026-07-29T14:16:24Z</dcterms:modified>
</cp:coreProperties>
</file>